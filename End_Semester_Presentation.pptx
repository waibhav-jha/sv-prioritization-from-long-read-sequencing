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0A5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100"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2831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822960"/>
            <a:ext cx="10728655" cy="320040"/>
          </a:xfrm>
          <a:prstGeom prst="rect">
            <a:avLst/>
          </a:prstGeom>
          <a:noFill/>
          <a:ln/>
        </p:spPr>
        <p:txBody>
          <a:bodyPr wrap="square" rtlCol="0" anchor="ctr"/>
          <a:lstStyle/>
          <a:p>
            <a:pPr marL="0" indent="0">
              <a:buNone/>
            </a:pPr>
            <a:r>
              <a:rPr lang="en-US" sz="1300" b="1" dirty="0">
                <a:solidFill>
                  <a:srgbClr val="60A5FA"/>
                </a:solidFill>
                <a:latin typeface="Calibri" pitchFamily="34" charset="0"/>
                <a:ea typeface="Calibri" pitchFamily="34" charset="-122"/>
                <a:cs typeface="Calibri" pitchFamily="34" charset="-120"/>
              </a:rPr>
              <a:t>FINAL PROJECT REVIEW  |  ACADEMIC PRESENTATION</a:t>
            </a:r>
            <a:endParaRPr lang="en-US" sz="1300" dirty="0"/>
          </a:p>
        </p:txBody>
      </p:sp>
      <p:sp>
        <p:nvSpPr>
          <p:cNvPr id="3" name="Text 1"/>
          <p:cNvSpPr/>
          <p:nvPr/>
        </p:nvSpPr>
        <p:spPr>
          <a:xfrm>
            <a:off x="731520" y="1234440"/>
            <a:ext cx="10728655" cy="1463040"/>
          </a:xfrm>
          <a:prstGeom prst="rect">
            <a:avLst/>
          </a:prstGeom>
          <a:noFill/>
          <a:ln/>
        </p:spPr>
        <p:txBody>
          <a:bodyPr wrap="square" rtlCol="0" anchor="ctr"/>
          <a:lstStyle/>
          <a:p>
            <a:pPr marL="0" indent="0">
              <a:lnSpc>
                <a:spcPct val="115000"/>
              </a:lnSpc>
              <a:buNone/>
            </a:pPr>
            <a:r>
              <a:rPr lang="en-US" sz="2800" b="1" dirty="0">
                <a:solidFill>
                  <a:srgbClr val="FFFFFF"/>
                </a:solidFill>
                <a:latin typeface="Calibri" pitchFamily="34" charset="0"/>
                <a:ea typeface="Calibri" pitchFamily="34" charset="-122"/>
                <a:cs typeface="Calibri" pitchFamily="34" charset="-120"/>
              </a:rPr>
              <a:t>AI-Based Structural Variant Prioritization from Long-Read Sequencing Using Explainable Machine Learning</a:t>
            </a:r>
            <a:endParaRPr lang="en-US" sz="2800" dirty="0"/>
          </a:p>
        </p:txBody>
      </p:sp>
      <p:sp>
        <p:nvSpPr>
          <p:cNvPr id="4" name="Shape 2"/>
          <p:cNvSpPr/>
          <p:nvPr/>
        </p:nvSpPr>
        <p:spPr>
          <a:xfrm>
            <a:off x="731520" y="2834640"/>
            <a:ext cx="3657600" cy="0"/>
          </a:xfrm>
          <a:prstGeom prst="line">
            <a:avLst/>
          </a:prstGeom>
          <a:noFill/>
          <a:ln w="31750">
            <a:solidFill>
              <a:srgbClr val="38BDF8"/>
            </a:solidFill>
            <a:prstDash val="solid"/>
          </a:ln>
        </p:spPr>
      </p:sp>
      <p:sp>
        <p:nvSpPr>
          <p:cNvPr id="5" name="Text 3"/>
          <p:cNvSpPr/>
          <p:nvPr/>
        </p:nvSpPr>
        <p:spPr>
          <a:xfrm>
            <a:off x="731520" y="3017520"/>
            <a:ext cx="10728655" cy="640080"/>
          </a:xfrm>
          <a:prstGeom prst="rect">
            <a:avLst/>
          </a:prstGeom>
          <a:noFill/>
          <a:ln/>
        </p:spPr>
        <p:txBody>
          <a:bodyPr wrap="square" rtlCol="0" anchor="ctr"/>
          <a:lstStyle/>
          <a:p>
            <a:pPr marL="0" indent="0">
              <a:lnSpc>
                <a:spcPct val="110000"/>
              </a:lnSpc>
              <a:buNone/>
            </a:pPr>
            <a:r>
              <a:rPr lang="en-US" sz="1500" dirty="0">
                <a:solidFill>
                  <a:srgbClr val="94A3B8"/>
                </a:solidFill>
                <a:latin typeface="Calibri" pitchFamily="34" charset="0"/>
                <a:ea typeface="Calibri" pitchFamily="34" charset="-122"/>
                <a:cs typeface="Calibri" pitchFamily="34" charset="-120"/>
              </a:rPr>
              <a:t>A Deep Learning &amp; Multimodal Framework with Conformal Risk Guarantees and TreeSHAP Explainability for Clinical Diagnostics</a:t>
            </a:r>
            <a:endParaRPr lang="en-US" sz="1500" dirty="0"/>
          </a:p>
        </p:txBody>
      </p:sp>
      <p:sp>
        <p:nvSpPr>
          <p:cNvPr id="6" name="Shape 4"/>
          <p:cNvSpPr/>
          <p:nvPr/>
        </p:nvSpPr>
        <p:spPr>
          <a:xfrm>
            <a:off x="731519" y="4206240"/>
            <a:ext cx="10728655" cy="1691640"/>
          </a:xfrm>
          <a:prstGeom prst="roundRect">
            <a:avLst>
              <a:gd name="adj" fmla="val 4324"/>
            </a:avLst>
          </a:prstGeom>
          <a:solidFill>
            <a:srgbClr val="1E293B"/>
          </a:solidFill>
          <a:ln w="12700">
            <a:solidFill>
              <a:srgbClr val="334155"/>
            </a:solidFill>
            <a:prstDash val="solid"/>
          </a:ln>
        </p:spPr>
      </p:sp>
      <p:sp>
        <p:nvSpPr>
          <p:cNvPr id="8" name="Text 6"/>
          <p:cNvSpPr/>
          <p:nvPr/>
        </p:nvSpPr>
        <p:spPr>
          <a:xfrm>
            <a:off x="773824" y="4526279"/>
            <a:ext cx="10644043" cy="1005840"/>
          </a:xfrm>
          <a:prstGeom prst="rect">
            <a:avLst/>
          </a:prstGeom>
          <a:noFill/>
          <a:ln/>
        </p:spPr>
        <p:txBody>
          <a:bodyPr wrap="square" rtlCol="0" anchor="ctr"/>
          <a:lstStyle/>
          <a:p>
            <a:pPr marL="0" indent="0">
              <a:lnSpc>
                <a:spcPct val="115000"/>
              </a:lnSpc>
              <a:buNone/>
            </a:pPr>
            <a:r>
              <a:rPr lang="en-US" sz="2000" dirty="0">
                <a:solidFill>
                  <a:srgbClr val="60A5FA"/>
                </a:solidFill>
                <a:latin typeface="Sans Serif Collection" panose="020B0502040504020204" pitchFamily="34" charset="0"/>
                <a:ea typeface="Sans Serif Collection" panose="020B0502040504020204" pitchFamily="34" charset="0"/>
                <a:cs typeface="Sans Serif Collection" panose="020B0502040504020204" pitchFamily="34" charset="0"/>
              </a:rPr>
              <a:t>Group 15</a:t>
            </a:r>
          </a:p>
          <a:p>
            <a:pPr>
              <a:lnSpc>
                <a:spcPts val="2200"/>
              </a:lnSpc>
            </a:pPr>
            <a:r>
              <a:rPr lang="en-US" sz="2000" dirty="0">
                <a:solidFill>
                  <a:srgbClr val="60A5FA"/>
                </a:solidFill>
                <a:latin typeface="Sans Serif Collection" panose="020B0502040504020204" pitchFamily="34" charset="0"/>
                <a:ea typeface="Sans Serif Collection" panose="020B0502040504020204" pitchFamily="34" charset="0"/>
                <a:cs typeface="Sans Serif Collection" panose="020B0502040504020204" pitchFamily="34" charset="0"/>
              </a:rPr>
              <a:t>Waibhav Jha — CB.SC.U4AIE23162</a:t>
            </a:r>
          </a:p>
          <a:p>
            <a:pPr>
              <a:lnSpc>
                <a:spcPts val="2200"/>
              </a:lnSpc>
            </a:pPr>
            <a:r>
              <a:rPr lang="en-US" sz="2000" dirty="0">
                <a:solidFill>
                  <a:srgbClr val="60A5FA"/>
                </a:solidFill>
                <a:latin typeface="Sans Serif Collection" panose="020B0502040504020204" pitchFamily="34" charset="0"/>
                <a:ea typeface="Sans Serif Collection" panose="020B0502040504020204" pitchFamily="34" charset="0"/>
                <a:cs typeface="Sans Serif Collection" panose="020B0502040504020204" pitchFamily="34" charset="0"/>
              </a:rPr>
              <a:t>Akash Bardia — CB.SC.U4AIE23102</a:t>
            </a:r>
          </a:p>
          <a:p>
            <a:pPr>
              <a:lnSpc>
                <a:spcPts val="2200"/>
              </a:lnSpc>
            </a:pPr>
            <a:r>
              <a:rPr lang="en-US" sz="2000" dirty="0">
                <a:solidFill>
                  <a:srgbClr val="60A5FA"/>
                </a:solidFill>
                <a:latin typeface="Sans Serif Collection" panose="020B0502040504020204" pitchFamily="34" charset="0"/>
                <a:ea typeface="Sans Serif Collection" panose="020B0502040504020204" pitchFamily="34" charset="0"/>
                <a:cs typeface="Sans Serif Collection" panose="020B0502040504020204" pitchFamily="34" charset="0"/>
              </a:rPr>
              <a:t>Anantharaman T S — CB.SC.U4AIE23112</a:t>
            </a:r>
          </a:p>
          <a:p>
            <a:pPr>
              <a:lnSpc>
                <a:spcPts val="2200"/>
              </a:lnSpc>
            </a:pPr>
            <a:r>
              <a:rPr lang="en-US" sz="2000" dirty="0">
                <a:solidFill>
                  <a:srgbClr val="60A5FA"/>
                </a:solidFill>
                <a:latin typeface="Sans Serif Collection" panose="020B0502040504020204" pitchFamily="34" charset="0"/>
                <a:ea typeface="Sans Serif Collection" panose="020B0502040504020204" pitchFamily="34" charset="0"/>
                <a:cs typeface="Sans Serif Collection" panose="020B0502040504020204" pitchFamily="34" charset="0"/>
              </a:rPr>
              <a:t>K S Jagan — CB.SC.U4AIE23034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BACKGROUND</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Introduction: Third-Generation Long-Read Sequencing</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Long-read sequencing resolves dark genomic regions but introduces vast interpretation challenges</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2 of 24</a:t>
            </a:r>
            <a:endParaRPr lang="en-US" sz="1100" dirty="0"/>
          </a:p>
        </p:txBody>
      </p:sp>
      <p:sp>
        <p:nvSpPr>
          <p:cNvPr id="8" name="Shape 6"/>
          <p:cNvSpPr/>
          <p:nvPr/>
        </p:nvSpPr>
        <p:spPr>
          <a:xfrm>
            <a:off x="731520" y="1691640"/>
            <a:ext cx="3393338" cy="4389120"/>
          </a:xfrm>
          <a:prstGeom prst="roundRect">
            <a:avLst>
              <a:gd name="adj" fmla="val 2156"/>
            </a:avLst>
          </a:prstGeom>
          <a:solidFill>
            <a:srgbClr val="FFFFFF"/>
          </a:solidFill>
          <a:ln w="12700">
            <a:solidFill>
              <a:srgbClr val="CBD5E1"/>
            </a:solidFill>
            <a:prstDash val="solid"/>
          </a:ln>
        </p:spPr>
      </p:sp>
      <p:sp>
        <p:nvSpPr>
          <p:cNvPr id="9" name="Text 7"/>
          <p:cNvSpPr/>
          <p:nvPr/>
        </p:nvSpPr>
        <p:spPr>
          <a:xfrm>
            <a:off x="1005840" y="1965960"/>
            <a:ext cx="2844698" cy="54864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Long-Read Sequencing Revolution</a:t>
            </a:r>
            <a:endParaRPr lang="en-US" sz="1800" dirty="0"/>
          </a:p>
        </p:txBody>
      </p:sp>
      <p:sp>
        <p:nvSpPr>
          <p:cNvPr id="10" name="Text 8"/>
          <p:cNvSpPr/>
          <p:nvPr/>
        </p:nvSpPr>
        <p:spPr>
          <a:xfrm>
            <a:off x="1005840" y="2542032"/>
            <a:ext cx="2844698" cy="256032"/>
          </a:xfrm>
          <a:prstGeom prst="rect">
            <a:avLst/>
          </a:prstGeom>
          <a:noFill/>
          <a:ln/>
        </p:spPr>
        <p:txBody>
          <a:bodyPr wrap="square" lIns="0" tIns="0" rIns="0" bIns="0" rtlCol="0" anchor="ctr"/>
          <a:lstStyle/>
          <a:p>
            <a:pPr marL="0" indent="0">
              <a:buNone/>
            </a:pPr>
            <a:r>
              <a:rPr lang="en-US" sz="1250" b="1" dirty="0">
                <a:solidFill>
                  <a:srgbClr val="2563EB"/>
                </a:solidFill>
                <a:latin typeface="Calibri" pitchFamily="34" charset="0"/>
                <a:ea typeface="Calibri" pitchFamily="34" charset="-122"/>
                <a:cs typeface="Calibri" pitchFamily="34" charset="-120"/>
              </a:rPr>
              <a:t>PacBio HiFi &amp; Oxford Nanopore</a:t>
            </a:r>
            <a:endParaRPr lang="en-US" sz="1250" dirty="0"/>
          </a:p>
        </p:txBody>
      </p:sp>
      <p:sp>
        <p:nvSpPr>
          <p:cNvPr id="11" name="Shape 9"/>
          <p:cNvSpPr/>
          <p:nvPr/>
        </p:nvSpPr>
        <p:spPr>
          <a:xfrm>
            <a:off x="1005840" y="2880360"/>
            <a:ext cx="2844698" cy="0"/>
          </a:xfrm>
          <a:prstGeom prst="line">
            <a:avLst/>
          </a:prstGeom>
          <a:noFill/>
          <a:ln w="12700">
            <a:solidFill>
              <a:srgbClr val="CBD5E1"/>
            </a:solidFill>
            <a:prstDash val="solid"/>
          </a:ln>
        </p:spPr>
      </p:sp>
      <p:sp>
        <p:nvSpPr>
          <p:cNvPr id="12" name="Text 10"/>
          <p:cNvSpPr/>
          <p:nvPr/>
        </p:nvSpPr>
        <p:spPr>
          <a:xfrm>
            <a:off x="1005840" y="3063240"/>
            <a:ext cx="2844698" cy="2834640"/>
          </a:xfrm>
          <a:prstGeom prst="rect">
            <a:avLst/>
          </a:prstGeom>
          <a:noFill/>
          <a:ln/>
        </p:spPr>
        <p:txBody>
          <a:bodyPr wrap="square" lIns="0" tIns="0" rIns="0" bIns="0" rtlCol="0" anchor="ctr"/>
          <a:lstStyle/>
          <a:p>
            <a:pPr marL="342900" indent="-342900">
              <a:spcAft>
                <a:spcPts val="1200"/>
              </a:spcAft>
              <a:buSzPct val="100000"/>
              <a:buChar char="•"/>
            </a:pPr>
            <a:r>
              <a:rPr lang="en-US" sz="1300" dirty="0">
                <a:solidFill>
                  <a:srgbClr val="334155"/>
                </a:solidFill>
                <a:latin typeface="Calibri" pitchFamily="34" charset="0"/>
                <a:ea typeface="Calibri" pitchFamily="34" charset="-122"/>
                <a:cs typeface="Calibri" pitchFamily="34" charset="-120"/>
              </a:rPr>
              <a:t>Single-molecule long reads (&gt;10,000–25,000 bp) span repetitive genomic regions.</a:t>
            </a:r>
            <a:endParaRPr lang="en-US" sz="1300" dirty="0"/>
          </a:p>
          <a:p>
            <a:pPr marL="342900" indent="-342900">
              <a:spcAft>
                <a:spcPts val="1200"/>
              </a:spcAft>
              <a:buSzPct val="100000"/>
              <a:buChar char="•"/>
            </a:pPr>
            <a:r>
              <a:rPr lang="en-US" sz="1300" dirty="0">
                <a:solidFill>
                  <a:srgbClr val="334155"/>
                </a:solidFill>
                <a:latin typeface="Calibri" pitchFamily="34" charset="0"/>
                <a:ea typeface="Calibri" pitchFamily="34" charset="-122"/>
                <a:cs typeface="Calibri" pitchFamily="34" charset="-120"/>
              </a:rPr>
              <a:t>Overcomes short-read mapping blindness in tandem repeats and segmental duplications.</a:t>
            </a:r>
            <a:endParaRPr lang="en-US" sz="1300" dirty="0"/>
          </a:p>
          <a:p>
            <a:pPr marL="342900" indent="-342900">
              <a:spcAft>
                <a:spcPts val="1200"/>
              </a:spcAft>
              <a:buSzPct val="100000"/>
              <a:buChar char="•"/>
            </a:pPr>
            <a:r>
              <a:rPr lang="en-US" sz="1300" dirty="0">
                <a:solidFill>
                  <a:srgbClr val="334155"/>
                </a:solidFill>
                <a:latin typeface="Calibri" pitchFamily="34" charset="0"/>
                <a:ea typeface="Calibri" pitchFamily="34" charset="-122"/>
                <a:cs typeface="Calibri" pitchFamily="34" charset="-120"/>
              </a:rPr>
              <a:t>Routinely uncovers &gt;25,000 structural variants (&gt;= 50 bp) per individual genome.</a:t>
            </a:r>
            <a:endParaRPr lang="en-US" sz="1300" dirty="0"/>
          </a:p>
        </p:txBody>
      </p:sp>
      <p:sp>
        <p:nvSpPr>
          <p:cNvPr id="13" name="Shape 11"/>
          <p:cNvSpPr/>
          <p:nvPr/>
        </p:nvSpPr>
        <p:spPr>
          <a:xfrm>
            <a:off x="4399178" y="1691640"/>
            <a:ext cx="3393338" cy="4389120"/>
          </a:xfrm>
          <a:prstGeom prst="roundRect">
            <a:avLst>
              <a:gd name="adj" fmla="val 2156"/>
            </a:avLst>
          </a:prstGeom>
          <a:solidFill>
            <a:srgbClr val="FFFFFF"/>
          </a:solidFill>
          <a:ln w="12700">
            <a:solidFill>
              <a:srgbClr val="CBD5E1"/>
            </a:solidFill>
            <a:prstDash val="solid"/>
          </a:ln>
        </p:spPr>
      </p:sp>
      <p:sp>
        <p:nvSpPr>
          <p:cNvPr id="14" name="Text 12"/>
          <p:cNvSpPr/>
          <p:nvPr/>
        </p:nvSpPr>
        <p:spPr>
          <a:xfrm>
            <a:off x="4673498" y="1965960"/>
            <a:ext cx="2844698" cy="54864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Structural Variant Impact</a:t>
            </a:r>
            <a:endParaRPr lang="en-US" sz="1800" dirty="0"/>
          </a:p>
        </p:txBody>
      </p:sp>
      <p:sp>
        <p:nvSpPr>
          <p:cNvPr id="15" name="Text 13"/>
          <p:cNvSpPr/>
          <p:nvPr/>
        </p:nvSpPr>
        <p:spPr>
          <a:xfrm>
            <a:off x="4673498" y="2542032"/>
            <a:ext cx="2844698" cy="256032"/>
          </a:xfrm>
          <a:prstGeom prst="rect">
            <a:avLst/>
          </a:prstGeom>
          <a:noFill/>
          <a:ln/>
        </p:spPr>
        <p:txBody>
          <a:bodyPr wrap="square" lIns="0" tIns="0" rIns="0" bIns="0" rtlCol="0" anchor="ctr"/>
          <a:lstStyle/>
          <a:p>
            <a:pPr marL="0" indent="0">
              <a:buNone/>
            </a:pPr>
            <a:r>
              <a:rPr lang="en-US" sz="1250" b="1" dirty="0">
                <a:solidFill>
                  <a:srgbClr val="7C3AED"/>
                </a:solidFill>
                <a:latin typeface="Calibri" pitchFamily="34" charset="0"/>
                <a:ea typeface="Calibri" pitchFamily="34" charset="-122"/>
                <a:cs typeface="Calibri" pitchFamily="34" charset="-120"/>
              </a:rPr>
              <a:t>Pathogenicity &amp; Disease Burden</a:t>
            </a:r>
            <a:endParaRPr lang="en-US" sz="1250" dirty="0"/>
          </a:p>
        </p:txBody>
      </p:sp>
      <p:sp>
        <p:nvSpPr>
          <p:cNvPr id="16" name="Shape 14"/>
          <p:cNvSpPr/>
          <p:nvPr/>
        </p:nvSpPr>
        <p:spPr>
          <a:xfrm>
            <a:off x="4673498" y="2880360"/>
            <a:ext cx="2844698" cy="0"/>
          </a:xfrm>
          <a:prstGeom prst="line">
            <a:avLst/>
          </a:prstGeom>
          <a:noFill/>
          <a:ln w="12700">
            <a:solidFill>
              <a:srgbClr val="CBD5E1"/>
            </a:solidFill>
            <a:prstDash val="solid"/>
          </a:ln>
        </p:spPr>
      </p:sp>
      <p:sp>
        <p:nvSpPr>
          <p:cNvPr id="17" name="Text 15"/>
          <p:cNvSpPr/>
          <p:nvPr/>
        </p:nvSpPr>
        <p:spPr>
          <a:xfrm>
            <a:off x="4673498" y="3063240"/>
            <a:ext cx="2844698" cy="2834640"/>
          </a:xfrm>
          <a:prstGeom prst="rect">
            <a:avLst/>
          </a:prstGeom>
          <a:noFill/>
          <a:ln/>
        </p:spPr>
        <p:txBody>
          <a:bodyPr wrap="square" lIns="0" tIns="0" rIns="0" bIns="0" rtlCol="0" anchor="ctr"/>
          <a:lstStyle/>
          <a:p>
            <a:pPr marL="342900" indent="-342900">
              <a:spcAft>
                <a:spcPts val="1200"/>
              </a:spcAft>
              <a:buSzPct val="100000"/>
              <a:buChar char="•"/>
            </a:pPr>
            <a:r>
              <a:rPr lang="en-US" sz="1300" dirty="0">
                <a:solidFill>
                  <a:srgbClr val="334155"/>
                </a:solidFill>
                <a:latin typeface="Calibri" pitchFamily="34" charset="0"/>
                <a:ea typeface="Calibri" pitchFamily="34" charset="-122"/>
                <a:cs typeface="Calibri" pitchFamily="34" charset="-120"/>
              </a:rPr>
              <a:t>SVs alter more total base pairs than all single-nucleotide variants (SNVs) combined.</a:t>
            </a:r>
            <a:endParaRPr lang="en-US" sz="1300" dirty="0"/>
          </a:p>
          <a:p>
            <a:pPr marL="342900" indent="-342900">
              <a:spcAft>
                <a:spcPts val="1200"/>
              </a:spcAft>
              <a:buSzPct val="100000"/>
              <a:buChar char="•"/>
            </a:pPr>
            <a:r>
              <a:rPr lang="en-US" sz="1300" dirty="0">
                <a:solidFill>
                  <a:srgbClr val="334155"/>
                </a:solidFill>
                <a:latin typeface="Calibri" pitchFamily="34" charset="0"/>
                <a:ea typeface="Calibri" pitchFamily="34" charset="-122"/>
                <a:cs typeface="Calibri" pitchFamily="34" charset="-120"/>
              </a:rPr>
              <a:t>Primary drivers of rare congenital diseases, autism, developmental delay, and cancer.</a:t>
            </a:r>
            <a:endParaRPr lang="en-US" sz="1300" dirty="0"/>
          </a:p>
          <a:p>
            <a:pPr marL="342900" indent="-342900">
              <a:spcAft>
                <a:spcPts val="1200"/>
              </a:spcAft>
              <a:buSzPct val="100000"/>
              <a:buChar char="•"/>
            </a:pPr>
            <a:r>
              <a:rPr lang="en-US" sz="1300" dirty="0">
                <a:solidFill>
                  <a:srgbClr val="334155"/>
                </a:solidFill>
                <a:latin typeface="Calibri" pitchFamily="34" charset="0"/>
                <a:ea typeface="Calibri" pitchFamily="34" charset="-122"/>
                <a:cs typeface="Calibri" pitchFamily="34" charset="-120"/>
              </a:rPr>
              <a:t>Include complex deletions, duplications, inversions, translocations, and insertions.</a:t>
            </a:r>
            <a:endParaRPr lang="en-US" sz="1300" dirty="0"/>
          </a:p>
        </p:txBody>
      </p:sp>
      <p:sp>
        <p:nvSpPr>
          <p:cNvPr id="18" name="Shape 16"/>
          <p:cNvSpPr/>
          <p:nvPr/>
        </p:nvSpPr>
        <p:spPr>
          <a:xfrm>
            <a:off x="8066837" y="1691640"/>
            <a:ext cx="3393338" cy="4389120"/>
          </a:xfrm>
          <a:prstGeom prst="roundRect">
            <a:avLst>
              <a:gd name="adj" fmla="val 2156"/>
            </a:avLst>
          </a:prstGeom>
          <a:solidFill>
            <a:srgbClr val="FFFFFF"/>
          </a:solidFill>
          <a:ln w="12700">
            <a:solidFill>
              <a:srgbClr val="CBD5E1"/>
            </a:solidFill>
            <a:prstDash val="solid"/>
          </a:ln>
        </p:spPr>
      </p:sp>
      <p:sp>
        <p:nvSpPr>
          <p:cNvPr id="19" name="Text 17"/>
          <p:cNvSpPr/>
          <p:nvPr/>
        </p:nvSpPr>
        <p:spPr>
          <a:xfrm>
            <a:off x="8341157" y="1965960"/>
            <a:ext cx="2844698" cy="54864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The Clinical Triage Bottleneck</a:t>
            </a:r>
            <a:endParaRPr lang="en-US" sz="1800" dirty="0"/>
          </a:p>
        </p:txBody>
      </p:sp>
      <p:sp>
        <p:nvSpPr>
          <p:cNvPr id="20" name="Text 18"/>
          <p:cNvSpPr/>
          <p:nvPr/>
        </p:nvSpPr>
        <p:spPr>
          <a:xfrm>
            <a:off x="8341157" y="2542032"/>
            <a:ext cx="2844698" cy="256032"/>
          </a:xfrm>
          <a:prstGeom prst="rect">
            <a:avLst/>
          </a:prstGeom>
          <a:noFill/>
          <a:ln/>
        </p:spPr>
        <p:txBody>
          <a:bodyPr wrap="square" lIns="0" tIns="0" rIns="0" bIns="0" rtlCol="0" anchor="ctr"/>
          <a:lstStyle/>
          <a:p>
            <a:pPr marL="0" indent="0">
              <a:buNone/>
            </a:pPr>
            <a:r>
              <a:rPr lang="en-US" sz="1250" b="1" dirty="0">
                <a:solidFill>
                  <a:srgbClr val="059669"/>
                </a:solidFill>
                <a:latin typeface="Calibri" pitchFamily="34" charset="0"/>
                <a:ea typeface="Calibri" pitchFamily="34" charset="-122"/>
                <a:cs typeface="Calibri" pitchFamily="34" charset="-120"/>
              </a:rPr>
              <a:t>Automated Scoring Deficit</a:t>
            </a:r>
            <a:endParaRPr lang="en-US" sz="1250" dirty="0"/>
          </a:p>
        </p:txBody>
      </p:sp>
      <p:sp>
        <p:nvSpPr>
          <p:cNvPr id="21" name="Shape 19"/>
          <p:cNvSpPr/>
          <p:nvPr/>
        </p:nvSpPr>
        <p:spPr>
          <a:xfrm>
            <a:off x="8341157" y="2880360"/>
            <a:ext cx="2844698" cy="0"/>
          </a:xfrm>
          <a:prstGeom prst="line">
            <a:avLst/>
          </a:prstGeom>
          <a:noFill/>
          <a:ln w="12700">
            <a:solidFill>
              <a:srgbClr val="CBD5E1"/>
            </a:solidFill>
            <a:prstDash val="solid"/>
          </a:ln>
        </p:spPr>
      </p:sp>
      <p:sp>
        <p:nvSpPr>
          <p:cNvPr id="22" name="Text 20"/>
          <p:cNvSpPr/>
          <p:nvPr/>
        </p:nvSpPr>
        <p:spPr>
          <a:xfrm>
            <a:off x="8341157" y="3063240"/>
            <a:ext cx="2844698" cy="2834640"/>
          </a:xfrm>
          <a:prstGeom prst="rect">
            <a:avLst/>
          </a:prstGeom>
          <a:noFill/>
          <a:ln/>
        </p:spPr>
        <p:txBody>
          <a:bodyPr wrap="square" lIns="0" tIns="0" rIns="0" bIns="0" rtlCol="0" anchor="ctr"/>
          <a:lstStyle/>
          <a:p>
            <a:pPr marL="342900" indent="-342900">
              <a:spcAft>
                <a:spcPts val="1200"/>
              </a:spcAft>
              <a:buSzPct val="100000"/>
              <a:buChar char="•"/>
            </a:pPr>
            <a:r>
              <a:rPr lang="en-US" sz="1300" dirty="0">
                <a:solidFill>
                  <a:srgbClr val="334155"/>
                </a:solidFill>
                <a:latin typeface="Calibri" pitchFamily="34" charset="0"/>
                <a:ea typeface="Calibri" pitchFamily="34" charset="-122"/>
                <a:cs typeface="Calibri" pitchFamily="34" charset="-120"/>
              </a:rPr>
              <a:t>Overwhelming volume of candidate SVs in clinical long-read VCF files.</a:t>
            </a:r>
            <a:endParaRPr lang="en-US" sz="1300" dirty="0"/>
          </a:p>
          <a:p>
            <a:pPr marL="342900" indent="-342900">
              <a:spcAft>
                <a:spcPts val="1200"/>
              </a:spcAft>
              <a:buSzPct val="100000"/>
              <a:buChar char="•"/>
            </a:pPr>
            <a:r>
              <a:rPr lang="en-US" sz="1300" dirty="0">
                <a:solidFill>
                  <a:srgbClr val="334155"/>
                </a:solidFill>
                <a:latin typeface="Calibri" pitchFamily="34" charset="0"/>
                <a:ea typeface="Calibri" pitchFamily="34" charset="-122"/>
                <a:cs typeface="Calibri" pitchFamily="34" charset="-120"/>
              </a:rPr>
              <a:t>Existing clinical tools focus almost exclusively on SNVs (CADD, REVEL, SIFT).</a:t>
            </a:r>
            <a:endParaRPr lang="en-US" sz="1300" dirty="0"/>
          </a:p>
          <a:p>
            <a:pPr marL="342900" indent="-342900">
              <a:spcAft>
                <a:spcPts val="1200"/>
              </a:spcAft>
              <a:buSzPct val="100000"/>
              <a:buChar char="•"/>
            </a:pPr>
            <a:r>
              <a:rPr lang="en-US" sz="1300" dirty="0">
                <a:solidFill>
                  <a:srgbClr val="334155"/>
                </a:solidFill>
                <a:latin typeface="Calibri" pitchFamily="34" charset="0"/>
                <a:ea typeface="Calibri" pitchFamily="34" charset="-122"/>
                <a:cs typeface="Calibri" pitchFamily="34" charset="-120"/>
              </a:rPr>
              <a:t>Urgent need for automated, explainable machine learning prioritization algorithms.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PROBLEM FORMULATION</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Problem Statement: High-Dimensional Variant Ambiguity</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Critical computational gaps preventing routine clinical adoption of long-read sequencing</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3 of 24</a:t>
            </a:r>
            <a:endParaRPr lang="en-US" sz="1100" dirty="0"/>
          </a:p>
        </p:txBody>
      </p:sp>
      <p:sp>
        <p:nvSpPr>
          <p:cNvPr id="8" name="Shape 6"/>
          <p:cNvSpPr/>
          <p:nvPr/>
        </p:nvSpPr>
        <p:spPr>
          <a:xfrm>
            <a:off x="731520" y="1691640"/>
            <a:ext cx="3393338" cy="4389120"/>
          </a:xfrm>
          <a:prstGeom prst="roundRect">
            <a:avLst>
              <a:gd name="adj" fmla="val 2156"/>
            </a:avLst>
          </a:prstGeom>
          <a:solidFill>
            <a:srgbClr val="FFFFFF"/>
          </a:solidFill>
          <a:ln w="12700">
            <a:solidFill>
              <a:srgbClr val="CBD5E1"/>
            </a:solidFill>
            <a:prstDash val="solid"/>
          </a:ln>
        </p:spPr>
      </p:sp>
      <p:sp>
        <p:nvSpPr>
          <p:cNvPr id="9" name="Text 7"/>
          <p:cNvSpPr/>
          <p:nvPr/>
        </p:nvSpPr>
        <p:spPr>
          <a:xfrm>
            <a:off x="1005840" y="1965960"/>
            <a:ext cx="2844698" cy="411480"/>
          </a:xfrm>
          <a:prstGeom prst="rect">
            <a:avLst/>
          </a:prstGeom>
          <a:noFill/>
          <a:ln/>
        </p:spPr>
        <p:txBody>
          <a:bodyPr wrap="square" lIns="0" tIns="0" rIns="0" bIns="0" rtlCol="0" anchor="ctr"/>
          <a:lstStyle/>
          <a:p>
            <a:pPr marL="0" indent="0">
              <a:buNone/>
            </a:pPr>
            <a:r>
              <a:rPr lang="en-US" sz="2600" b="1" dirty="0">
                <a:solidFill>
                  <a:srgbClr val="DC2626"/>
                </a:solidFill>
                <a:latin typeface="Calibri" pitchFamily="34" charset="0"/>
                <a:ea typeface="Calibri" pitchFamily="34" charset="-122"/>
                <a:cs typeface="Calibri" pitchFamily="34" charset="-120"/>
              </a:rPr>
              <a:t>01</a:t>
            </a:r>
            <a:endParaRPr lang="en-US" sz="2600" dirty="0"/>
          </a:p>
        </p:txBody>
      </p:sp>
      <p:sp>
        <p:nvSpPr>
          <p:cNvPr id="10" name="Text 8"/>
          <p:cNvSpPr/>
          <p:nvPr/>
        </p:nvSpPr>
        <p:spPr>
          <a:xfrm>
            <a:off x="1005840" y="2423160"/>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Tool &amp; Method Inadequacy</a:t>
            </a:r>
            <a:endParaRPr lang="en-US" sz="1800" dirty="0"/>
          </a:p>
        </p:txBody>
      </p:sp>
      <p:sp>
        <p:nvSpPr>
          <p:cNvPr id="11" name="Shape 9"/>
          <p:cNvSpPr/>
          <p:nvPr/>
        </p:nvSpPr>
        <p:spPr>
          <a:xfrm>
            <a:off x="1005840" y="3063240"/>
            <a:ext cx="2844698" cy="0"/>
          </a:xfrm>
          <a:prstGeom prst="line">
            <a:avLst/>
          </a:prstGeom>
          <a:noFill/>
          <a:ln w="12700">
            <a:solidFill>
              <a:srgbClr val="CBD5E1"/>
            </a:solidFill>
            <a:prstDash val="solid"/>
          </a:ln>
        </p:spPr>
      </p:sp>
      <p:sp>
        <p:nvSpPr>
          <p:cNvPr id="12" name="Text 10"/>
          <p:cNvSpPr/>
          <p:nvPr/>
        </p:nvSpPr>
        <p:spPr>
          <a:xfrm>
            <a:off x="1005840" y="3291840"/>
            <a:ext cx="2844698" cy="2560320"/>
          </a:xfrm>
          <a:prstGeom prst="rect">
            <a:avLst/>
          </a:prstGeom>
          <a:noFill/>
          <a:ln/>
        </p:spPr>
        <p:txBody>
          <a:bodyPr wrap="square" lIns="0" tIns="0" rIns="0" bIns="0" rtlCol="0" anchor="ctr"/>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Over 90% of current pathogenicity scoring tools are engineered exclusively for SNVs or micro-indels (&lt;50 bp). They fail to model multi-kilobase structural context, exon-spanning disruptions, and topological chromatin domain boundaries.</a:t>
            </a:r>
            <a:endParaRPr lang="en-US" sz="1350" dirty="0"/>
          </a:p>
        </p:txBody>
      </p:sp>
      <p:sp>
        <p:nvSpPr>
          <p:cNvPr id="13" name="Shape 11"/>
          <p:cNvSpPr/>
          <p:nvPr/>
        </p:nvSpPr>
        <p:spPr>
          <a:xfrm>
            <a:off x="4399178" y="1691640"/>
            <a:ext cx="3393338" cy="4389120"/>
          </a:xfrm>
          <a:prstGeom prst="roundRect">
            <a:avLst>
              <a:gd name="adj" fmla="val 2156"/>
            </a:avLst>
          </a:prstGeom>
          <a:solidFill>
            <a:srgbClr val="FFFFFF"/>
          </a:solidFill>
          <a:ln w="12700">
            <a:solidFill>
              <a:srgbClr val="CBD5E1"/>
            </a:solidFill>
            <a:prstDash val="solid"/>
          </a:ln>
        </p:spPr>
      </p:sp>
      <p:sp>
        <p:nvSpPr>
          <p:cNvPr id="14" name="Text 12"/>
          <p:cNvSpPr/>
          <p:nvPr/>
        </p:nvSpPr>
        <p:spPr>
          <a:xfrm>
            <a:off x="4673498" y="1965960"/>
            <a:ext cx="2844698" cy="411480"/>
          </a:xfrm>
          <a:prstGeom prst="rect">
            <a:avLst/>
          </a:prstGeom>
          <a:noFill/>
          <a:ln/>
        </p:spPr>
        <p:txBody>
          <a:bodyPr wrap="square" lIns="0" tIns="0" rIns="0" bIns="0" rtlCol="0" anchor="ctr"/>
          <a:lstStyle/>
          <a:p>
            <a:pPr marL="0" indent="0">
              <a:buNone/>
            </a:pPr>
            <a:r>
              <a:rPr lang="en-US" sz="2600" b="1" dirty="0">
                <a:solidFill>
                  <a:srgbClr val="D97706"/>
                </a:solidFill>
                <a:latin typeface="Calibri" pitchFamily="34" charset="0"/>
                <a:ea typeface="Calibri" pitchFamily="34" charset="-122"/>
                <a:cs typeface="Calibri" pitchFamily="34" charset="-120"/>
              </a:rPr>
              <a:t>02</a:t>
            </a:r>
            <a:endParaRPr lang="en-US" sz="2600" dirty="0"/>
          </a:p>
        </p:txBody>
      </p:sp>
      <p:sp>
        <p:nvSpPr>
          <p:cNvPr id="15" name="Text 13"/>
          <p:cNvSpPr/>
          <p:nvPr/>
        </p:nvSpPr>
        <p:spPr>
          <a:xfrm>
            <a:off x="4673498" y="2423160"/>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Genomic Data Leakage</a:t>
            </a:r>
            <a:endParaRPr lang="en-US" sz="1800" dirty="0"/>
          </a:p>
        </p:txBody>
      </p:sp>
      <p:sp>
        <p:nvSpPr>
          <p:cNvPr id="16" name="Shape 14"/>
          <p:cNvSpPr/>
          <p:nvPr/>
        </p:nvSpPr>
        <p:spPr>
          <a:xfrm>
            <a:off x="4673498" y="3063240"/>
            <a:ext cx="2844698" cy="0"/>
          </a:xfrm>
          <a:prstGeom prst="line">
            <a:avLst/>
          </a:prstGeom>
          <a:noFill/>
          <a:ln w="12700">
            <a:solidFill>
              <a:srgbClr val="CBD5E1"/>
            </a:solidFill>
            <a:prstDash val="solid"/>
          </a:ln>
        </p:spPr>
      </p:sp>
      <p:sp>
        <p:nvSpPr>
          <p:cNvPr id="17" name="Text 15"/>
          <p:cNvSpPr/>
          <p:nvPr/>
        </p:nvSpPr>
        <p:spPr>
          <a:xfrm>
            <a:off x="4673498" y="3291840"/>
            <a:ext cx="2844698" cy="2560320"/>
          </a:xfrm>
          <a:prstGeom prst="rect">
            <a:avLst/>
          </a:prstGeom>
          <a:noFill/>
          <a:ln/>
        </p:spPr>
        <p:txBody>
          <a:bodyPr wrap="square" lIns="0" tIns="0" rIns="0" bIns="0" rtlCol="0" anchor="ctr"/>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Prior studies evaluate SV prioritization using naive random k-fold train/test splits. Overlapping variants from identical genomic loci or genes leak between folds, producing artificially inflated benchmark metrics that fail on real patients.</a:t>
            </a:r>
            <a:endParaRPr lang="en-US" sz="1350" dirty="0"/>
          </a:p>
        </p:txBody>
      </p:sp>
      <p:sp>
        <p:nvSpPr>
          <p:cNvPr id="18" name="Shape 16"/>
          <p:cNvSpPr/>
          <p:nvPr/>
        </p:nvSpPr>
        <p:spPr>
          <a:xfrm>
            <a:off x="8066837" y="1691640"/>
            <a:ext cx="3393338" cy="4389120"/>
          </a:xfrm>
          <a:prstGeom prst="roundRect">
            <a:avLst>
              <a:gd name="adj" fmla="val 2156"/>
            </a:avLst>
          </a:prstGeom>
          <a:solidFill>
            <a:srgbClr val="FFFFFF"/>
          </a:solidFill>
          <a:ln w="12700">
            <a:solidFill>
              <a:srgbClr val="CBD5E1"/>
            </a:solidFill>
            <a:prstDash val="solid"/>
          </a:ln>
        </p:spPr>
      </p:sp>
      <p:sp>
        <p:nvSpPr>
          <p:cNvPr id="19" name="Text 17"/>
          <p:cNvSpPr/>
          <p:nvPr/>
        </p:nvSpPr>
        <p:spPr>
          <a:xfrm>
            <a:off x="8341157" y="1965960"/>
            <a:ext cx="2844698" cy="411480"/>
          </a:xfrm>
          <a:prstGeom prst="rect">
            <a:avLst/>
          </a:prstGeom>
          <a:noFill/>
          <a:ln/>
        </p:spPr>
        <p:txBody>
          <a:bodyPr wrap="square" lIns="0" tIns="0" rIns="0" bIns="0" rtlCol="0" anchor="ctr"/>
          <a:lstStyle/>
          <a:p>
            <a:pPr marL="0" indent="0">
              <a:buNone/>
            </a:pPr>
            <a:r>
              <a:rPr lang="en-US" sz="2600" b="1" dirty="0">
                <a:solidFill>
                  <a:srgbClr val="2563EB"/>
                </a:solidFill>
                <a:latin typeface="Calibri" pitchFamily="34" charset="0"/>
                <a:ea typeface="Calibri" pitchFamily="34" charset="-122"/>
                <a:cs typeface="Calibri" pitchFamily="34" charset="-120"/>
              </a:rPr>
              <a:t>03</a:t>
            </a:r>
            <a:endParaRPr lang="en-US" sz="2600" dirty="0"/>
          </a:p>
        </p:txBody>
      </p:sp>
      <p:sp>
        <p:nvSpPr>
          <p:cNvPr id="20" name="Text 18"/>
          <p:cNvSpPr/>
          <p:nvPr/>
        </p:nvSpPr>
        <p:spPr>
          <a:xfrm>
            <a:off x="8341157" y="2423160"/>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Lack of Certified Safety</a:t>
            </a:r>
            <a:endParaRPr lang="en-US" sz="1800" dirty="0"/>
          </a:p>
        </p:txBody>
      </p:sp>
      <p:sp>
        <p:nvSpPr>
          <p:cNvPr id="21" name="Shape 19"/>
          <p:cNvSpPr/>
          <p:nvPr/>
        </p:nvSpPr>
        <p:spPr>
          <a:xfrm>
            <a:off x="8341157" y="3063240"/>
            <a:ext cx="2844698" cy="0"/>
          </a:xfrm>
          <a:prstGeom prst="line">
            <a:avLst/>
          </a:prstGeom>
          <a:noFill/>
          <a:ln w="12700">
            <a:solidFill>
              <a:srgbClr val="CBD5E1"/>
            </a:solidFill>
            <a:prstDash val="solid"/>
          </a:ln>
        </p:spPr>
      </p:sp>
      <p:sp>
        <p:nvSpPr>
          <p:cNvPr id="22" name="Text 20"/>
          <p:cNvSpPr/>
          <p:nvPr/>
        </p:nvSpPr>
        <p:spPr>
          <a:xfrm>
            <a:off x="8341157" y="3291840"/>
            <a:ext cx="2844698" cy="2560320"/>
          </a:xfrm>
          <a:prstGeom prst="rect">
            <a:avLst/>
          </a:prstGeom>
          <a:noFill/>
          <a:ln/>
        </p:spPr>
        <p:txBody>
          <a:bodyPr wrap="square" lIns="0" tIns="0" rIns="0" bIns="0" rtlCol="0" anchor="ctr"/>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Conventional AI models output uncalibrated probability scores without uncertainty quantification. In high-stakes clinical diagnostics, arbitrary cutoffs risk missing pathogenic mutations or triggering costly unnecessary medical interventions.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CLINICAL RELEVANCE</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Clinical Motivation: Resolving the 40% VUS Dilemma</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Transforming non-actionable genomic findings into certified diagnostic intelligence</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4 of 24</a:t>
            </a:r>
            <a:endParaRPr lang="en-US" sz="1100" dirty="0"/>
          </a:p>
        </p:txBody>
      </p:sp>
      <p:sp>
        <p:nvSpPr>
          <p:cNvPr id="8" name="Shape 6"/>
          <p:cNvSpPr/>
          <p:nvPr/>
        </p:nvSpPr>
        <p:spPr>
          <a:xfrm>
            <a:off x="731520" y="1691640"/>
            <a:ext cx="3931920" cy="1325880"/>
          </a:xfrm>
          <a:prstGeom prst="roundRect">
            <a:avLst>
              <a:gd name="adj" fmla="val 5517"/>
            </a:avLst>
          </a:prstGeom>
          <a:solidFill>
            <a:srgbClr val="FFFFFF"/>
          </a:solidFill>
          <a:ln w="12700">
            <a:solidFill>
              <a:srgbClr val="CBD5E1"/>
            </a:solidFill>
            <a:prstDash val="solid"/>
          </a:ln>
        </p:spPr>
      </p:sp>
      <p:sp>
        <p:nvSpPr>
          <p:cNvPr id="9" name="Text 7"/>
          <p:cNvSpPr/>
          <p:nvPr/>
        </p:nvSpPr>
        <p:spPr>
          <a:xfrm>
            <a:off x="960120" y="1828800"/>
            <a:ext cx="3474720" cy="594360"/>
          </a:xfrm>
          <a:prstGeom prst="rect">
            <a:avLst/>
          </a:prstGeom>
          <a:noFill/>
          <a:ln/>
        </p:spPr>
        <p:txBody>
          <a:bodyPr wrap="square" lIns="0" tIns="0" rIns="0" bIns="0" rtlCol="0" anchor="ctr"/>
          <a:lstStyle/>
          <a:p>
            <a:pPr marL="0" indent="0">
              <a:buNone/>
            </a:pPr>
            <a:r>
              <a:rPr lang="en-US" sz="3200" b="1" dirty="0">
                <a:solidFill>
                  <a:srgbClr val="DC2626"/>
                </a:solidFill>
                <a:latin typeface="Calibri" pitchFamily="34" charset="0"/>
                <a:ea typeface="Calibri" pitchFamily="34" charset="-122"/>
                <a:cs typeface="Calibri" pitchFamily="34" charset="-120"/>
              </a:rPr>
              <a:t>~40%</a:t>
            </a:r>
            <a:endParaRPr lang="en-US" sz="3200" dirty="0"/>
          </a:p>
        </p:txBody>
      </p:sp>
      <p:sp>
        <p:nvSpPr>
          <p:cNvPr id="10" name="Text 8"/>
          <p:cNvSpPr/>
          <p:nvPr/>
        </p:nvSpPr>
        <p:spPr>
          <a:xfrm>
            <a:off x="960120" y="2441448"/>
            <a:ext cx="3474720" cy="320040"/>
          </a:xfrm>
          <a:prstGeom prst="rect">
            <a:avLst/>
          </a:prstGeom>
          <a:noFill/>
          <a:ln/>
        </p:spPr>
        <p:txBody>
          <a:bodyPr wrap="square" lIns="0" tIns="0" rIns="0" bIns="0" rtlCol="0" anchor="ctr"/>
          <a:lstStyle/>
          <a:p>
            <a:pPr marL="0" indent="0">
              <a:buNone/>
            </a:pPr>
            <a:r>
              <a:rPr lang="en-US" sz="1350" b="1" dirty="0">
                <a:solidFill>
                  <a:srgbClr val="0F172A"/>
                </a:solidFill>
                <a:latin typeface="Calibri" pitchFamily="34" charset="0"/>
                <a:ea typeface="Calibri" pitchFamily="34" charset="-122"/>
                <a:cs typeface="Calibri" pitchFamily="34" charset="-120"/>
              </a:rPr>
              <a:t>Variants of Uncertain Significance</a:t>
            </a:r>
            <a:endParaRPr lang="en-US" sz="1350" dirty="0"/>
          </a:p>
        </p:txBody>
      </p:sp>
      <p:sp>
        <p:nvSpPr>
          <p:cNvPr id="11" name="Text 9"/>
          <p:cNvSpPr/>
          <p:nvPr/>
        </p:nvSpPr>
        <p:spPr>
          <a:xfrm>
            <a:off x="960120" y="2788920"/>
            <a:ext cx="3474720" cy="13716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Up to 40% of discovered patient SVs cannot be clinically classified.</a:t>
            </a:r>
            <a:endParaRPr lang="en-US" sz="1150" dirty="0"/>
          </a:p>
        </p:txBody>
      </p:sp>
      <p:sp>
        <p:nvSpPr>
          <p:cNvPr id="12" name="Shape 10"/>
          <p:cNvSpPr/>
          <p:nvPr/>
        </p:nvSpPr>
        <p:spPr>
          <a:xfrm>
            <a:off x="731520" y="3200400"/>
            <a:ext cx="3931920" cy="1325880"/>
          </a:xfrm>
          <a:prstGeom prst="roundRect">
            <a:avLst>
              <a:gd name="adj" fmla="val 5517"/>
            </a:avLst>
          </a:prstGeom>
          <a:solidFill>
            <a:srgbClr val="FFFFFF"/>
          </a:solidFill>
          <a:ln w="12700">
            <a:solidFill>
              <a:srgbClr val="CBD5E1"/>
            </a:solidFill>
            <a:prstDash val="solid"/>
          </a:ln>
        </p:spPr>
      </p:sp>
      <p:sp>
        <p:nvSpPr>
          <p:cNvPr id="13" name="Text 11"/>
          <p:cNvSpPr/>
          <p:nvPr/>
        </p:nvSpPr>
        <p:spPr>
          <a:xfrm>
            <a:off x="960120" y="3337560"/>
            <a:ext cx="3474720" cy="594360"/>
          </a:xfrm>
          <a:prstGeom prst="rect">
            <a:avLst/>
          </a:prstGeom>
          <a:noFill/>
          <a:ln/>
        </p:spPr>
        <p:txBody>
          <a:bodyPr wrap="square" lIns="0" tIns="0" rIns="0" bIns="0" rtlCol="0" anchor="ctr"/>
          <a:lstStyle/>
          <a:p>
            <a:pPr marL="0" indent="0">
              <a:buNone/>
            </a:pPr>
            <a:r>
              <a:rPr lang="en-US" sz="3200" b="1" dirty="0">
                <a:solidFill>
                  <a:srgbClr val="D97706"/>
                </a:solidFill>
                <a:latin typeface="Calibri" pitchFamily="34" charset="0"/>
                <a:ea typeface="Calibri" pitchFamily="34" charset="-122"/>
                <a:cs typeface="Calibri" pitchFamily="34" charset="-120"/>
              </a:rPr>
              <a:t>&gt;45 min</a:t>
            </a:r>
            <a:endParaRPr lang="en-US" sz="3200" dirty="0"/>
          </a:p>
        </p:txBody>
      </p:sp>
      <p:sp>
        <p:nvSpPr>
          <p:cNvPr id="14" name="Text 12"/>
          <p:cNvSpPr/>
          <p:nvPr/>
        </p:nvSpPr>
        <p:spPr>
          <a:xfrm>
            <a:off x="960120" y="3950208"/>
            <a:ext cx="3474720" cy="320040"/>
          </a:xfrm>
          <a:prstGeom prst="rect">
            <a:avLst/>
          </a:prstGeom>
          <a:noFill/>
          <a:ln/>
        </p:spPr>
        <p:txBody>
          <a:bodyPr wrap="square" lIns="0" tIns="0" rIns="0" bIns="0" rtlCol="0" anchor="ctr"/>
          <a:lstStyle/>
          <a:p>
            <a:pPr marL="0" indent="0">
              <a:buNone/>
            </a:pPr>
            <a:r>
              <a:rPr lang="en-US" sz="1350" b="1" dirty="0">
                <a:solidFill>
                  <a:srgbClr val="0F172A"/>
                </a:solidFill>
                <a:latin typeface="Calibri" pitchFamily="34" charset="0"/>
                <a:ea typeface="Calibri" pitchFamily="34" charset="-122"/>
                <a:cs typeface="Calibri" pitchFamily="34" charset="-120"/>
              </a:rPr>
              <a:t>Manual Review per Variant</a:t>
            </a:r>
            <a:endParaRPr lang="en-US" sz="1350" dirty="0"/>
          </a:p>
        </p:txBody>
      </p:sp>
      <p:sp>
        <p:nvSpPr>
          <p:cNvPr id="15" name="Text 13"/>
          <p:cNvSpPr/>
          <p:nvPr/>
        </p:nvSpPr>
        <p:spPr>
          <a:xfrm>
            <a:off x="960120" y="4297680"/>
            <a:ext cx="3474720" cy="13716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Exhaustive cytogenetic and PubMed literature searches stall reporting.</a:t>
            </a:r>
            <a:endParaRPr lang="en-US" sz="1150" dirty="0"/>
          </a:p>
        </p:txBody>
      </p:sp>
      <p:sp>
        <p:nvSpPr>
          <p:cNvPr id="16" name="Shape 14"/>
          <p:cNvSpPr/>
          <p:nvPr/>
        </p:nvSpPr>
        <p:spPr>
          <a:xfrm>
            <a:off x="731520" y="4709160"/>
            <a:ext cx="3931920" cy="1371600"/>
          </a:xfrm>
          <a:prstGeom prst="roundRect">
            <a:avLst>
              <a:gd name="adj" fmla="val 5333"/>
            </a:avLst>
          </a:prstGeom>
          <a:solidFill>
            <a:srgbClr val="FFFFFF"/>
          </a:solidFill>
          <a:ln w="12700">
            <a:solidFill>
              <a:srgbClr val="CBD5E1"/>
            </a:solidFill>
            <a:prstDash val="solid"/>
          </a:ln>
        </p:spPr>
      </p:sp>
      <p:sp>
        <p:nvSpPr>
          <p:cNvPr id="17" name="Text 15"/>
          <p:cNvSpPr/>
          <p:nvPr/>
        </p:nvSpPr>
        <p:spPr>
          <a:xfrm>
            <a:off x="960120" y="4846320"/>
            <a:ext cx="3474720" cy="594360"/>
          </a:xfrm>
          <a:prstGeom prst="rect">
            <a:avLst/>
          </a:prstGeom>
          <a:noFill/>
          <a:ln/>
        </p:spPr>
        <p:txBody>
          <a:bodyPr wrap="square" lIns="0" tIns="0" rIns="0" bIns="0" rtlCol="0" anchor="ctr"/>
          <a:lstStyle/>
          <a:p>
            <a:pPr marL="0" indent="0">
              <a:buNone/>
            </a:pPr>
            <a:r>
              <a:rPr lang="en-US" sz="3200" b="1" dirty="0">
                <a:solidFill>
                  <a:srgbClr val="059669"/>
                </a:solidFill>
                <a:latin typeface="Calibri" pitchFamily="34" charset="0"/>
                <a:ea typeface="Calibri" pitchFamily="34" charset="-122"/>
                <a:cs typeface="Calibri" pitchFamily="34" charset="-120"/>
              </a:rPr>
              <a:t>4.2s</a:t>
            </a:r>
            <a:endParaRPr lang="en-US" sz="3200" dirty="0"/>
          </a:p>
        </p:txBody>
      </p:sp>
      <p:sp>
        <p:nvSpPr>
          <p:cNvPr id="18" name="Text 16"/>
          <p:cNvSpPr/>
          <p:nvPr/>
        </p:nvSpPr>
        <p:spPr>
          <a:xfrm>
            <a:off x="960120" y="5458968"/>
            <a:ext cx="3474720" cy="320040"/>
          </a:xfrm>
          <a:prstGeom prst="rect">
            <a:avLst/>
          </a:prstGeom>
          <a:noFill/>
          <a:ln/>
        </p:spPr>
        <p:txBody>
          <a:bodyPr wrap="square" lIns="0" tIns="0" rIns="0" bIns="0" rtlCol="0" anchor="ctr"/>
          <a:lstStyle/>
          <a:p>
            <a:pPr marL="0" indent="0">
              <a:buNone/>
            </a:pPr>
            <a:r>
              <a:rPr lang="en-US" sz="1350" b="1" dirty="0">
                <a:solidFill>
                  <a:srgbClr val="0F172A"/>
                </a:solidFill>
                <a:latin typeface="Calibri" pitchFamily="34" charset="0"/>
                <a:ea typeface="Calibri" pitchFamily="34" charset="-122"/>
                <a:cs typeface="Calibri" pitchFamily="34" charset="-120"/>
              </a:rPr>
              <a:t>Automated AI Pipeline Delivery</a:t>
            </a:r>
            <a:endParaRPr lang="en-US" sz="1350" dirty="0"/>
          </a:p>
        </p:txBody>
      </p:sp>
      <p:sp>
        <p:nvSpPr>
          <p:cNvPr id="19" name="Text 17"/>
          <p:cNvSpPr/>
          <p:nvPr/>
        </p:nvSpPr>
        <p:spPr>
          <a:xfrm>
            <a:off x="960120" y="5806440"/>
            <a:ext cx="3474720" cy="18288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Our proposed workflow ranks and explains candidate variants in seconds.</a:t>
            </a:r>
            <a:endParaRPr lang="en-US" sz="1150" dirty="0"/>
          </a:p>
        </p:txBody>
      </p:sp>
      <p:sp>
        <p:nvSpPr>
          <p:cNvPr id="20" name="Shape 18"/>
          <p:cNvSpPr/>
          <p:nvPr/>
        </p:nvSpPr>
        <p:spPr>
          <a:xfrm>
            <a:off x="4937760" y="1691640"/>
            <a:ext cx="6522415" cy="4389120"/>
          </a:xfrm>
          <a:prstGeom prst="roundRect">
            <a:avLst>
              <a:gd name="adj" fmla="val 1667"/>
            </a:avLst>
          </a:prstGeom>
          <a:solidFill>
            <a:srgbClr val="FFFFFF"/>
          </a:solidFill>
          <a:ln w="12700">
            <a:solidFill>
              <a:srgbClr val="CBD5E1"/>
            </a:solidFill>
            <a:prstDash val="solid"/>
          </a:ln>
        </p:spPr>
      </p:sp>
      <p:sp>
        <p:nvSpPr>
          <p:cNvPr id="21" name="Text 19"/>
          <p:cNvSpPr/>
          <p:nvPr/>
        </p:nvSpPr>
        <p:spPr>
          <a:xfrm>
            <a:off x="5212080" y="1965960"/>
            <a:ext cx="5943600"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CLINICAL IMPLICATIONS &amp; IMPACT</a:t>
            </a:r>
            <a:endParaRPr lang="en-US" sz="1200" dirty="0"/>
          </a:p>
        </p:txBody>
      </p:sp>
      <p:sp>
        <p:nvSpPr>
          <p:cNvPr id="22" name="Text 20"/>
          <p:cNvSpPr/>
          <p:nvPr/>
        </p:nvSpPr>
        <p:spPr>
          <a:xfrm>
            <a:off x="5212080" y="2267712"/>
            <a:ext cx="5943600" cy="365760"/>
          </a:xfrm>
          <a:prstGeom prst="rect">
            <a:avLst/>
          </a:prstGeom>
          <a:noFill/>
          <a:ln/>
        </p:spPr>
        <p:txBody>
          <a:bodyPr wrap="square" lIns="0" tIns="0" rIns="0" bIns="0" rtlCol="0" anchor="ctr"/>
          <a:lstStyle/>
          <a:p>
            <a:pPr marL="0" indent="0">
              <a:buNone/>
            </a:pPr>
            <a:r>
              <a:rPr lang="en-US" sz="1900" b="1" dirty="0">
                <a:solidFill>
                  <a:srgbClr val="0F172A"/>
                </a:solidFill>
                <a:latin typeface="Calibri" pitchFamily="34" charset="0"/>
                <a:ea typeface="Calibri" pitchFamily="34" charset="-122"/>
                <a:cs typeface="Calibri" pitchFamily="34" charset="-120"/>
              </a:rPr>
              <a:t>Why Solving VUS Prioritization is Paramount</a:t>
            </a:r>
            <a:endParaRPr lang="en-US" sz="1900" dirty="0"/>
          </a:p>
        </p:txBody>
      </p:sp>
      <p:sp>
        <p:nvSpPr>
          <p:cNvPr id="23" name="Shape 21"/>
          <p:cNvSpPr/>
          <p:nvPr/>
        </p:nvSpPr>
        <p:spPr>
          <a:xfrm>
            <a:off x="5212080" y="2697480"/>
            <a:ext cx="5943600" cy="0"/>
          </a:xfrm>
          <a:prstGeom prst="line">
            <a:avLst/>
          </a:prstGeom>
          <a:noFill/>
          <a:ln w="12700">
            <a:solidFill>
              <a:srgbClr val="CBD5E1"/>
            </a:solidFill>
            <a:prstDash val="solid"/>
          </a:ln>
        </p:spPr>
      </p:sp>
      <p:sp>
        <p:nvSpPr>
          <p:cNvPr id="24" name="Text 22"/>
          <p:cNvSpPr/>
          <p:nvPr/>
        </p:nvSpPr>
        <p:spPr>
          <a:xfrm>
            <a:off x="5212080" y="2880360"/>
            <a:ext cx="5943600" cy="914400"/>
          </a:xfrm>
          <a:prstGeom prst="rect">
            <a:avLst/>
          </a:prstGeom>
          <a:noFill/>
          <a:ln/>
        </p:spPr>
        <p:txBody>
          <a:bodyPr wrap="square" lIns="0" tIns="0" rIns="0" bIns="0" rtlCol="0" anchor="ctr"/>
          <a:lstStyle/>
          <a:p>
            <a:pPr marL="0" indent="0">
              <a:lnSpc>
                <a:spcPct val="120000"/>
              </a:lnSpc>
              <a:buNone/>
            </a:pPr>
            <a:r>
              <a:rPr lang="en-US" sz="1350" b="1" dirty="0">
                <a:solidFill>
                  <a:srgbClr val="0F172A"/>
                </a:solidFill>
              </a:rPr>
              <a:t>Delayed Medical Interventions: </a:t>
            </a:r>
            <a:r>
              <a:rPr lang="en-US" sz="1300" dirty="0">
                <a:solidFill>
                  <a:srgbClr val="334155"/>
                </a:solidFill>
              </a:rPr>
              <a:t>When a candidate mutation is tagged as VUS, oncologists and medical geneticists cannot prescribe targeted therapy or gene-editing treatments.</a:t>
            </a:r>
            <a:endParaRPr lang="en-US" sz="1350" dirty="0"/>
          </a:p>
        </p:txBody>
      </p:sp>
      <p:sp>
        <p:nvSpPr>
          <p:cNvPr id="25" name="Text 23"/>
          <p:cNvSpPr/>
          <p:nvPr/>
        </p:nvSpPr>
        <p:spPr>
          <a:xfrm>
            <a:off x="5212080" y="3931920"/>
            <a:ext cx="5943600" cy="914400"/>
          </a:xfrm>
          <a:prstGeom prst="rect">
            <a:avLst/>
          </a:prstGeom>
          <a:noFill/>
          <a:ln/>
        </p:spPr>
        <p:txBody>
          <a:bodyPr wrap="square" lIns="0" tIns="0" rIns="0" bIns="0" rtlCol="0" anchor="ctr"/>
          <a:lstStyle/>
          <a:p>
            <a:pPr marL="0" indent="0">
              <a:lnSpc>
                <a:spcPct val="120000"/>
              </a:lnSpc>
              <a:buNone/>
            </a:pPr>
            <a:r>
              <a:rPr lang="en-US" sz="1350" b="1" dirty="0">
                <a:solidFill>
                  <a:srgbClr val="0F172A"/>
                </a:solidFill>
              </a:rPr>
              <a:t>Severe Diagnostic Backlog: </a:t>
            </a:r>
            <a:r>
              <a:rPr lang="en-US" sz="1300" dirty="0">
                <a:solidFill>
                  <a:srgbClr val="334155"/>
                </a:solidFill>
              </a:rPr>
              <a:t>Clinical geneticists spend hours cross-referencing population frequencies, constraint metrics, and gene catalogs for hundreds of variants per patient.</a:t>
            </a:r>
            <a:endParaRPr lang="en-US" sz="1350" dirty="0"/>
          </a:p>
        </p:txBody>
      </p:sp>
      <p:sp>
        <p:nvSpPr>
          <p:cNvPr id="26" name="Text 24"/>
          <p:cNvSpPr/>
          <p:nvPr/>
        </p:nvSpPr>
        <p:spPr>
          <a:xfrm>
            <a:off x="5212080" y="4983480"/>
            <a:ext cx="5943600" cy="914400"/>
          </a:xfrm>
          <a:prstGeom prst="rect">
            <a:avLst/>
          </a:prstGeom>
          <a:noFill/>
          <a:ln/>
        </p:spPr>
        <p:txBody>
          <a:bodyPr wrap="square" lIns="0" tIns="0" rIns="0" bIns="0" rtlCol="0" anchor="ctr"/>
          <a:lstStyle/>
          <a:p>
            <a:pPr marL="0" indent="0">
              <a:lnSpc>
                <a:spcPct val="120000"/>
              </a:lnSpc>
              <a:buNone/>
            </a:pPr>
            <a:r>
              <a:rPr lang="en-US" sz="1350" b="1" dirty="0">
                <a:solidFill>
                  <a:srgbClr val="0F172A"/>
                </a:solidFill>
              </a:rPr>
              <a:t>Explainability Requirement: </a:t>
            </a:r>
            <a:r>
              <a:rPr lang="en-US" sz="1300" dirty="0">
                <a:solidFill>
                  <a:srgbClr val="334155"/>
                </a:solidFill>
              </a:rPr>
              <a:t>Clinicians cannot trust black-box neural scores. Automated prioritization must supply local biological feature attributions for hospital board validation.</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STATE OF THE ART</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Literature Review: Genomic Variant Interpretation</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Foundational scientific milestones and existing scoring methodologies</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5 of 24</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10728655" cy="4389120"/>
        </p:xfrm>
        <a:graphic>
          <a:graphicData uri="http://schemas.openxmlformats.org/drawingml/2006/table">
            <a:tbl>
              <a:tblPr/>
              <a:tblGrid>
                <a:gridCol w="20116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gridCol w="2956255">
                  <a:extLst>
                    <a:ext uri="{9D8B030D-6E8A-4147-A177-3AD203B41FA5}">
                      <a16:colId xmlns:a16="http://schemas.microsoft.com/office/drawing/2014/main" val="20003"/>
                    </a:ext>
                  </a:extLst>
                </a:gridCol>
              </a:tblGrid>
              <a:tr h="877824">
                <a:tc>
                  <a:txBody>
                    <a:bodyPr/>
                    <a:lstStyle/>
                    <a:p>
                      <a:pPr marL="0" indent="0" algn="l">
                        <a:buNone/>
                      </a:pPr>
                      <a:r>
                        <a:rPr lang="en-US" sz="1200" b="1" dirty="0">
                          <a:solidFill>
                            <a:srgbClr val="FFFFFF"/>
                          </a:solidFill>
                        </a:rPr>
                        <a:t>Study &amp; Year</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93B"/>
                    </a:solidFill>
                  </a:tcPr>
                </a:tc>
                <a:tc>
                  <a:txBody>
                    <a:bodyPr/>
                    <a:lstStyle/>
                    <a:p>
                      <a:pPr marL="0" indent="0" algn="l">
                        <a:buNone/>
                      </a:pPr>
                      <a:r>
                        <a:rPr lang="en-US" sz="1200" b="1" dirty="0">
                          <a:solidFill>
                            <a:srgbClr val="FFFFFF"/>
                          </a:solidFill>
                        </a:rPr>
                        <a:t>Methodology</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93B"/>
                    </a:solidFill>
                  </a:tcPr>
                </a:tc>
                <a:tc>
                  <a:txBody>
                    <a:bodyPr/>
                    <a:lstStyle/>
                    <a:p>
                      <a:pPr marL="0" indent="0" algn="l">
                        <a:buNone/>
                      </a:pPr>
                      <a:r>
                        <a:rPr lang="en-US" sz="1200" b="1" dirty="0">
                          <a:solidFill>
                            <a:srgbClr val="FFFFFF"/>
                          </a:solidFill>
                        </a:rPr>
                        <a:t>Key Findings &amp; Strengths</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93B"/>
                    </a:solidFill>
                  </a:tcPr>
                </a:tc>
                <a:tc>
                  <a:txBody>
                    <a:bodyPr/>
                    <a:lstStyle/>
                    <a:p>
                      <a:pPr marL="0" indent="0" algn="l">
                        <a:buNone/>
                      </a:pPr>
                      <a:r>
                        <a:rPr lang="en-US" sz="1200" b="1" dirty="0">
                          <a:solidFill>
                            <a:srgbClr val="FFFFFF"/>
                          </a:solidFill>
                        </a:rPr>
                        <a:t>Inherent Limitations</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877824">
                <a:tc>
                  <a:txBody>
                    <a:bodyPr/>
                    <a:lstStyle/>
                    <a:p>
                      <a:pPr marL="0" indent="0" algn="l">
                        <a:buNone/>
                      </a:pPr>
                      <a:r>
                        <a:rPr lang="en-US" sz="1150" b="1" dirty="0">
                          <a:solidFill>
                            <a:srgbClr val="0F172A"/>
                          </a:solidFill>
                        </a:rPr>
                        <a:t>Collins et al.</a:t>
                      </a:r>
                      <a:endParaRPr lang="en-US" sz="1150" dirty="0"/>
                    </a:p>
                    <a:p>
                      <a:pPr marL="0" indent="0" algn="l">
                        <a:buNone/>
                      </a:pPr>
                      <a:r>
                        <a:rPr lang="en-US" sz="1150" b="1" dirty="0">
                          <a:solidFill>
                            <a:srgbClr val="0F172A"/>
                          </a:solidFill>
                        </a:rPr>
                        <a:t>(Nature 2020)</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150" dirty="0">
                          <a:solidFill>
                            <a:srgbClr val="334155"/>
                          </a:solidFill>
                        </a:rPr>
                        <a:t>gnomAD SV v2.1 Population Catalog</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334155"/>
                          </a:solidFill>
                        </a:rPr>
                        <a:t>Mapped 387,700 SVs across 14,891 genomes; established allele frequency baseline.</a:t>
                      </a:r>
                      <a:endParaRPr lang="en-US" sz="11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334155"/>
                          </a:solidFill>
                        </a:rPr>
                        <a:t>Purely reference catalog; lacks disease pathogenicity predictive scoring.</a:t>
                      </a:r>
                      <a:endParaRPr lang="en-US" sz="11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877824">
                <a:tc>
                  <a:txBody>
                    <a:bodyPr/>
                    <a:lstStyle/>
                    <a:p>
                      <a:pPr marL="0" indent="0" algn="l">
                        <a:buNone/>
                      </a:pPr>
                      <a:r>
                        <a:rPr lang="en-US" sz="1150" b="1" dirty="0">
                          <a:solidFill>
                            <a:srgbClr val="0F172A"/>
                          </a:solidFill>
                        </a:rPr>
                        <a:t>Rentzsch et al.</a:t>
                      </a:r>
                      <a:endParaRPr lang="en-US" sz="1150" dirty="0"/>
                    </a:p>
                    <a:p>
                      <a:pPr marL="0" indent="0" algn="l">
                        <a:buNone/>
                      </a:pPr>
                      <a:r>
                        <a:rPr lang="en-US" sz="1150" b="1" dirty="0">
                          <a:solidFill>
                            <a:srgbClr val="0F172A"/>
                          </a:solidFill>
                        </a:rPr>
                        <a:t>(Genome Bio 2020)</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150" dirty="0">
                          <a:solidFill>
                            <a:srgbClr val="334155"/>
                          </a:solidFill>
                        </a:rPr>
                        <a:t>CADD-SV Regional Scoring</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334155"/>
                          </a:solidFill>
                        </a:rPr>
                        <a:t>Integrates functional genomics and conservation tracks for large deletions.</a:t>
                      </a:r>
                      <a:endParaRPr lang="en-US" sz="11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334155"/>
                          </a:solidFill>
                        </a:rPr>
                        <a:t>Linear kernel; struggles with non-coding complex balanced rearrangements.</a:t>
                      </a:r>
                      <a:endParaRPr lang="en-US" sz="11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877824">
                <a:tc>
                  <a:txBody>
                    <a:bodyPr/>
                    <a:lstStyle/>
                    <a:p>
                      <a:pPr marL="0" indent="0" algn="l">
                        <a:buNone/>
                      </a:pPr>
                      <a:r>
                        <a:rPr lang="en-US" sz="1150" b="1" dirty="0">
                          <a:solidFill>
                            <a:srgbClr val="0F172A"/>
                          </a:solidFill>
                        </a:rPr>
                        <a:t>Landrum et al.</a:t>
                      </a:r>
                      <a:endParaRPr lang="en-US" sz="1150" dirty="0"/>
                    </a:p>
                    <a:p>
                      <a:pPr marL="0" indent="0" algn="l">
                        <a:buNone/>
                      </a:pPr>
                      <a:r>
                        <a:rPr lang="en-US" sz="1150" b="1" dirty="0">
                          <a:solidFill>
                            <a:srgbClr val="0F172A"/>
                          </a:solidFill>
                        </a:rPr>
                        <a:t>(NAR 2024)</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150" dirty="0">
                          <a:solidFill>
                            <a:srgbClr val="334155"/>
                          </a:solidFill>
                        </a:rPr>
                        <a:t>NCBI ClinVar Database</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334155"/>
                          </a:solidFill>
                        </a:rPr>
                        <a:t>Gold-standard repository of 100k+ expert-asserted variant-disease records.</a:t>
                      </a:r>
                      <a:endParaRPr lang="en-US" sz="11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334155"/>
                          </a:solidFill>
                        </a:rPr>
                        <a:t>Suffers from heavy class imbalance and unclassified VUS backlog.</a:t>
                      </a:r>
                      <a:endParaRPr lang="en-US" sz="11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877824">
                <a:tc>
                  <a:txBody>
                    <a:bodyPr/>
                    <a:lstStyle/>
                    <a:p>
                      <a:pPr marL="0" indent="0" algn="l">
                        <a:buNone/>
                      </a:pPr>
                      <a:r>
                        <a:rPr lang="en-US" sz="1150" b="1" dirty="0">
                          <a:solidFill>
                            <a:srgbClr val="0F172A"/>
                          </a:solidFill>
                        </a:rPr>
                        <a:t>Lundberg et al.</a:t>
                      </a:r>
                      <a:endParaRPr lang="en-US" sz="1150" dirty="0"/>
                    </a:p>
                    <a:p>
                      <a:pPr marL="0" indent="0" algn="l">
                        <a:buNone/>
                      </a:pPr>
                      <a:r>
                        <a:rPr lang="en-US" sz="1150" b="1" dirty="0">
                          <a:solidFill>
                            <a:srgbClr val="0F172A"/>
                          </a:solidFill>
                        </a:rPr>
                        <a:t>(Nat MI 2020)</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150" dirty="0">
                          <a:solidFill>
                            <a:srgbClr val="334155"/>
                          </a:solidFill>
                        </a:rPr>
                        <a:t>TreeSHAP Attribution</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334155"/>
                          </a:solidFill>
                        </a:rPr>
                        <a:t>Game-theoretic local Shapley attributions for complex tree ensembles.</a:t>
                      </a:r>
                      <a:endParaRPr lang="en-US" sz="11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334155"/>
                          </a:solidFill>
                        </a:rPr>
                        <a:t>Diagnostic tool only; requires integration into end-to-end clinical pipelines.</a:t>
                      </a:r>
                      <a:endParaRPr lang="en-US" sz="11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RESEARCH MOTIVATION</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Research Gap: Critical Unaddressed Challenges</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Three major limitations in current genomic machine learning frameworks</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6 of 24</a:t>
            </a:r>
            <a:endParaRPr lang="en-US" sz="1100" dirty="0"/>
          </a:p>
        </p:txBody>
      </p:sp>
      <p:sp>
        <p:nvSpPr>
          <p:cNvPr id="8" name="Shape 6"/>
          <p:cNvSpPr/>
          <p:nvPr/>
        </p:nvSpPr>
        <p:spPr>
          <a:xfrm>
            <a:off x="731520" y="1691640"/>
            <a:ext cx="3393338" cy="4389120"/>
          </a:xfrm>
          <a:prstGeom prst="roundRect">
            <a:avLst>
              <a:gd name="adj" fmla="val 2156"/>
            </a:avLst>
          </a:prstGeom>
          <a:solidFill>
            <a:srgbClr val="FFFFFF"/>
          </a:solidFill>
          <a:ln w="12700">
            <a:solidFill>
              <a:srgbClr val="CBD5E1"/>
            </a:solidFill>
            <a:prstDash val="solid"/>
          </a:ln>
        </p:spPr>
      </p:sp>
      <p:sp>
        <p:nvSpPr>
          <p:cNvPr id="9" name="Text 7"/>
          <p:cNvSpPr/>
          <p:nvPr/>
        </p:nvSpPr>
        <p:spPr>
          <a:xfrm>
            <a:off x="1005840" y="1920240"/>
            <a:ext cx="2844698" cy="256032"/>
          </a:xfrm>
          <a:prstGeom prst="rect">
            <a:avLst/>
          </a:prstGeom>
          <a:noFill/>
          <a:ln/>
        </p:spPr>
        <p:txBody>
          <a:bodyPr wrap="square" rtlCol="0" anchor="ctr"/>
          <a:lstStyle/>
          <a:p>
            <a:pPr marL="0" indent="0">
              <a:buNone/>
            </a:pPr>
            <a:r>
              <a:rPr lang="en-US" sz="1050" b="1" dirty="0">
                <a:solidFill>
                  <a:srgbClr val="DC2626"/>
                </a:solidFill>
                <a:latin typeface="Calibri" pitchFamily="34" charset="0"/>
                <a:ea typeface="Calibri" pitchFamily="34" charset="-122"/>
                <a:cs typeface="Calibri" pitchFamily="34" charset="-120"/>
              </a:rPr>
              <a:t>GAP 1: EVALUATION INTEGRITY</a:t>
            </a:r>
            <a:endParaRPr lang="en-US" sz="1050" dirty="0"/>
          </a:p>
        </p:txBody>
      </p:sp>
      <p:sp>
        <p:nvSpPr>
          <p:cNvPr id="10" name="Text 8"/>
          <p:cNvSpPr/>
          <p:nvPr/>
        </p:nvSpPr>
        <p:spPr>
          <a:xfrm>
            <a:off x="1005840" y="2212848"/>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Genomic Locus Leakage in Cross-Validation</a:t>
            </a:r>
            <a:endParaRPr lang="en-US" sz="1800" dirty="0"/>
          </a:p>
        </p:txBody>
      </p:sp>
      <p:sp>
        <p:nvSpPr>
          <p:cNvPr id="11" name="Shape 9"/>
          <p:cNvSpPr/>
          <p:nvPr/>
        </p:nvSpPr>
        <p:spPr>
          <a:xfrm>
            <a:off x="1005840" y="2880360"/>
            <a:ext cx="2844698" cy="0"/>
          </a:xfrm>
          <a:prstGeom prst="line">
            <a:avLst/>
          </a:prstGeom>
          <a:noFill/>
          <a:ln w="12700">
            <a:solidFill>
              <a:srgbClr val="CBD5E1"/>
            </a:solidFill>
            <a:prstDash val="solid"/>
          </a:ln>
        </p:spPr>
      </p:sp>
      <p:sp>
        <p:nvSpPr>
          <p:cNvPr id="12" name="Text 10"/>
          <p:cNvSpPr/>
          <p:nvPr/>
        </p:nvSpPr>
        <p:spPr>
          <a:xfrm>
            <a:off x="1005840" y="3063240"/>
            <a:ext cx="2844698" cy="2743200"/>
          </a:xfrm>
          <a:prstGeom prst="rect">
            <a:avLst/>
          </a:prstGeom>
          <a:noFill/>
          <a:ln/>
        </p:spPr>
        <p:txBody>
          <a:bodyPr wrap="square" lIns="0" tIns="0" rIns="0" bIns="0" rtlCol="0" anchor="ctr"/>
          <a:lstStyle/>
          <a:p>
            <a:pPr marL="0" indent="0">
              <a:lnSpc>
                <a:spcPct val="125000"/>
              </a:lnSpc>
              <a:buNone/>
            </a:pPr>
            <a:r>
              <a:rPr lang="en-US" sz="1300" dirty="0">
                <a:solidFill>
                  <a:srgbClr val="334155"/>
                </a:solidFill>
                <a:latin typeface="Calibri" pitchFamily="34" charset="0"/>
                <a:ea typeface="Calibri" pitchFamily="34" charset="-122"/>
                <a:cs typeface="Calibri" pitchFamily="34" charset="-120"/>
              </a:rPr>
              <a:t>Most published genomic AI models evaluate performance using standard random splits. Because structural variants frequently cluster around recombination hotspots and shared genes, variants from the same locus appear in both training and test sets. This causes severe data leakage and artificially inflated performance estimates.</a:t>
            </a:r>
            <a:endParaRPr lang="en-US" sz="1300" dirty="0"/>
          </a:p>
        </p:txBody>
      </p:sp>
      <p:sp>
        <p:nvSpPr>
          <p:cNvPr id="13" name="Shape 11"/>
          <p:cNvSpPr/>
          <p:nvPr/>
        </p:nvSpPr>
        <p:spPr>
          <a:xfrm>
            <a:off x="4399178" y="1691640"/>
            <a:ext cx="3393338" cy="4389120"/>
          </a:xfrm>
          <a:prstGeom prst="roundRect">
            <a:avLst>
              <a:gd name="adj" fmla="val 2156"/>
            </a:avLst>
          </a:prstGeom>
          <a:solidFill>
            <a:srgbClr val="FFFFFF"/>
          </a:solidFill>
          <a:ln w="12700">
            <a:solidFill>
              <a:srgbClr val="CBD5E1"/>
            </a:solidFill>
            <a:prstDash val="solid"/>
          </a:ln>
        </p:spPr>
      </p:sp>
      <p:sp>
        <p:nvSpPr>
          <p:cNvPr id="14" name="Text 12"/>
          <p:cNvSpPr/>
          <p:nvPr/>
        </p:nvSpPr>
        <p:spPr>
          <a:xfrm>
            <a:off x="4673498" y="1920240"/>
            <a:ext cx="2844698" cy="256032"/>
          </a:xfrm>
          <a:prstGeom prst="rect">
            <a:avLst/>
          </a:prstGeom>
          <a:noFill/>
          <a:ln/>
        </p:spPr>
        <p:txBody>
          <a:bodyPr wrap="square" rtlCol="0" anchor="ctr"/>
          <a:lstStyle/>
          <a:p>
            <a:pPr marL="0" indent="0">
              <a:buNone/>
            </a:pPr>
            <a:r>
              <a:rPr lang="en-US" sz="1050" b="1" dirty="0">
                <a:solidFill>
                  <a:srgbClr val="7C3AED"/>
                </a:solidFill>
                <a:latin typeface="Calibri" pitchFamily="34" charset="0"/>
                <a:ea typeface="Calibri" pitchFamily="34" charset="-122"/>
                <a:cs typeface="Calibri" pitchFamily="34" charset="-120"/>
              </a:rPr>
              <a:t>GAP 2: REPRESENTATION RIGIDITY</a:t>
            </a:r>
            <a:endParaRPr lang="en-US" sz="1050" dirty="0"/>
          </a:p>
        </p:txBody>
      </p:sp>
      <p:sp>
        <p:nvSpPr>
          <p:cNvPr id="15" name="Text 13"/>
          <p:cNvSpPr/>
          <p:nvPr/>
        </p:nvSpPr>
        <p:spPr>
          <a:xfrm>
            <a:off x="4673498" y="2212848"/>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Tree Step-Function Discretization</a:t>
            </a:r>
            <a:endParaRPr lang="en-US" sz="1800" dirty="0"/>
          </a:p>
        </p:txBody>
      </p:sp>
      <p:sp>
        <p:nvSpPr>
          <p:cNvPr id="16" name="Shape 14"/>
          <p:cNvSpPr/>
          <p:nvPr/>
        </p:nvSpPr>
        <p:spPr>
          <a:xfrm>
            <a:off x="4673498" y="2880360"/>
            <a:ext cx="2844698" cy="0"/>
          </a:xfrm>
          <a:prstGeom prst="line">
            <a:avLst/>
          </a:prstGeom>
          <a:noFill/>
          <a:ln w="12700">
            <a:solidFill>
              <a:srgbClr val="CBD5E1"/>
            </a:solidFill>
            <a:prstDash val="solid"/>
          </a:ln>
        </p:spPr>
      </p:sp>
      <p:sp>
        <p:nvSpPr>
          <p:cNvPr id="17" name="Text 15"/>
          <p:cNvSpPr/>
          <p:nvPr/>
        </p:nvSpPr>
        <p:spPr>
          <a:xfrm>
            <a:off x="4673498" y="3063240"/>
            <a:ext cx="2844698" cy="2743200"/>
          </a:xfrm>
          <a:prstGeom prst="rect">
            <a:avLst/>
          </a:prstGeom>
          <a:noFill/>
          <a:ln/>
        </p:spPr>
        <p:txBody>
          <a:bodyPr wrap="square" lIns="0" tIns="0" rIns="0" bIns="0" rtlCol="0" anchor="ctr"/>
          <a:lstStyle/>
          <a:p>
            <a:pPr marL="0" indent="0">
              <a:lnSpc>
                <a:spcPct val="125000"/>
              </a:lnSpc>
              <a:buNone/>
            </a:pPr>
            <a:r>
              <a:rPr lang="en-US" sz="1300" dirty="0">
                <a:solidFill>
                  <a:srgbClr val="334155"/>
                </a:solidFill>
                <a:latin typeface="Calibri" pitchFamily="34" charset="0"/>
                <a:ea typeface="Calibri" pitchFamily="34" charset="-122"/>
                <a:cs typeface="Calibri" pitchFamily="34" charset="-120"/>
              </a:rPr>
              <a:t>Popular gradient boosted trees (XGBoost, LightGBM) split continuous features using axis-aligned orthogonal boundaries. However, population allele frequencies follow continuous exponential decays under purifying selection. Decision trees fail to smoothly represent these manifolds, resulting in elevated false negative rates.</a:t>
            </a:r>
            <a:endParaRPr lang="en-US" sz="1300" dirty="0"/>
          </a:p>
        </p:txBody>
      </p:sp>
      <p:sp>
        <p:nvSpPr>
          <p:cNvPr id="18" name="Shape 16"/>
          <p:cNvSpPr/>
          <p:nvPr/>
        </p:nvSpPr>
        <p:spPr>
          <a:xfrm>
            <a:off x="8066837" y="1691640"/>
            <a:ext cx="3393338" cy="4389120"/>
          </a:xfrm>
          <a:prstGeom prst="roundRect">
            <a:avLst>
              <a:gd name="adj" fmla="val 2156"/>
            </a:avLst>
          </a:prstGeom>
          <a:solidFill>
            <a:srgbClr val="FFFFFF"/>
          </a:solidFill>
          <a:ln w="12700">
            <a:solidFill>
              <a:srgbClr val="CBD5E1"/>
            </a:solidFill>
            <a:prstDash val="solid"/>
          </a:ln>
        </p:spPr>
      </p:sp>
      <p:sp>
        <p:nvSpPr>
          <p:cNvPr id="19" name="Text 17"/>
          <p:cNvSpPr/>
          <p:nvPr/>
        </p:nvSpPr>
        <p:spPr>
          <a:xfrm>
            <a:off x="8341157" y="1920240"/>
            <a:ext cx="2844698" cy="256032"/>
          </a:xfrm>
          <a:prstGeom prst="rect">
            <a:avLst/>
          </a:prstGeom>
          <a:noFill/>
          <a:ln/>
        </p:spPr>
        <p:txBody>
          <a:bodyPr wrap="square" rtlCol="0" anchor="ctr"/>
          <a:lstStyle/>
          <a:p>
            <a:pPr marL="0" indent="0">
              <a:buNone/>
            </a:pPr>
            <a:r>
              <a:rPr lang="en-US" sz="1050" b="1" dirty="0">
                <a:solidFill>
                  <a:srgbClr val="2563EB"/>
                </a:solidFill>
                <a:latin typeface="Calibri" pitchFamily="34" charset="0"/>
                <a:ea typeface="Calibri" pitchFamily="34" charset="-122"/>
                <a:cs typeface="Calibri" pitchFamily="34" charset="-120"/>
              </a:rPr>
              <a:t>GAP 3: CLINICAL UNCERTAINTY</a:t>
            </a:r>
            <a:endParaRPr lang="en-US" sz="1050" dirty="0"/>
          </a:p>
        </p:txBody>
      </p:sp>
      <p:sp>
        <p:nvSpPr>
          <p:cNvPr id="20" name="Text 18"/>
          <p:cNvSpPr/>
          <p:nvPr/>
        </p:nvSpPr>
        <p:spPr>
          <a:xfrm>
            <a:off x="8341157" y="2212848"/>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Lack of Certified Risk Guarantees</a:t>
            </a:r>
            <a:endParaRPr lang="en-US" sz="1800" dirty="0"/>
          </a:p>
        </p:txBody>
      </p:sp>
      <p:sp>
        <p:nvSpPr>
          <p:cNvPr id="21" name="Shape 19"/>
          <p:cNvSpPr/>
          <p:nvPr/>
        </p:nvSpPr>
        <p:spPr>
          <a:xfrm>
            <a:off x="8341157" y="2880360"/>
            <a:ext cx="2844698" cy="0"/>
          </a:xfrm>
          <a:prstGeom prst="line">
            <a:avLst/>
          </a:prstGeom>
          <a:noFill/>
          <a:ln w="12700">
            <a:solidFill>
              <a:srgbClr val="CBD5E1"/>
            </a:solidFill>
            <a:prstDash val="solid"/>
          </a:ln>
        </p:spPr>
      </p:sp>
      <p:sp>
        <p:nvSpPr>
          <p:cNvPr id="22" name="Text 20"/>
          <p:cNvSpPr/>
          <p:nvPr/>
        </p:nvSpPr>
        <p:spPr>
          <a:xfrm>
            <a:off x="8341157" y="3063240"/>
            <a:ext cx="2844698" cy="2743200"/>
          </a:xfrm>
          <a:prstGeom prst="rect">
            <a:avLst/>
          </a:prstGeom>
          <a:noFill/>
          <a:ln/>
        </p:spPr>
        <p:txBody>
          <a:bodyPr wrap="square" lIns="0" tIns="0" rIns="0" bIns="0" rtlCol="0" anchor="ctr"/>
          <a:lstStyle/>
          <a:p>
            <a:pPr marL="0" indent="0">
              <a:lnSpc>
                <a:spcPct val="125000"/>
              </a:lnSpc>
              <a:buNone/>
            </a:pPr>
            <a:r>
              <a:rPr lang="en-US" sz="1300" dirty="0">
                <a:solidFill>
                  <a:srgbClr val="334155"/>
                </a:solidFill>
                <a:latin typeface="Calibri" pitchFamily="34" charset="0"/>
                <a:ea typeface="Calibri" pitchFamily="34" charset="-122"/>
                <a:cs typeface="Calibri" pitchFamily="34" charset="-120"/>
              </a:rPr>
              <a:t>Existing algorithms output point probability estimates and apply subjective classification thresholds (e.g. tau = 0.50). In clinical genetics, subjective thresholds fail to distinguish between well-calibrated confidence and epistemic uncertainty, lacking distribution-free mathematical coverage guarantees.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PROJECT SCOPE</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Aim, Objectives and Contributions</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Formal project scope, methodology objectives, and achieved scientific contributions</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7 of 24</a:t>
            </a:r>
            <a:endParaRPr lang="en-US" sz="1100" dirty="0"/>
          </a:p>
        </p:txBody>
      </p:sp>
      <p:sp>
        <p:nvSpPr>
          <p:cNvPr id="8" name="Shape 6"/>
          <p:cNvSpPr/>
          <p:nvPr/>
        </p:nvSpPr>
        <p:spPr>
          <a:xfrm>
            <a:off x="731520" y="1691640"/>
            <a:ext cx="5166360" cy="4389120"/>
          </a:xfrm>
          <a:prstGeom prst="roundRect">
            <a:avLst>
              <a:gd name="adj" fmla="val 1667"/>
            </a:avLst>
          </a:prstGeom>
          <a:solidFill>
            <a:srgbClr val="FFFFFF"/>
          </a:solidFill>
          <a:ln w="12700">
            <a:solidFill>
              <a:srgbClr val="CBD5E1"/>
            </a:solidFill>
            <a:prstDash val="solid"/>
          </a:ln>
        </p:spPr>
      </p:sp>
      <p:sp>
        <p:nvSpPr>
          <p:cNvPr id="9" name="Text 7"/>
          <p:cNvSpPr/>
          <p:nvPr/>
        </p:nvSpPr>
        <p:spPr>
          <a:xfrm>
            <a:off x="1005840" y="1920240"/>
            <a:ext cx="4617720" cy="256032"/>
          </a:xfrm>
          <a:prstGeom prst="rect">
            <a:avLst/>
          </a:prstGeom>
          <a:noFill/>
          <a:ln/>
        </p:spPr>
        <p:txBody>
          <a:bodyPr wrap="square" rtlCol="0" anchor="ctr"/>
          <a:lstStyle/>
          <a:p>
            <a:pPr marL="0" indent="0">
              <a:buNone/>
            </a:pPr>
            <a:r>
              <a:rPr lang="en-US" sz="1150" b="1" dirty="0">
                <a:solidFill>
                  <a:srgbClr val="2563EB"/>
                </a:solidFill>
                <a:latin typeface="Calibri" pitchFamily="34" charset="0"/>
                <a:ea typeface="Calibri" pitchFamily="34" charset="-122"/>
                <a:cs typeface="Calibri" pitchFamily="34" charset="-120"/>
              </a:rPr>
              <a:t>PRIMARY AIM &amp; OBJECTIVES</a:t>
            </a:r>
            <a:endParaRPr lang="en-US" sz="1150" dirty="0"/>
          </a:p>
        </p:txBody>
      </p:sp>
      <p:sp>
        <p:nvSpPr>
          <p:cNvPr id="10" name="Text 8"/>
          <p:cNvSpPr/>
          <p:nvPr/>
        </p:nvSpPr>
        <p:spPr>
          <a:xfrm>
            <a:off x="1005840" y="2194560"/>
            <a:ext cx="4617720" cy="3657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Engineering Objectives</a:t>
            </a:r>
            <a:endParaRPr lang="en-US" sz="1800" dirty="0"/>
          </a:p>
        </p:txBody>
      </p:sp>
      <p:sp>
        <p:nvSpPr>
          <p:cNvPr id="11" name="Shape 9"/>
          <p:cNvSpPr/>
          <p:nvPr/>
        </p:nvSpPr>
        <p:spPr>
          <a:xfrm>
            <a:off x="1005840" y="2606040"/>
            <a:ext cx="4617720" cy="0"/>
          </a:xfrm>
          <a:prstGeom prst="line">
            <a:avLst/>
          </a:prstGeom>
          <a:noFill/>
          <a:ln w="12700">
            <a:solidFill>
              <a:srgbClr val="CBD5E1"/>
            </a:solidFill>
            <a:prstDash val="solid"/>
          </a:ln>
        </p:spPr>
      </p:sp>
      <p:sp>
        <p:nvSpPr>
          <p:cNvPr id="12" name="Text 10"/>
          <p:cNvSpPr/>
          <p:nvPr/>
        </p:nvSpPr>
        <p:spPr>
          <a:xfrm>
            <a:off x="1005840" y="2788920"/>
            <a:ext cx="4617720" cy="30632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Harmonize multi-source genomic databases (ClinVar, gnomAD SV, 1000G) via 50% reciprocal overlap.</a:t>
            </a:r>
            <a:endParaRPr lang="en-US" sz="1250" dirty="0"/>
          </a:p>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Formulate a 24-dimensional non-leaking feature vector with strict chromosomal disjoint holdouts.</a:t>
            </a:r>
            <a:endParaRPr lang="en-US" sz="1250" dirty="0"/>
          </a:p>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Architect Deep Tabular ResNet and Multimodal Sequence-Epigenetics neural networks.</a:t>
            </a:r>
            <a:endParaRPr lang="en-US" sz="1250" dirty="0"/>
          </a:p>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Deploy Split Conformal Prediction (95% certified coverage) and TreeSHAP explainability in a production CLI tool.</a:t>
            </a:r>
            <a:endParaRPr lang="en-US" sz="1250" dirty="0"/>
          </a:p>
        </p:txBody>
      </p:sp>
      <p:sp>
        <p:nvSpPr>
          <p:cNvPr id="13" name="Shape 11"/>
          <p:cNvSpPr/>
          <p:nvPr/>
        </p:nvSpPr>
        <p:spPr>
          <a:xfrm>
            <a:off x="6293815" y="1691640"/>
            <a:ext cx="5166360" cy="4389120"/>
          </a:xfrm>
          <a:prstGeom prst="roundRect">
            <a:avLst>
              <a:gd name="adj" fmla="val 1667"/>
            </a:avLst>
          </a:prstGeom>
          <a:solidFill>
            <a:srgbClr val="FFFFFF"/>
          </a:solidFill>
          <a:ln w="12700">
            <a:solidFill>
              <a:srgbClr val="CBD5E1"/>
            </a:solidFill>
            <a:prstDash val="solid"/>
          </a:ln>
        </p:spPr>
      </p:sp>
      <p:sp>
        <p:nvSpPr>
          <p:cNvPr id="14" name="Text 12"/>
          <p:cNvSpPr/>
          <p:nvPr/>
        </p:nvSpPr>
        <p:spPr>
          <a:xfrm>
            <a:off x="6568135" y="1920240"/>
            <a:ext cx="4617720" cy="256032"/>
          </a:xfrm>
          <a:prstGeom prst="rect">
            <a:avLst/>
          </a:prstGeom>
          <a:noFill/>
          <a:ln/>
        </p:spPr>
        <p:txBody>
          <a:bodyPr wrap="square" rtlCol="0" anchor="ctr"/>
          <a:lstStyle/>
          <a:p>
            <a:pPr marL="0" indent="0">
              <a:buNone/>
            </a:pPr>
            <a:r>
              <a:rPr lang="en-US" sz="1150" b="1" dirty="0">
                <a:solidFill>
                  <a:srgbClr val="059669"/>
                </a:solidFill>
                <a:latin typeface="Calibri" pitchFamily="34" charset="0"/>
                <a:ea typeface="Calibri" pitchFamily="34" charset="-122"/>
                <a:cs typeface="Calibri" pitchFamily="34" charset="-120"/>
              </a:rPr>
              <a:t>KEY SCIENTIFIC CONTRIBUTIONS</a:t>
            </a:r>
            <a:endParaRPr lang="en-US" sz="1150" dirty="0"/>
          </a:p>
        </p:txBody>
      </p:sp>
      <p:sp>
        <p:nvSpPr>
          <p:cNvPr id="15" name="Text 13"/>
          <p:cNvSpPr/>
          <p:nvPr/>
        </p:nvSpPr>
        <p:spPr>
          <a:xfrm>
            <a:off x="6568135" y="2194560"/>
            <a:ext cx="4617720" cy="3657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Demonstrated Outcomes</a:t>
            </a:r>
            <a:endParaRPr lang="en-US" sz="1800" dirty="0"/>
          </a:p>
        </p:txBody>
      </p:sp>
      <p:sp>
        <p:nvSpPr>
          <p:cNvPr id="16" name="Shape 14"/>
          <p:cNvSpPr/>
          <p:nvPr/>
        </p:nvSpPr>
        <p:spPr>
          <a:xfrm>
            <a:off x="6568135" y="2606040"/>
            <a:ext cx="4617720" cy="0"/>
          </a:xfrm>
          <a:prstGeom prst="line">
            <a:avLst/>
          </a:prstGeom>
          <a:noFill/>
          <a:ln w="12700">
            <a:solidFill>
              <a:srgbClr val="CBD5E1"/>
            </a:solidFill>
            <a:prstDash val="solid"/>
          </a:ln>
        </p:spPr>
      </p:sp>
      <p:sp>
        <p:nvSpPr>
          <p:cNvPr id="17" name="Text 15"/>
          <p:cNvSpPr/>
          <p:nvPr/>
        </p:nvSpPr>
        <p:spPr>
          <a:xfrm>
            <a:off x="6568135" y="2788920"/>
            <a:ext cx="4617720" cy="30632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Eliminated Genomic Leakage: Enforced 0.0% locus overlap via Chr 19–22, X, Y disjoint testing.</a:t>
            </a:r>
            <a:endParaRPr lang="en-US" sz="1250" dirty="0"/>
          </a:p>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Benchmark Superiority: Peak 0.9705 PR-AUC and 94.4% clinical sensitivity on unseen chromosomes.</a:t>
            </a:r>
            <a:endParaRPr lang="en-US" sz="1250" dirty="0"/>
          </a:p>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Drastic False Negative Reduction: Slashed missed pathogenic variants from 1,745 down to 414 (&gt;60% reduction).</a:t>
            </a:r>
            <a:endParaRPr lang="en-US" sz="1250" dirty="0"/>
          </a:p>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Clinical Backlog Triage: Resolved 48.8% of 34,466 ClinVar VUS into actionable risk tiers.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Proposed System Architecture</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Modular end-to-end framework translating patient sequencing data into actionable clinical intelligence</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8 of 24</a:t>
            </a:r>
            <a:endParaRPr lang="en-US" sz="1100" dirty="0"/>
          </a:p>
        </p:txBody>
      </p:sp>
      <p:sp>
        <p:nvSpPr>
          <p:cNvPr id="8" name="Shape 6"/>
          <p:cNvSpPr/>
          <p:nvPr/>
        </p:nvSpPr>
        <p:spPr>
          <a:xfrm>
            <a:off x="731520" y="1691640"/>
            <a:ext cx="2476424" cy="4389120"/>
          </a:xfrm>
          <a:prstGeom prst="roundRect">
            <a:avLst>
              <a:gd name="adj" fmla="val 2954"/>
            </a:avLst>
          </a:prstGeom>
          <a:solidFill>
            <a:srgbClr val="FFFFFF"/>
          </a:solidFill>
          <a:ln w="12700">
            <a:solidFill>
              <a:srgbClr val="CBD5E1"/>
            </a:solidFill>
            <a:prstDash val="solid"/>
          </a:ln>
        </p:spPr>
      </p:sp>
      <p:sp>
        <p:nvSpPr>
          <p:cNvPr id="9" name="Shape 7"/>
          <p:cNvSpPr/>
          <p:nvPr/>
        </p:nvSpPr>
        <p:spPr>
          <a:xfrm>
            <a:off x="960120" y="1920240"/>
            <a:ext cx="640080" cy="365760"/>
          </a:xfrm>
          <a:prstGeom prst="roundRect">
            <a:avLst>
              <a:gd name="adj" fmla="val 15000"/>
            </a:avLst>
          </a:prstGeom>
          <a:solidFill>
            <a:srgbClr val="EFF6FF"/>
          </a:solidFill>
          <a:ln w="12700">
            <a:solidFill>
              <a:srgbClr val="2563EB"/>
            </a:solidFill>
            <a:prstDash val="solid"/>
          </a:ln>
        </p:spPr>
      </p:sp>
      <p:sp>
        <p:nvSpPr>
          <p:cNvPr id="10" name="Text 8"/>
          <p:cNvSpPr/>
          <p:nvPr/>
        </p:nvSpPr>
        <p:spPr>
          <a:xfrm>
            <a:off x="960120" y="1920240"/>
            <a:ext cx="640080" cy="365760"/>
          </a:xfrm>
          <a:prstGeom prst="rect">
            <a:avLst/>
          </a:prstGeom>
          <a:noFill/>
          <a:ln/>
        </p:spPr>
        <p:txBody>
          <a:bodyPr wrap="square" lIns="0" tIns="0" rIns="0" bIns="0" rtlCol="0" anchor="ctr"/>
          <a:lstStyle/>
          <a:p>
            <a:pPr marL="0" indent="0" algn="ctr">
              <a:buNone/>
            </a:pPr>
            <a:r>
              <a:rPr lang="en-US" sz="1400" b="1" dirty="0">
                <a:solidFill>
                  <a:srgbClr val="2563EB"/>
                </a:solidFill>
                <a:latin typeface="Calibri" pitchFamily="34" charset="0"/>
                <a:ea typeface="Calibri" pitchFamily="34" charset="-122"/>
                <a:cs typeface="Calibri" pitchFamily="34" charset="-120"/>
              </a:rPr>
              <a:t>01</a:t>
            </a:r>
            <a:endParaRPr lang="en-US" sz="1400" dirty="0"/>
          </a:p>
        </p:txBody>
      </p:sp>
      <p:sp>
        <p:nvSpPr>
          <p:cNvPr id="11" name="Text 9"/>
          <p:cNvSpPr/>
          <p:nvPr/>
        </p:nvSpPr>
        <p:spPr>
          <a:xfrm>
            <a:off x="960120" y="2423160"/>
            <a:ext cx="2019224"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Data Ingestion</a:t>
            </a:r>
            <a:endParaRPr lang="en-US" sz="1700" dirty="0"/>
          </a:p>
        </p:txBody>
      </p:sp>
      <p:sp>
        <p:nvSpPr>
          <p:cNvPr id="12" name="Text 10"/>
          <p:cNvSpPr/>
          <p:nvPr/>
        </p:nvSpPr>
        <p:spPr>
          <a:xfrm>
            <a:off x="960120" y="2788920"/>
            <a:ext cx="2019224" cy="256032"/>
          </a:xfrm>
          <a:prstGeom prst="rect">
            <a:avLst/>
          </a:prstGeom>
          <a:noFill/>
          <a:ln/>
        </p:spPr>
        <p:txBody>
          <a:bodyPr wrap="square" lIns="0" tIns="0" rIns="0" bIns="0" rtlCol="0" anchor="ctr"/>
          <a:lstStyle/>
          <a:p>
            <a:pPr marL="0" indent="0">
              <a:buNone/>
            </a:pPr>
            <a:r>
              <a:rPr lang="en-US" sz="1200" b="1" dirty="0">
                <a:solidFill>
                  <a:srgbClr val="64748B"/>
                </a:solidFill>
                <a:latin typeface="Calibri" pitchFamily="34" charset="0"/>
                <a:ea typeface="Calibri" pitchFamily="34" charset="-122"/>
                <a:cs typeface="Calibri" pitchFamily="34" charset="-120"/>
              </a:rPr>
              <a:t>Multi-Source Integration</a:t>
            </a:r>
            <a:endParaRPr lang="en-US" sz="1200" dirty="0"/>
          </a:p>
        </p:txBody>
      </p:sp>
      <p:sp>
        <p:nvSpPr>
          <p:cNvPr id="13" name="Shape 11"/>
          <p:cNvSpPr/>
          <p:nvPr/>
        </p:nvSpPr>
        <p:spPr>
          <a:xfrm>
            <a:off x="960120" y="3127248"/>
            <a:ext cx="2019224" cy="0"/>
          </a:xfrm>
          <a:prstGeom prst="line">
            <a:avLst/>
          </a:prstGeom>
          <a:noFill/>
          <a:ln w="12700">
            <a:solidFill>
              <a:srgbClr val="CBD5E1"/>
            </a:solidFill>
            <a:prstDash val="solid"/>
          </a:ln>
        </p:spPr>
      </p:sp>
      <p:sp>
        <p:nvSpPr>
          <p:cNvPr id="14" name="Text 12"/>
          <p:cNvSpPr/>
          <p:nvPr/>
        </p:nvSpPr>
        <p:spPr>
          <a:xfrm>
            <a:off x="960120" y="3291840"/>
            <a:ext cx="2019224" cy="26060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Parse Sniffles2/cuteSV long-read VCFs</a:t>
            </a:r>
            <a:endParaRPr lang="en-US" sz="1250" dirty="0"/>
          </a:p>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Filter high-confidence SVs (&gt;= 50 bp)</a:t>
            </a:r>
            <a:endParaRPr lang="en-US" sz="1250" dirty="0"/>
          </a:p>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50% reciprocal coordinate overlap</a:t>
            </a:r>
            <a:endParaRPr lang="en-US" sz="1250" dirty="0"/>
          </a:p>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Ingest ClinVar &amp; gnomAD SV catalogs</a:t>
            </a:r>
            <a:endParaRPr lang="en-US" sz="1250" dirty="0"/>
          </a:p>
        </p:txBody>
      </p:sp>
      <p:sp>
        <p:nvSpPr>
          <p:cNvPr id="15" name="Shape 13"/>
          <p:cNvSpPr/>
          <p:nvPr/>
        </p:nvSpPr>
        <p:spPr>
          <a:xfrm>
            <a:off x="3482264" y="1691640"/>
            <a:ext cx="2476424" cy="4389120"/>
          </a:xfrm>
          <a:prstGeom prst="roundRect">
            <a:avLst>
              <a:gd name="adj" fmla="val 2954"/>
            </a:avLst>
          </a:prstGeom>
          <a:solidFill>
            <a:srgbClr val="FFFFFF"/>
          </a:solidFill>
          <a:ln w="12700">
            <a:solidFill>
              <a:srgbClr val="CBD5E1"/>
            </a:solidFill>
            <a:prstDash val="solid"/>
          </a:ln>
        </p:spPr>
      </p:sp>
      <p:sp>
        <p:nvSpPr>
          <p:cNvPr id="16" name="Shape 14"/>
          <p:cNvSpPr/>
          <p:nvPr/>
        </p:nvSpPr>
        <p:spPr>
          <a:xfrm>
            <a:off x="3710864" y="1920240"/>
            <a:ext cx="640080" cy="365760"/>
          </a:xfrm>
          <a:prstGeom prst="roundRect">
            <a:avLst>
              <a:gd name="adj" fmla="val 15000"/>
            </a:avLst>
          </a:prstGeom>
          <a:solidFill>
            <a:srgbClr val="F1F5F9"/>
          </a:solidFill>
          <a:ln w="12700">
            <a:solidFill>
              <a:srgbClr val="0F172A"/>
            </a:solidFill>
            <a:prstDash val="solid"/>
          </a:ln>
        </p:spPr>
      </p:sp>
      <p:sp>
        <p:nvSpPr>
          <p:cNvPr id="17" name="Text 15"/>
          <p:cNvSpPr/>
          <p:nvPr/>
        </p:nvSpPr>
        <p:spPr>
          <a:xfrm>
            <a:off x="3710864" y="1920240"/>
            <a:ext cx="640080" cy="365760"/>
          </a:xfrm>
          <a:prstGeom prst="rect">
            <a:avLst/>
          </a:prstGeom>
          <a:noFill/>
          <a:ln/>
        </p:spPr>
        <p:txBody>
          <a:bodyPr wrap="square" lIns="0" tIns="0" rIns="0" bIns="0" rtlCol="0" anchor="ctr"/>
          <a:lstStyle/>
          <a:p>
            <a:pPr marL="0" indent="0" algn="ctr">
              <a:buNone/>
            </a:pPr>
            <a:r>
              <a:rPr lang="en-US" sz="1400" b="1" dirty="0">
                <a:solidFill>
                  <a:srgbClr val="0F172A"/>
                </a:solidFill>
                <a:latin typeface="Calibri" pitchFamily="34" charset="0"/>
                <a:ea typeface="Calibri" pitchFamily="34" charset="-122"/>
                <a:cs typeface="Calibri" pitchFamily="34" charset="-120"/>
              </a:rPr>
              <a:t>02</a:t>
            </a:r>
            <a:endParaRPr lang="en-US" sz="1400" dirty="0"/>
          </a:p>
        </p:txBody>
      </p:sp>
      <p:sp>
        <p:nvSpPr>
          <p:cNvPr id="18" name="Text 16"/>
          <p:cNvSpPr/>
          <p:nvPr/>
        </p:nvSpPr>
        <p:spPr>
          <a:xfrm>
            <a:off x="3710864" y="2423160"/>
            <a:ext cx="2019224"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Feature Vector</a:t>
            </a:r>
            <a:endParaRPr lang="en-US" sz="1700" dirty="0"/>
          </a:p>
        </p:txBody>
      </p:sp>
      <p:sp>
        <p:nvSpPr>
          <p:cNvPr id="19" name="Text 17"/>
          <p:cNvSpPr/>
          <p:nvPr/>
        </p:nvSpPr>
        <p:spPr>
          <a:xfrm>
            <a:off x="3710864" y="2788920"/>
            <a:ext cx="2019224" cy="256032"/>
          </a:xfrm>
          <a:prstGeom prst="rect">
            <a:avLst/>
          </a:prstGeom>
          <a:noFill/>
          <a:ln/>
        </p:spPr>
        <p:txBody>
          <a:bodyPr wrap="square" lIns="0" tIns="0" rIns="0" bIns="0" rtlCol="0" anchor="ctr"/>
          <a:lstStyle/>
          <a:p>
            <a:pPr marL="0" indent="0">
              <a:buNone/>
            </a:pPr>
            <a:r>
              <a:rPr lang="en-US" sz="1200" b="1" dirty="0">
                <a:solidFill>
                  <a:srgbClr val="64748B"/>
                </a:solidFill>
                <a:latin typeface="Calibri" pitchFamily="34" charset="0"/>
                <a:ea typeface="Calibri" pitchFamily="34" charset="-122"/>
                <a:cs typeface="Calibri" pitchFamily="34" charset="-120"/>
              </a:rPr>
              <a:t>Zero-Leakage Engineering</a:t>
            </a:r>
            <a:endParaRPr lang="en-US" sz="1200" dirty="0"/>
          </a:p>
        </p:txBody>
      </p:sp>
      <p:sp>
        <p:nvSpPr>
          <p:cNvPr id="20" name="Shape 18"/>
          <p:cNvSpPr/>
          <p:nvPr/>
        </p:nvSpPr>
        <p:spPr>
          <a:xfrm>
            <a:off x="3710864" y="3127248"/>
            <a:ext cx="2019224" cy="0"/>
          </a:xfrm>
          <a:prstGeom prst="line">
            <a:avLst/>
          </a:prstGeom>
          <a:noFill/>
          <a:ln w="12700">
            <a:solidFill>
              <a:srgbClr val="CBD5E1"/>
            </a:solidFill>
            <a:prstDash val="solid"/>
          </a:ln>
        </p:spPr>
      </p:sp>
      <p:sp>
        <p:nvSpPr>
          <p:cNvPr id="21" name="Text 19"/>
          <p:cNvSpPr/>
          <p:nvPr/>
        </p:nvSpPr>
        <p:spPr>
          <a:xfrm>
            <a:off x="3710864" y="3291840"/>
            <a:ext cx="2019224" cy="26060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Compute 24 biological features</a:t>
            </a:r>
            <a:endParaRPr lang="en-US" sz="1250" dirty="0"/>
          </a:p>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gnomAD global AF &amp; 7 continental AFs</a:t>
            </a:r>
            <a:endParaRPr lang="en-US" sz="1250" dirty="0"/>
          </a:p>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pLI haploinsufficiency &amp; LOEUF scores</a:t>
            </a:r>
            <a:endParaRPr lang="en-US" sz="1250" dirty="0"/>
          </a:p>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Chromosomal disjoint holdout split</a:t>
            </a:r>
            <a:endParaRPr lang="en-US" sz="1250" dirty="0"/>
          </a:p>
        </p:txBody>
      </p:sp>
      <p:sp>
        <p:nvSpPr>
          <p:cNvPr id="22" name="Shape 20"/>
          <p:cNvSpPr/>
          <p:nvPr/>
        </p:nvSpPr>
        <p:spPr>
          <a:xfrm>
            <a:off x="6233008" y="1691640"/>
            <a:ext cx="2476424" cy="4389120"/>
          </a:xfrm>
          <a:prstGeom prst="roundRect">
            <a:avLst>
              <a:gd name="adj" fmla="val 2954"/>
            </a:avLst>
          </a:prstGeom>
          <a:solidFill>
            <a:srgbClr val="FFFFFF"/>
          </a:solidFill>
          <a:ln w="12700">
            <a:solidFill>
              <a:srgbClr val="CBD5E1"/>
            </a:solidFill>
            <a:prstDash val="solid"/>
          </a:ln>
        </p:spPr>
      </p:sp>
      <p:sp>
        <p:nvSpPr>
          <p:cNvPr id="23" name="Shape 21"/>
          <p:cNvSpPr/>
          <p:nvPr/>
        </p:nvSpPr>
        <p:spPr>
          <a:xfrm>
            <a:off x="6461608" y="1920240"/>
            <a:ext cx="640080" cy="365760"/>
          </a:xfrm>
          <a:prstGeom prst="roundRect">
            <a:avLst>
              <a:gd name="adj" fmla="val 15000"/>
            </a:avLst>
          </a:prstGeom>
          <a:solidFill>
            <a:srgbClr val="F5F3FF"/>
          </a:solidFill>
          <a:ln w="12700">
            <a:solidFill>
              <a:srgbClr val="7C3AED"/>
            </a:solidFill>
            <a:prstDash val="solid"/>
          </a:ln>
        </p:spPr>
      </p:sp>
      <p:sp>
        <p:nvSpPr>
          <p:cNvPr id="24" name="Text 22"/>
          <p:cNvSpPr/>
          <p:nvPr/>
        </p:nvSpPr>
        <p:spPr>
          <a:xfrm>
            <a:off x="6461608" y="1920240"/>
            <a:ext cx="640080" cy="365760"/>
          </a:xfrm>
          <a:prstGeom prst="rect">
            <a:avLst/>
          </a:prstGeom>
          <a:noFill/>
          <a:ln/>
        </p:spPr>
        <p:txBody>
          <a:bodyPr wrap="square" lIns="0" tIns="0" rIns="0" bIns="0" rtlCol="0" anchor="ctr"/>
          <a:lstStyle/>
          <a:p>
            <a:pPr marL="0" indent="0" algn="ctr">
              <a:buNone/>
            </a:pPr>
            <a:r>
              <a:rPr lang="en-US" sz="1400" b="1" dirty="0">
                <a:solidFill>
                  <a:srgbClr val="7C3AED"/>
                </a:solidFill>
                <a:latin typeface="Calibri" pitchFamily="34" charset="0"/>
                <a:ea typeface="Calibri" pitchFamily="34" charset="-122"/>
                <a:cs typeface="Calibri" pitchFamily="34" charset="-120"/>
              </a:rPr>
              <a:t>03</a:t>
            </a:r>
            <a:endParaRPr lang="en-US" sz="1400" dirty="0"/>
          </a:p>
        </p:txBody>
      </p:sp>
      <p:sp>
        <p:nvSpPr>
          <p:cNvPr id="25" name="Text 23"/>
          <p:cNvSpPr/>
          <p:nvPr/>
        </p:nvSpPr>
        <p:spPr>
          <a:xfrm>
            <a:off x="6461608" y="2423160"/>
            <a:ext cx="2019224"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Dual-Paradigm AI</a:t>
            </a:r>
            <a:endParaRPr lang="en-US" sz="1700" dirty="0"/>
          </a:p>
        </p:txBody>
      </p:sp>
      <p:sp>
        <p:nvSpPr>
          <p:cNvPr id="26" name="Text 24"/>
          <p:cNvSpPr/>
          <p:nvPr/>
        </p:nvSpPr>
        <p:spPr>
          <a:xfrm>
            <a:off x="6461608" y="2788920"/>
            <a:ext cx="2019224" cy="256032"/>
          </a:xfrm>
          <a:prstGeom prst="rect">
            <a:avLst/>
          </a:prstGeom>
          <a:noFill/>
          <a:ln/>
        </p:spPr>
        <p:txBody>
          <a:bodyPr wrap="square" lIns="0" tIns="0" rIns="0" bIns="0" rtlCol="0" anchor="ctr"/>
          <a:lstStyle/>
          <a:p>
            <a:pPr marL="0" indent="0">
              <a:buNone/>
            </a:pPr>
            <a:r>
              <a:rPr lang="en-US" sz="1200" b="1" dirty="0">
                <a:solidFill>
                  <a:srgbClr val="64748B"/>
                </a:solidFill>
                <a:latin typeface="Calibri" pitchFamily="34" charset="0"/>
                <a:ea typeface="Calibri" pitchFamily="34" charset="-122"/>
                <a:cs typeface="Calibri" pitchFamily="34" charset="-120"/>
              </a:rPr>
              <a:t>DL &amp; Multimodal Inference</a:t>
            </a:r>
            <a:endParaRPr lang="en-US" sz="1200" dirty="0"/>
          </a:p>
        </p:txBody>
      </p:sp>
      <p:sp>
        <p:nvSpPr>
          <p:cNvPr id="27" name="Shape 25"/>
          <p:cNvSpPr/>
          <p:nvPr/>
        </p:nvSpPr>
        <p:spPr>
          <a:xfrm>
            <a:off x="6461608" y="3127248"/>
            <a:ext cx="2019224" cy="0"/>
          </a:xfrm>
          <a:prstGeom prst="line">
            <a:avLst/>
          </a:prstGeom>
          <a:noFill/>
          <a:ln w="12700">
            <a:solidFill>
              <a:srgbClr val="CBD5E1"/>
            </a:solidFill>
            <a:prstDash val="solid"/>
          </a:ln>
        </p:spPr>
      </p:sp>
      <p:sp>
        <p:nvSpPr>
          <p:cNvPr id="28" name="Text 26"/>
          <p:cNvSpPr/>
          <p:nvPr/>
        </p:nvSpPr>
        <p:spPr>
          <a:xfrm>
            <a:off x="6461608" y="3291840"/>
            <a:ext cx="2019224" cy="26060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PyTorch Tabular ResNet (skip connects)</a:t>
            </a:r>
            <a:endParaRPr lang="en-US" sz="1250" dirty="0"/>
          </a:p>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Multimodal Net (DNA seq + 5mC)</a:t>
            </a:r>
            <a:endParaRPr lang="en-US" sz="1250" dirty="0"/>
          </a:p>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Outputs continuous calibrated index</a:t>
            </a:r>
            <a:endParaRPr lang="en-US" sz="1250" dirty="0"/>
          </a:p>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94.4% clinical sensitivity</a:t>
            </a:r>
            <a:endParaRPr lang="en-US" sz="1250" dirty="0"/>
          </a:p>
        </p:txBody>
      </p:sp>
      <p:sp>
        <p:nvSpPr>
          <p:cNvPr id="29" name="Shape 27"/>
          <p:cNvSpPr/>
          <p:nvPr/>
        </p:nvSpPr>
        <p:spPr>
          <a:xfrm>
            <a:off x="8983751" y="1691640"/>
            <a:ext cx="2476424" cy="4389120"/>
          </a:xfrm>
          <a:prstGeom prst="roundRect">
            <a:avLst>
              <a:gd name="adj" fmla="val 2954"/>
            </a:avLst>
          </a:prstGeom>
          <a:solidFill>
            <a:srgbClr val="FFFFFF"/>
          </a:solidFill>
          <a:ln w="12700">
            <a:solidFill>
              <a:srgbClr val="CBD5E1"/>
            </a:solidFill>
            <a:prstDash val="solid"/>
          </a:ln>
        </p:spPr>
      </p:sp>
      <p:sp>
        <p:nvSpPr>
          <p:cNvPr id="30" name="Shape 28"/>
          <p:cNvSpPr/>
          <p:nvPr/>
        </p:nvSpPr>
        <p:spPr>
          <a:xfrm>
            <a:off x="9212351" y="1920240"/>
            <a:ext cx="640080" cy="365760"/>
          </a:xfrm>
          <a:prstGeom prst="roundRect">
            <a:avLst>
              <a:gd name="adj" fmla="val 15000"/>
            </a:avLst>
          </a:prstGeom>
          <a:solidFill>
            <a:srgbClr val="ECFDF5"/>
          </a:solidFill>
          <a:ln w="12700">
            <a:solidFill>
              <a:srgbClr val="059669"/>
            </a:solidFill>
            <a:prstDash val="solid"/>
          </a:ln>
        </p:spPr>
      </p:sp>
      <p:sp>
        <p:nvSpPr>
          <p:cNvPr id="31" name="Text 29"/>
          <p:cNvSpPr/>
          <p:nvPr/>
        </p:nvSpPr>
        <p:spPr>
          <a:xfrm>
            <a:off x="9212351" y="1920240"/>
            <a:ext cx="640080" cy="365760"/>
          </a:xfrm>
          <a:prstGeom prst="rect">
            <a:avLst/>
          </a:prstGeom>
          <a:noFill/>
          <a:ln/>
        </p:spPr>
        <p:txBody>
          <a:bodyPr wrap="square" lIns="0" tIns="0" rIns="0" bIns="0" rtlCol="0" anchor="ctr"/>
          <a:lstStyle/>
          <a:p>
            <a:pPr marL="0" indent="0" algn="ctr">
              <a:buNone/>
            </a:pPr>
            <a:r>
              <a:rPr lang="en-US" sz="1400" b="1" dirty="0">
                <a:solidFill>
                  <a:srgbClr val="059669"/>
                </a:solidFill>
                <a:latin typeface="Calibri" pitchFamily="34" charset="0"/>
                <a:ea typeface="Calibri" pitchFamily="34" charset="-122"/>
                <a:cs typeface="Calibri" pitchFamily="34" charset="-120"/>
              </a:rPr>
              <a:t>04</a:t>
            </a:r>
            <a:endParaRPr lang="en-US" sz="1400" dirty="0"/>
          </a:p>
        </p:txBody>
      </p:sp>
      <p:sp>
        <p:nvSpPr>
          <p:cNvPr id="32" name="Text 30"/>
          <p:cNvSpPr/>
          <p:nvPr/>
        </p:nvSpPr>
        <p:spPr>
          <a:xfrm>
            <a:off x="9212351" y="2423160"/>
            <a:ext cx="2019224"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Clinical Safety</a:t>
            </a:r>
            <a:endParaRPr lang="en-US" sz="1700" dirty="0"/>
          </a:p>
        </p:txBody>
      </p:sp>
      <p:sp>
        <p:nvSpPr>
          <p:cNvPr id="33" name="Text 31"/>
          <p:cNvSpPr/>
          <p:nvPr/>
        </p:nvSpPr>
        <p:spPr>
          <a:xfrm>
            <a:off x="9212351" y="2788920"/>
            <a:ext cx="2019224" cy="256032"/>
          </a:xfrm>
          <a:prstGeom prst="rect">
            <a:avLst/>
          </a:prstGeom>
          <a:noFill/>
          <a:ln/>
        </p:spPr>
        <p:txBody>
          <a:bodyPr wrap="square" lIns="0" tIns="0" rIns="0" bIns="0" rtlCol="0" anchor="ctr"/>
          <a:lstStyle/>
          <a:p>
            <a:pPr marL="0" indent="0">
              <a:buNone/>
            </a:pPr>
            <a:r>
              <a:rPr lang="en-US" sz="1200" b="1" dirty="0">
                <a:solidFill>
                  <a:srgbClr val="64748B"/>
                </a:solidFill>
                <a:latin typeface="Calibri" pitchFamily="34" charset="0"/>
                <a:ea typeface="Calibri" pitchFamily="34" charset="-122"/>
                <a:cs typeface="Calibri" pitchFamily="34" charset="-120"/>
              </a:rPr>
              <a:t>Certified Explainability</a:t>
            </a:r>
            <a:endParaRPr lang="en-US" sz="1200" dirty="0"/>
          </a:p>
        </p:txBody>
      </p:sp>
      <p:sp>
        <p:nvSpPr>
          <p:cNvPr id="34" name="Shape 32"/>
          <p:cNvSpPr/>
          <p:nvPr/>
        </p:nvSpPr>
        <p:spPr>
          <a:xfrm>
            <a:off x="9212351" y="3127248"/>
            <a:ext cx="2019224" cy="0"/>
          </a:xfrm>
          <a:prstGeom prst="line">
            <a:avLst/>
          </a:prstGeom>
          <a:noFill/>
          <a:ln w="12700">
            <a:solidFill>
              <a:srgbClr val="CBD5E1"/>
            </a:solidFill>
            <a:prstDash val="solid"/>
          </a:ln>
        </p:spPr>
      </p:sp>
      <p:sp>
        <p:nvSpPr>
          <p:cNvPr id="35" name="Text 33"/>
          <p:cNvSpPr/>
          <p:nvPr/>
        </p:nvSpPr>
        <p:spPr>
          <a:xfrm>
            <a:off x="9212351" y="3291840"/>
            <a:ext cx="2019224" cy="26060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Split Conformal Prediction (95% guarantee)</a:t>
            </a:r>
            <a:endParaRPr lang="en-US" sz="1250" dirty="0"/>
          </a:p>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Local TreeSHAP waterfall attributions</a:t>
            </a:r>
            <a:endParaRPr lang="en-US" sz="1250" dirty="0"/>
          </a:p>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Production CLI tool (prioritize_sv.py)</a:t>
            </a:r>
            <a:endParaRPr lang="en-US" sz="1250" dirty="0"/>
          </a:p>
          <a:p>
            <a:pPr marL="342900" indent="-342900">
              <a:spcAft>
                <a:spcPts val="1000"/>
              </a:spcAft>
              <a:buSzPct val="100000"/>
              <a:buChar char="•"/>
            </a:pPr>
            <a:r>
              <a:rPr lang="en-US" sz="1250" dirty="0">
                <a:solidFill>
                  <a:srgbClr val="334155"/>
                </a:solidFill>
                <a:latin typeface="Calibri" pitchFamily="34" charset="0"/>
                <a:ea typeface="Calibri" pitchFamily="34" charset="-122"/>
                <a:cs typeface="Calibri" pitchFamily="34" charset="-120"/>
              </a:rPr>
              <a:t>Interactive HTML &amp; triage queue export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GENOMIC REPOSITORIES</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Dataset Description and Sources</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Multi-cohort genomic databases underpinning model development and independent validation</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9 of 24</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10728655" cy="4389120"/>
        </p:xfrm>
        <a:graphic>
          <a:graphicData uri="http://schemas.openxmlformats.org/drawingml/2006/table">
            <a:tbl>
              <a:tblPr/>
              <a:tblGrid>
                <a:gridCol w="22860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gridCol w="3322015">
                  <a:extLst>
                    <a:ext uri="{9D8B030D-6E8A-4147-A177-3AD203B41FA5}">
                      <a16:colId xmlns:a16="http://schemas.microsoft.com/office/drawing/2014/main" val="20003"/>
                    </a:ext>
                  </a:extLst>
                </a:gridCol>
              </a:tblGrid>
              <a:tr h="877824">
                <a:tc>
                  <a:txBody>
                    <a:bodyPr/>
                    <a:lstStyle/>
                    <a:p>
                      <a:pPr marL="0" indent="0" algn="l">
                        <a:buNone/>
                      </a:pPr>
                      <a:r>
                        <a:rPr lang="en-US" sz="1200" b="1" dirty="0">
                          <a:solidFill>
                            <a:srgbClr val="FFFFFF"/>
                          </a:solidFill>
                        </a:rPr>
                        <a:t>Source Database</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93B"/>
                    </a:solidFill>
                  </a:tcPr>
                </a:tc>
                <a:tc>
                  <a:txBody>
                    <a:bodyPr/>
                    <a:lstStyle/>
                    <a:p>
                      <a:pPr marL="0" indent="0" algn="l">
                        <a:buNone/>
                      </a:pPr>
                      <a:r>
                        <a:rPr lang="en-US" sz="1200" b="1" dirty="0">
                          <a:solidFill>
                            <a:srgbClr val="FFFFFF"/>
                          </a:solidFill>
                        </a:rPr>
                        <a:t>Total Variants</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93B"/>
                    </a:solidFill>
                  </a:tcPr>
                </a:tc>
                <a:tc>
                  <a:txBody>
                    <a:bodyPr/>
                    <a:lstStyle/>
                    <a:p>
                      <a:pPr marL="0" indent="0" algn="l">
                        <a:buNone/>
                      </a:pPr>
                      <a:r>
                        <a:rPr lang="en-US" sz="1200" b="1" dirty="0">
                          <a:solidFill>
                            <a:srgbClr val="FFFFFF"/>
                          </a:solidFill>
                        </a:rPr>
                        <a:t>Genomic Scope</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93B"/>
                    </a:solidFill>
                  </a:tcPr>
                </a:tc>
                <a:tc>
                  <a:txBody>
                    <a:bodyPr/>
                    <a:lstStyle/>
                    <a:p>
                      <a:pPr marL="0" indent="0" algn="l">
                        <a:buNone/>
                      </a:pPr>
                      <a:r>
                        <a:rPr lang="en-US" sz="1200" b="1" dirty="0">
                          <a:solidFill>
                            <a:srgbClr val="FFFFFF"/>
                          </a:solidFill>
                        </a:rPr>
                        <a:t>Role in Pipeline</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877824">
                <a:tc>
                  <a:txBody>
                    <a:bodyPr/>
                    <a:lstStyle/>
                    <a:p>
                      <a:pPr marL="0" indent="0" algn="l">
                        <a:buNone/>
                      </a:pPr>
                      <a:r>
                        <a:rPr lang="en-US" sz="1150" b="1" dirty="0">
                          <a:solidFill>
                            <a:srgbClr val="0F172A"/>
                          </a:solidFill>
                        </a:rPr>
                        <a:t>NCBI ClinVar (2024)</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150" b="1" dirty="0">
                          <a:solidFill>
                            <a:srgbClr val="334155"/>
                          </a:solidFill>
                        </a:rPr>
                        <a:t>101,232 SVs</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334155"/>
                          </a:solidFill>
                        </a:rPr>
                        <a:t>Deletions, Duplications, Inversions, Insertions</a:t>
                      </a:r>
                      <a:endParaRPr lang="en-US" sz="11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334155"/>
                          </a:solidFill>
                        </a:rPr>
                        <a:t>Clinical ground-truth labels (Pathogenic vs Benign)</a:t>
                      </a:r>
                      <a:endParaRPr lang="en-US" sz="11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877824">
                <a:tc>
                  <a:txBody>
                    <a:bodyPr/>
                    <a:lstStyle/>
                    <a:p>
                      <a:pPr marL="0" indent="0" algn="l">
                        <a:buNone/>
                      </a:pPr>
                      <a:r>
                        <a:rPr lang="en-US" sz="1150" b="1" dirty="0">
                          <a:solidFill>
                            <a:srgbClr val="0F172A"/>
                          </a:solidFill>
                        </a:rPr>
                        <a:t>gnomAD SV v2.1</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150" b="1" dirty="0">
                          <a:solidFill>
                            <a:srgbClr val="334155"/>
                          </a:solidFill>
                        </a:rPr>
                        <a:t>387,700 SVs</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334155"/>
                          </a:solidFill>
                        </a:rPr>
                        <a:t>14,891 genomes across 7 continental populations</a:t>
                      </a:r>
                      <a:endParaRPr lang="en-US" sz="11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334155"/>
                          </a:solidFill>
                        </a:rPr>
                        <a:t>Baseline allele frequency spectrum and PopMax</a:t>
                      </a:r>
                      <a:endParaRPr lang="en-US" sz="11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877824">
                <a:tc>
                  <a:txBody>
                    <a:bodyPr/>
                    <a:lstStyle/>
                    <a:p>
                      <a:pPr marL="0" indent="0" algn="l">
                        <a:buNone/>
                      </a:pPr>
                      <a:r>
                        <a:rPr lang="en-US" sz="1150" b="1" dirty="0">
                          <a:solidFill>
                            <a:srgbClr val="0F172A"/>
                          </a:solidFill>
                        </a:rPr>
                        <a:t>1000 Genomes (Phase 3)</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150" b="1" dirty="0">
                          <a:solidFill>
                            <a:srgbClr val="334155"/>
                          </a:solidFill>
                        </a:rPr>
                        <a:t>68,818 SVs</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334155"/>
                          </a:solidFill>
                        </a:rPr>
                        <a:t>2,504 multi-ethnic individuals</a:t>
                      </a:r>
                      <a:endParaRPr lang="en-US" sz="11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334155"/>
                          </a:solidFill>
                        </a:rPr>
                        <a:t>Independent cross-validation for polymorphic SVs</a:t>
                      </a:r>
                      <a:endParaRPr lang="en-US" sz="11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877824">
                <a:tc>
                  <a:txBody>
                    <a:bodyPr/>
                    <a:lstStyle/>
                    <a:p>
                      <a:pPr marL="0" indent="0" algn="l">
                        <a:buNone/>
                      </a:pPr>
                      <a:r>
                        <a:rPr lang="en-US" sz="1200" b="1" dirty="0">
                          <a:solidFill>
                            <a:srgbClr val="2563EB"/>
                          </a:solidFill>
                        </a:rPr>
                        <a:t>Final Harmonized Matrix</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marL="0" indent="0" algn="l">
                        <a:buNone/>
                      </a:pPr>
                      <a:r>
                        <a:rPr lang="en-US" sz="1200" b="1" dirty="0">
                          <a:solidFill>
                            <a:srgbClr val="2563EB"/>
                          </a:solidFill>
                        </a:rPr>
                        <a:t>44,268 SVs</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marL="0" indent="0" algn="l">
                        <a:buNone/>
                      </a:pPr>
                      <a:r>
                        <a:rPr lang="en-US" sz="1150" dirty="0">
                          <a:solidFill>
                            <a:srgbClr val="2563EB"/>
                          </a:solidFill>
                        </a:rPr>
                        <a:t>High-confidence labeled cohort (&gt;= 50 bp)</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marL="0" indent="0" algn="l">
                        <a:buNone/>
                      </a:pPr>
                      <a:r>
                        <a:rPr lang="en-US" sz="1150" b="1" dirty="0">
                          <a:solidFill>
                            <a:srgbClr val="2563EB"/>
                          </a:solidFill>
                        </a:rPr>
                        <a:t>35,414 Train / 8,854 Chromosomal Holdout Test</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DATA ENGINEERING</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Data Preprocessing and Harmonization</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Standardizing heterogeneous multi-database coordinates and resolving interval overlaps</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10 of 24</a:t>
            </a:r>
            <a:endParaRPr lang="en-US" sz="1100" dirty="0"/>
          </a:p>
        </p:txBody>
      </p:sp>
      <p:sp>
        <p:nvSpPr>
          <p:cNvPr id="8" name="Shape 6"/>
          <p:cNvSpPr/>
          <p:nvPr/>
        </p:nvSpPr>
        <p:spPr>
          <a:xfrm>
            <a:off x="731520" y="1691640"/>
            <a:ext cx="3393338" cy="4389120"/>
          </a:xfrm>
          <a:prstGeom prst="roundRect">
            <a:avLst>
              <a:gd name="adj" fmla="val 2156"/>
            </a:avLst>
          </a:prstGeom>
          <a:solidFill>
            <a:srgbClr val="FFFFFF"/>
          </a:solidFill>
          <a:ln w="12700">
            <a:solidFill>
              <a:srgbClr val="CBD5E1"/>
            </a:solidFill>
            <a:prstDash val="solid"/>
          </a:ln>
        </p:spPr>
      </p:sp>
      <p:sp>
        <p:nvSpPr>
          <p:cNvPr id="9" name="Text 7"/>
          <p:cNvSpPr/>
          <p:nvPr/>
        </p:nvSpPr>
        <p:spPr>
          <a:xfrm>
            <a:off x="1005840" y="1965960"/>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Coordinate Standardization</a:t>
            </a:r>
            <a:endParaRPr lang="en-US" sz="1800" dirty="0"/>
          </a:p>
        </p:txBody>
      </p:sp>
      <p:sp>
        <p:nvSpPr>
          <p:cNvPr id="10" name="Text 8"/>
          <p:cNvSpPr/>
          <p:nvPr/>
        </p:nvSpPr>
        <p:spPr>
          <a:xfrm>
            <a:off x="1005840" y="2560320"/>
            <a:ext cx="2844698" cy="256032"/>
          </a:xfrm>
          <a:prstGeom prst="rect">
            <a:avLst/>
          </a:prstGeom>
          <a:noFill/>
          <a:ln/>
        </p:spPr>
        <p:txBody>
          <a:bodyPr wrap="square" lIns="0" tIns="0" rIns="0" bIns="0" rtlCol="0" anchor="ctr"/>
          <a:lstStyle/>
          <a:p>
            <a:pPr marL="0" indent="0">
              <a:buNone/>
            </a:pPr>
            <a:r>
              <a:rPr lang="en-US" sz="1250" b="1" dirty="0">
                <a:solidFill>
                  <a:srgbClr val="2563EB"/>
                </a:solidFill>
                <a:latin typeface="Calibri" pitchFamily="34" charset="0"/>
                <a:ea typeface="Calibri" pitchFamily="34" charset="-122"/>
                <a:cs typeface="Calibri" pitchFamily="34" charset="-120"/>
              </a:rPr>
              <a:t>GRCh38 Reference Genome</a:t>
            </a:r>
            <a:endParaRPr lang="en-US" sz="1250" dirty="0"/>
          </a:p>
        </p:txBody>
      </p:sp>
      <p:sp>
        <p:nvSpPr>
          <p:cNvPr id="11" name="Shape 9"/>
          <p:cNvSpPr/>
          <p:nvPr/>
        </p:nvSpPr>
        <p:spPr>
          <a:xfrm>
            <a:off x="1005840" y="2880360"/>
            <a:ext cx="2844698" cy="0"/>
          </a:xfrm>
          <a:prstGeom prst="line">
            <a:avLst/>
          </a:prstGeom>
          <a:noFill/>
          <a:ln w="12700">
            <a:solidFill>
              <a:srgbClr val="CBD5E1"/>
            </a:solidFill>
            <a:prstDash val="solid"/>
          </a:ln>
        </p:spPr>
      </p:sp>
      <p:sp>
        <p:nvSpPr>
          <p:cNvPr id="12" name="Text 10"/>
          <p:cNvSpPr/>
          <p:nvPr/>
        </p:nvSpPr>
        <p:spPr>
          <a:xfrm>
            <a:off x="1005840" y="3063240"/>
            <a:ext cx="2844698" cy="2743200"/>
          </a:xfrm>
          <a:prstGeom prst="rect">
            <a:avLst/>
          </a:prstGeom>
          <a:noFill/>
          <a:ln/>
        </p:spPr>
        <p:txBody>
          <a:bodyPr wrap="square" lIns="0" tIns="0" rIns="0" bIns="0" rtlCol="0" anchor="ctr"/>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All coordinates were mapped to the GRCh38/hg38 human reference assembly. Chromosomal nomenclature was unified to strict numerical and sex chromosomes (chr1–chr22, chrX, chrY). Unplaced contigs and centromeric gaps were pruned.</a:t>
            </a:r>
            <a:endParaRPr lang="en-US" sz="1350" dirty="0"/>
          </a:p>
        </p:txBody>
      </p:sp>
      <p:sp>
        <p:nvSpPr>
          <p:cNvPr id="13" name="Shape 11"/>
          <p:cNvSpPr/>
          <p:nvPr/>
        </p:nvSpPr>
        <p:spPr>
          <a:xfrm>
            <a:off x="4399178" y="1691640"/>
            <a:ext cx="3393338" cy="4389120"/>
          </a:xfrm>
          <a:prstGeom prst="roundRect">
            <a:avLst>
              <a:gd name="adj" fmla="val 2156"/>
            </a:avLst>
          </a:prstGeom>
          <a:solidFill>
            <a:srgbClr val="FFFFFF"/>
          </a:solidFill>
          <a:ln w="12700">
            <a:solidFill>
              <a:srgbClr val="CBD5E1"/>
            </a:solidFill>
            <a:prstDash val="solid"/>
          </a:ln>
        </p:spPr>
      </p:sp>
      <p:sp>
        <p:nvSpPr>
          <p:cNvPr id="14" name="Text 12"/>
          <p:cNvSpPr/>
          <p:nvPr/>
        </p:nvSpPr>
        <p:spPr>
          <a:xfrm>
            <a:off x="4673498" y="1965960"/>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50% Reciprocal Overlap</a:t>
            </a:r>
            <a:endParaRPr lang="en-US" sz="1800" dirty="0"/>
          </a:p>
        </p:txBody>
      </p:sp>
      <p:sp>
        <p:nvSpPr>
          <p:cNvPr id="15" name="Text 13"/>
          <p:cNvSpPr/>
          <p:nvPr/>
        </p:nvSpPr>
        <p:spPr>
          <a:xfrm>
            <a:off x="4673498" y="2560320"/>
            <a:ext cx="2844698" cy="256032"/>
          </a:xfrm>
          <a:prstGeom prst="rect">
            <a:avLst/>
          </a:prstGeom>
          <a:noFill/>
          <a:ln/>
        </p:spPr>
        <p:txBody>
          <a:bodyPr wrap="square" lIns="0" tIns="0" rIns="0" bIns="0" rtlCol="0" anchor="ctr"/>
          <a:lstStyle/>
          <a:p>
            <a:pPr marL="0" indent="0">
              <a:buNone/>
            </a:pPr>
            <a:r>
              <a:rPr lang="en-US" sz="1250" b="1" dirty="0">
                <a:solidFill>
                  <a:srgbClr val="7C3AED"/>
                </a:solidFill>
                <a:latin typeface="Calibri" pitchFamily="34" charset="0"/>
                <a:ea typeface="Calibri" pitchFamily="34" charset="-122"/>
                <a:cs typeface="Calibri" pitchFamily="34" charset="-120"/>
              </a:rPr>
              <a:t>Precise Interval Matching</a:t>
            </a:r>
            <a:endParaRPr lang="en-US" sz="1250" dirty="0"/>
          </a:p>
        </p:txBody>
      </p:sp>
      <p:sp>
        <p:nvSpPr>
          <p:cNvPr id="16" name="Shape 14"/>
          <p:cNvSpPr/>
          <p:nvPr/>
        </p:nvSpPr>
        <p:spPr>
          <a:xfrm>
            <a:off x="4673498" y="2880360"/>
            <a:ext cx="2844698" cy="0"/>
          </a:xfrm>
          <a:prstGeom prst="line">
            <a:avLst/>
          </a:prstGeom>
          <a:noFill/>
          <a:ln w="12700">
            <a:solidFill>
              <a:srgbClr val="CBD5E1"/>
            </a:solidFill>
            <a:prstDash val="solid"/>
          </a:ln>
        </p:spPr>
      </p:sp>
      <p:sp>
        <p:nvSpPr>
          <p:cNvPr id="17" name="Text 15"/>
          <p:cNvSpPr/>
          <p:nvPr/>
        </p:nvSpPr>
        <p:spPr>
          <a:xfrm>
            <a:off x="4673498" y="3063240"/>
            <a:ext cx="2844698" cy="2743200"/>
          </a:xfrm>
          <a:prstGeom prst="rect">
            <a:avLst/>
          </a:prstGeom>
          <a:noFill/>
          <a:ln/>
        </p:spPr>
        <p:txBody>
          <a:bodyPr wrap="square" lIns="0" tIns="0" rIns="0" bIns="0" rtlCol="0" anchor="ctr"/>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Variants between patient VCFs and gnomAD are matched strictly using reciprocal coordinate overlap: (A ∩ B) / size(A) &gt;= 0.50 and (A ∩ B) / size(B) &gt;= 0.50. Prevents spurious cross-matches between adjacent distinct variants.</a:t>
            </a:r>
            <a:endParaRPr lang="en-US" sz="1350" dirty="0"/>
          </a:p>
        </p:txBody>
      </p:sp>
      <p:sp>
        <p:nvSpPr>
          <p:cNvPr id="18" name="Shape 16"/>
          <p:cNvSpPr/>
          <p:nvPr/>
        </p:nvSpPr>
        <p:spPr>
          <a:xfrm>
            <a:off x="8066837" y="1691640"/>
            <a:ext cx="3393338" cy="4389120"/>
          </a:xfrm>
          <a:prstGeom prst="roundRect">
            <a:avLst>
              <a:gd name="adj" fmla="val 2156"/>
            </a:avLst>
          </a:prstGeom>
          <a:solidFill>
            <a:srgbClr val="FFFFFF"/>
          </a:solidFill>
          <a:ln w="12700">
            <a:solidFill>
              <a:srgbClr val="CBD5E1"/>
            </a:solidFill>
            <a:prstDash val="solid"/>
          </a:ln>
        </p:spPr>
      </p:sp>
      <p:sp>
        <p:nvSpPr>
          <p:cNvPr id="19" name="Text 17"/>
          <p:cNvSpPr/>
          <p:nvPr/>
        </p:nvSpPr>
        <p:spPr>
          <a:xfrm>
            <a:off x="8341157" y="1965960"/>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Label Consolidation</a:t>
            </a:r>
            <a:endParaRPr lang="en-US" sz="1800" dirty="0"/>
          </a:p>
        </p:txBody>
      </p:sp>
      <p:sp>
        <p:nvSpPr>
          <p:cNvPr id="20" name="Text 18"/>
          <p:cNvSpPr/>
          <p:nvPr/>
        </p:nvSpPr>
        <p:spPr>
          <a:xfrm>
            <a:off x="8341157" y="2560320"/>
            <a:ext cx="2844698" cy="256032"/>
          </a:xfrm>
          <a:prstGeom prst="rect">
            <a:avLst/>
          </a:prstGeom>
          <a:noFill/>
          <a:ln/>
        </p:spPr>
        <p:txBody>
          <a:bodyPr wrap="square" lIns="0" tIns="0" rIns="0" bIns="0" rtlCol="0" anchor="ctr"/>
          <a:lstStyle/>
          <a:p>
            <a:pPr marL="0" indent="0">
              <a:buNone/>
            </a:pPr>
            <a:r>
              <a:rPr lang="en-US" sz="1250" b="1" dirty="0">
                <a:solidFill>
                  <a:srgbClr val="059669"/>
                </a:solidFill>
                <a:latin typeface="Calibri" pitchFamily="34" charset="0"/>
                <a:ea typeface="Calibri" pitchFamily="34" charset="-122"/>
                <a:cs typeface="Calibri" pitchFamily="34" charset="-120"/>
              </a:rPr>
              <a:t>Binary Ground Truth Matrix</a:t>
            </a:r>
            <a:endParaRPr lang="en-US" sz="1250" dirty="0"/>
          </a:p>
        </p:txBody>
      </p:sp>
      <p:sp>
        <p:nvSpPr>
          <p:cNvPr id="21" name="Shape 19"/>
          <p:cNvSpPr/>
          <p:nvPr/>
        </p:nvSpPr>
        <p:spPr>
          <a:xfrm>
            <a:off x="8341157" y="2880360"/>
            <a:ext cx="2844698" cy="0"/>
          </a:xfrm>
          <a:prstGeom prst="line">
            <a:avLst/>
          </a:prstGeom>
          <a:noFill/>
          <a:ln w="12700">
            <a:solidFill>
              <a:srgbClr val="CBD5E1"/>
            </a:solidFill>
            <a:prstDash val="solid"/>
          </a:ln>
        </p:spPr>
      </p:sp>
      <p:sp>
        <p:nvSpPr>
          <p:cNvPr id="22" name="Text 20"/>
          <p:cNvSpPr/>
          <p:nvPr/>
        </p:nvSpPr>
        <p:spPr>
          <a:xfrm>
            <a:off x="8341157" y="3063240"/>
            <a:ext cx="2844698" cy="2743200"/>
          </a:xfrm>
          <a:prstGeom prst="rect">
            <a:avLst/>
          </a:prstGeom>
          <a:noFill/>
          <a:ln/>
        </p:spPr>
        <p:txBody>
          <a:bodyPr wrap="square" lIns="0" tIns="0" rIns="0" bIns="0" rtlCol="0" anchor="ctr"/>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ClinVar assertions were mapped to binary ground truth: Pathogenic &amp; Likely Pathogenic (Y = 1); Benign &amp; Likely Benign (Y = 0). Ambiguous VUS records (N = 34,466) were segregated for post-training downstream clinical triage.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GENOMIC ANALYSIS</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Exploratory Genomic Data Analysis</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Strong biological divergence between pathogenic and benign structural variants confirms ML signal</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11 of 24</a:t>
            </a:r>
            <a:endParaRPr lang="en-US" sz="1100" dirty="0"/>
          </a:p>
        </p:txBody>
      </p:sp>
      <p:sp>
        <p:nvSpPr>
          <p:cNvPr id="8" name="Shape 6"/>
          <p:cNvSpPr/>
          <p:nvPr/>
        </p:nvSpPr>
        <p:spPr>
          <a:xfrm>
            <a:off x="731520" y="1691640"/>
            <a:ext cx="3393338" cy="4389120"/>
          </a:xfrm>
          <a:prstGeom prst="roundRect">
            <a:avLst>
              <a:gd name="adj" fmla="val 2156"/>
            </a:avLst>
          </a:prstGeom>
          <a:solidFill>
            <a:srgbClr val="FFFFFF"/>
          </a:solidFill>
          <a:ln w="12700">
            <a:solidFill>
              <a:srgbClr val="CBD5E1"/>
            </a:solidFill>
            <a:prstDash val="solid"/>
          </a:ln>
        </p:spPr>
      </p:sp>
      <p:sp>
        <p:nvSpPr>
          <p:cNvPr id="9" name="Text 7"/>
          <p:cNvSpPr/>
          <p:nvPr/>
        </p:nvSpPr>
        <p:spPr>
          <a:xfrm>
            <a:off x="1005840" y="1920240"/>
            <a:ext cx="2844698" cy="347472"/>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Variant Type Dominance</a:t>
            </a:r>
            <a:endParaRPr lang="en-US" sz="1800" dirty="0"/>
          </a:p>
        </p:txBody>
      </p:sp>
      <p:sp>
        <p:nvSpPr>
          <p:cNvPr id="10" name="Text 8"/>
          <p:cNvSpPr/>
          <p:nvPr/>
        </p:nvSpPr>
        <p:spPr>
          <a:xfrm>
            <a:off x="1005840" y="2267712"/>
            <a:ext cx="2844698" cy="256032"/>
          </a:xfrm>
          <a:prstGeom prst="rect">
            <a:avLst/>
          </a:prstGeom>
          <a:noFill/>
          <a:ln/>
        </p:spPr>
        <p:txBody>
          <a:bodyPr wrap="square" lIns="0" tIns="0" rIns="0" bIns="0" rtlCol="0" anchor="ctr"/>
          <a:lstStyle/>
          <a:p>
            <a:pPr marL="0" indent="0">
              <a:buNone/>
            </a:pPr>
            <a:r>
              <a:rPr lang="en-US" sz="1250" b="1" dirty="0">
                <a:solidFill>
                  <a:srgbClr val="2563EB"/>
                </a:solidFill>
                <a:latin typeface="Calibri" pitchFamily="34" charset="0"/>
                <a:ea typeface="Calibri" pitchFamily="34" charset="-122"/>
                <a:cs typeface="Calibri" pitchFamily="34" charset="-120"/>
              </a:rPr>
              <a:t>Deletions vs Duplications</a:t>
            </a:r>
            <a:endParaRPr lang="en-US" sz="1250" dirty="0"/>
          </a:p>
        </p:txBody>
      </p:sp>
      <p:sp>
        <p:nvSpPr>
          <p:cNvPr id="11" name="Shape 9"/>
          <p:cNvSpPr/>
          <p:nvPr/>
        </p:nvSpPr>
        <p:spPr>
          <a:xfrm>
            <a:off x="1005840" y="2606040"/>
            <a:ext cx="2844698" cy="0"/>
          </a:xfrm>
          <a:prstGeom prst="line">
            <a:avLst/>
          </a:prstGeom>
          <a:noFill/>
          <a:ln w="12700">
            <a:solidFill>
              <a:srgbClr val="CBD5E1"/>
            </a:solidFill>
            <a:prstDash val="solid"/>
          </a:ln>
        </p:spPr>
      </p:sp>
      <p:sp>
        <p:nvSpPr>
          <p:cNvPr id="12" name="Text 10"/>
          <p:cNvSpPr/>
          <p:nvPr/>
        </p:nvSpPr>
        <p:spPr>
          <a:xfrm>
            <a:off x="1005840" y="2788920"/>
            <a:ext cx="2844698" cy="502920"/>
          </a:xfrm>
          <a:prstGeom prst="rect">
            <a:avLst/>
          </a:prstGeom>
          <a:noFill/>
          <a:ln/>
        </p:spPr>
        <p:txBody>
          <a:bodyPr wrap="square" lIns="0" tIns="0" rIns="0" bIns="0" rtlCol="0" anchor="ctr"/>
          <a:lstStyle/>
          <a:p>
            <a:pPr marL="0" indent="0">
              <a:buNone/>
            </a:pPr>
            <a:r>
              <a:rPr lang="en-US" sz="2600" b="1" dirty="0">
                <a:solidFill>
                  <a:srgbClr val="2563EB"/>
                </a:solidFill>
                <a:latin typeface="Calibri" pitchFamily="34" charset="0"/>
                <a:ea typeface="Calibri" pitchFamily="34" charset="-122"/>
                <a:cs typeface="Calibri" pitchFamily="34" charset="-120"/>
              </a:rPr>
              <a:t>58.1%</a:t>
            </a:r>
            <a:endParaRPr lang="en-US" sz="2600" dirty="0"/>
          </a:p>
        </p:txBody>
      </p:sp>
      <p:sp>
        <p:nvSpPr>
          <p:cNvPr id="13" name="Text 11"/>
          <p:cNvSpPr/>
          <p:nvPr/>
        </p:nvSpPr>
        <p:spPr>
          <a:xfrm>
            <a:off x="1005840" y="3310128"/>
            <a:ext cx="2844698" cy="256032"/>
          </a:xfrm>
          <a:prstGeom prst="rect">
            <a:avLst/>
          </a:prstGeom>
          <a:noFill/>
          <a:ln/>
        </p:spPr>
        <p:txBody>
          <a:bodyPr wrap="square" lIns="0" tIns="0" rIns="0" bIns="0" rtlCol="0" anchor="ctr"/>
          <a:lstStyle/>
          <a:p>
            <a:pPr marL="0" indent="0">
              <a:buNone/>
            </a:pPr>
            <a:r>
              <a:rPr lang="en-US" sz="1150" b="1" dirty="0">
                <a:solidFill>
                  <a:srgbClr val="64748B"/>
                </a:solidFill>
                <a:latin typeface="Calibri" pitchFamily="34" charset="0"/>
                <a:ea typeface="Calibri" pitchFamily="34" charset="-122"/>
                <a:cs typeface="Calibri" pitchFamily="34" charset="-120"/>
              </a:rPr>
              <a:t>Deletions in Pathogenic SVs</a:t>
            </a:r>
            <a:endParaRPr lang="en-US" sz="1150" dirty="0"/>
          </a:p>
        </p:txBody>
      </p:sp>
      <p:sp>
        <p:nvSpPr>
          <p:cNvPr id="14" name="Text 12"/>
          <p:cNvSpPr/>
          <p:nvPr/>
        </p:nvSpPr>
        <p:spPr>
          <a:xfrm>
            <a:off x="1005840" y="3703320"/>
            <a:ext cx="2844698" cy="2148840"/>
          </a:xfrm>
          <a:prstGeom prst="rect">
            <a:avLst/>
          </a:prstGeom>
          <a:noFill/>
          <a:ln/>
        </p:spPr>
        <p:txBody>
          <a:bodyPr wrap="square" lIns="0" tIns="0" rIns="0" bIns="0" rtlCol="0" anchor="ctr"/>
          <a:lstStyle/>
          <a:p>
            <a:pPr marL="0" indent="0">
              <a:lnSpc>
                <a:spcPct val="125000"/>
              </a:lnSpc>
              <a:buNone/>
            </a:pPr>
            <a:r>
              <a:rPr lang="en-US" sz="1300" dirty="0">
                <a:solidFill>
                  <a:srgbClr val="334155"/>
                </a:solidFill>
                <a:latin typeface="Calibri" pitchFamily="34" charset="0"/>
                <a:ea typeface="Calibri" pitchFamily="34" charset="-122"/>
                <a:cs typeface="Calibri" pitchFamily="34" charset="-120"/>
              </a:rPr>
              <a:t>Deletions dominate pathogenic assertions because loss of coding exons causes irreversible haploinsufficiency. Duplications (40.7%) are more frequently tolerated as copy-number polymorphisms unless overlapping dosage-sensitive genes.</a:t>
            </a:r>
            <a:endParaRPr lang="en-US" sz="1300" dirty="0"/>
          </a:p>
        </p:txBody>
      </p:sp>
      <p:sp>
        <p:nvSpPr>
          <p:cNvPr id="15" name="Shape 13"/>
          <p:cNvSpPr/>
          <p:nvPr/>
        </p:nvSpPr>
        <p:spPr>
          <a:xfrm>
            <a:off x="4399178" y="1691640"/>
            <a:ext cx="3393338" cy="4389120"/>
          </a:xfrm>
          <a:prstGeom prst="roundRect">
            <a:avLst>
              <a:gd name="adj" fmla="val 2156"/>
            </a:avLst>
          </a:prstGeom>
          <a:solidFill>
            <a:srgbClr val="FFFFFF"/>
          </a:solidFill>
          <a:ln w="12700">
            <a:solidFill>
              <a:srgbClr val="CBD5E1"/>
            </a:solidFill>
            <a:prstDash val="solid"/>
          </a:ln>
        </p:spPr>
      </p:sp>
      <p:sp>
        <p:nvSpPr>
          <p:cNvPr id="16" name="Text 14"/>
          <p:cNvSpPr/>
          <p:nvPr/>
        </p:nvSpPr>
        <p:spPr>
          <a:xfrm>
            <a:off x="4673498" y="1920240"/>
            <a:ext cx="2844698" cy="347472"/>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Bimodal Size Distribution</a:t>
            </a:r>
            <a:endParaRPr lang="en-US" sz="1800" dirty="0"/>
          </a:p>
        </p:txBody>
      </p:sp>
      <p:sp>
        <p:nvSpPr>
          <p:cNvPr id="17" name="Text 15"/>
          <p:cNvSpPr/>
          <p:nvPr/>
        </p:nvSpPr>
        <p:spPr>
          <a:xfrm>
            <a:off x="4673498" y="2267712"/>
            <a:ext cx="2844698" cy="256032"/>
          </a:xfrm>
          <a:prstGeom prst="rect">
            <a:avLst/>
          </a:prstGeom>
          <a:noFill/>
          <a:ln/>
        </p:spPr>
        <p:txBody>
          <a:bodyPr wrap="square" lIns="0" tIns="0" rIns="0" bIns="0" rtlCol="0" anchor="ctr"/>
          <a:lstStyle/>
          <a:p>
            <a:pPr marL="0" indent="0">
              <a:buNone/>
            </a:pPr>
            <a:r>
              <a:rPr lang="en-US" sz="1250" b="1" dirty="0">
                <a:solidFill>
                  <a:srgbClr val="7C3AED"/>
                </a:solidFill>
                <a:latin typeface="Calibri" pitchFamily="34" charset="0"/>
                <a:ea typeface="Calibri" pitchFamily="34" charset="-122"/>
                <a:cs typeface="Calibri" pitchFamily="34" charset="-120"/>
              </a:rPr>
              <a:t>Retrotransposon Hotspots</a:t>
            </a:r>
            <a:endParaRPr lang="en-US" sz="1250" dirty="0"/>
          </a:p>
        </p:txBody>
      </p:sp>
      <p:sp>
        <p:nvSpPr>
          <p:cNvPr id="18" name="Shape 16"/>
          <p:cNvSpPr/>
          <p:nvPr/>
        </p:nvSpPr>
        <p:spPr>
          <a:xfrm>
            <a:off x="4673498" y="2606040"/>
            <a:ext cx="2844698" cy="0"/>
          </a:xfrm>
          <a:prstGeom prst="line">
            <a:avLst/>
          </a:prstGeom>
          <a:noFill/>
          <a:ln w="12700">
            <a:solidFill>
              <a:srgbClr val="CBD5E1"/>
            </a:solidFill>
            <a:prstDash val="solid"/>
          </a:ln>
        </p:spPr>
      </p:sp>
      <p:sp>
        <p:nvSpPr>
          <p:cNvPr id="19" name="Text 17"/>
          <p:cNvSpPr/>
          <p:nvPr/>
        </p:nvSpPr>
        <p:spPr>
          <a:xfrm>
            <a:off x="4673498" y="2788920"/>
            <a:ext cx="2844698" cy="502920"/>
          </a:xfrm>
          <a:prstGeom prst="rect">
            <a:avLst/>
          </a:prstGeom>
          <a:noFill/>
          <a:ln/>
        </p:spPr>
        <p:txBody>
          <a:bodyPr wrap="square" lIns="0" tIns="0" rIns="0" bIns="0" rtlCol="0" anchor="ctr"/>
          <a:lstStyle/>
          <a:p>
            <a:pPr marL="0" indent="0">
              <a:buNone/>
            </a:pPr>
            <a:r>
              <a:rPr lang="en-US" sz="2600" b="1" dirty="0">
                <a:solidFill>
                  <a:srgbClr val="7C3AED"/>
                </a:solidFill>
                <a:latin typeface="Calibri" pitchFamily="34" charset="0"/>
                <a:ea typeface="Calibri" pitchFamily="34" charset="-122"/>
                <a:cs typeface="Calibri" pitchFamily="34" charset="-120"/>
              </a:rPr>
              <a:t>~300 bp &amp; ~6 kb</a:t>
            </a:r>
            <a:endParaRPr lang="en-US" sz="2600" dirty="0"/>
          </a:p>
        </p:txBody>
      </p:sp>
      <p:sp>
        <p:nvSpPr>
          <p:cNvPr id="20" name="Text 18"/>
          <p:cNvSpPr/>
          <p:nvPr/>
        </p:nvSpPr>
        <p:spPr>
          <a:xfrm>
            <a:off x="4673498" y="3310128"/>
            <a:ext cx="2844698" cy="256032"/>
          </a:xfrm>
          <a:prstGeom prst="rect">
            <a:avLst/>
          </a:prstGeom>
          <a:noFill/>
          <a:ln/>
        </p:spPr>
        <p:txBody>
          <a:bodyPr wrap="square" lIns="0" tIns="0" rIns="0" bIns="0" rtlCol="0" anchor="ctr"/>
          <a:lstStyle/>
          <a:p>
            <a:pPr marL="0" indent="0">
              <a:buNone/>
            </a:pPr>
            <a:r>
              <a:rPr lang="en-US" sz="1150" b="1" dirty="0">
                <a:solidFill>
                  <a:srgbClr val="64748B"/>
                </a:solidFill>
                <a:latin typeface="Calibri" pitchFamily="34" charset="0"/>
                <a:ea typeface="Calibri" pitchFamily="34" charset="-122"/>
                <a:cs typeface="Calibri" pitchFamily="34" charset="-120"/>
              </a:rPr>
              <a:t>Distinct Structural Peaks</a:t>
            </a:r>
            <a:endParaRPr lang="en-US" sz="1150" dirty="0"/>
          </a:p>
        </p:txBody>
      </p:sp>
      <p:sp>
        <p:nvSpPr>
          <p:cNvPr id="21" name="Text 19"/>
          <p:cNvSpPr/>
          <p:nvPr/>
        </p:nvSpPr>
        <p:spPr>
          <a:xfrm>
            <a:off x="4673498" y="3703320"/>
            <a:ext cx="2844698" cy="2148840"/>
          </a:xfrm>
          <a:prstGeom prst="rect">
            <a:avLst/>
          </a:prstGeom>
          <a:noFill/>
          <a:ln/>
        </p:spPr>
        <p:txBody>
          <a:bodyPr wrap="square" lIns="0" tIns="0" rIns="0" bIns="0" rtlCol="0" anchor="ctr"/>
          <a:lstStyle/>
          <a:p>
            <a:pPr marL="0" indent="0">
              <a:lnSpc>
                <a:spcPct val="125000"/>
              </a:lnSpc>
              <a:buNone/>
            </a:pPr>
            <a:r>
              <a:rPr lang="en-US" sz="1300" dirty="0">
                <a:solidFill>
                  <a:srgbClr val="334155"/>
                </a:solidFill>
                <a:latin typeface="Calibri" pitchFamily="34" charset="0"/>
                <a:ea typeface="Calibri" pitchFamily="34" charset="-122"/>
                <a:cs typeface="Calibri" pitchFamily="34" charset="-120"/>
              </a:rPr>
              <a:t>Structural variants follow a pronounced bimodal length spectrum. The first peak (~300 bp) aligns with Alu element retrotransposition; the second peak (~6,000 bp) corresponds to LINE-1 (L1) mobile element insertions and NHEJ double-strand break repair.</a:t>
            </a:r>
            <a:endParaRPr lang="en-US" sz="1300" dirty="0"/>
          </a:p>
        </p:txBody>
      </p:sp>
      <p:sp>
        <p:nvSpPr>
          <p:cNvPr id="22" name="Shape 20"/>
          <p:cNvSpPr/>
          <p:nvPr/>
        </p:nvSpPr>
        <p:spPr>
          <a:xfrm>
            <a:off x="8066837" y="1691640"/>
            <a:ext cx="3393338" cy="4389120"/>
          </a:xfrm>
          <a:prstGeom prst="roundRect">
            <a:avLst>
              <a:gd name="adj" fmla="val 2156"/>
            </a:avLst>
          </a:prstGeom>
          <a:solidFill>
            <a:srgbClr val="FFFFFF"/>
          </a:solidFill>
          <a:ln w="12700">
            <a:solidFill>
              <a:srgbClr val="CBD5E1"/>
            </a:solidFill>
            <a:prstDash val="solid"/>
          </a:ln>
        </p:spPr>
      </p:sp>
      <p:sp>
        <p:nvSpPr>
          <p:cNvPr id="23" name="Text 21"/>
          <p:cNvSpPr/>
          <p:nvPr/>
        </p:nvSpPr>
        <p:spPr>
          <a:xfrm>
            <a:off x="8341157" y="1920240"/>
            <a:ext cx="2844698" cy="347472"/>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Purifying Selection Signal</a:t>
            </a:r>
            <a:endParaRPr lang="en-US" sz="1800" dirty="0"/>
          </a:p>
        </p:txBody>
      </p:sp>
      <p:sp>
        <p:nvSpPr>
          <p:cNvPr id="24" name="Text 22"/>
          <p:cNvSpPr/>
          <p:nvPr/>
        </p:nvSpPr>
        <p:spPr>
          <a:xfrm>
            <a:off x="8341157" y="2267712"/>
            <a:ext cx="2844698" cy="256032"/>
          </a:xfrm>
          <a:prstGeom prst="rect">
            <a:avLst/>
          </a:prstGeom>
          <a:noFill/>
          <a:ln/>
        </p:spPr>
        <p:txBody>
          <a:bodyPr wrap="square" lIns="0" tIns="0" rIns="0" bIns="0" rtlCol="0" anchor="ctr"/>
          <a:lstStyle/>
          <a:p>
            <a:pPr marL="0" indent="0">
              <a:buNone/>
            </a:pPr>
            <a:r>
              <a:rPr lang="en-US" sz="1250" b="1" dirty="0">
                <a:solidFill>
                  <a:srgbClr val="059669"/>
                </a:solidFill>
                <a:latin typeface="Calibri" pitchFamily="34" charset="0"/>
                <a:ea typeface="Calibri" pitchFamily="34" charset="-122"/>
                <a:cs typeface="Calibri" pitchFamily="34" charset="-120"/>
              </a:rPr>
              <a:t>Extreme Frequency Shift</a:t>
            </a:r>
            <a:endParaRPr lang="en-US" sz="1250" dirty="0"/>
          </a:p>
        </p:txBody>
      </p:sp>
      <p:sp>
        <p:nvSpPr>
          <p:cNvPr id="25" name="Shape 23"/>
          <p:cNvSpPr/>
          <p:nvPr/>
        </p:nvSpPr>
        <p:spPr>
          <a:xfrm>
            <a:off x="8341157" y="2606040"/>
            <a:ext cx="2844698" cy="0"/>
          </a:xfrm>
          <a:prstGeom prst="line">
            <a:avLst/>
          </a:prstGeom>
          <a:noFill/>
          <a:ln w="12700">
            <a:solidFill>
              <a:srgbClr val="CBD5E1"/>
            </a:solidFill>
            <a:prstDash val="solid"/>
          </a:ln>
        </p:spPr>
      </p:sp>
      <p:sp>
        <p:nvSpPr>
          <p:cNvPr id="26" name="Text 24"/>
          <p:cNvSpPr/>
          <p:nvPr/>
        </p:nvSpPr>
        <p:spPr>
          <a:xfrm>
            <a:off x="8341157" y="2788920"/>
            <a:ext cx="2844698" cy="502920"/>
          </a:xfrm>
          <a:prstGeom prst="rect">
            <a:avLst/>
          </a:prstGeom>
          <a:noFill/>
          <a:ln/>
        </p:spPr>
        <p:txBody>
          <a:bodyPr wrap="square" lIns="0" tIns="0" rIns="0" bIns="0" rtlCol="0" anchor="ctr"/>
          <a:lstStyle/>
          <a:p>
            <a:pPr marL="0" indent="0">
              <a:buNone/>
            </a:pPr>
            <a:r>
              <a:rPr lang="en-US" sz="2600" b="1" dirty="0">
                <a:solidFill>
                  <a:srgbClr val="059669"/>
                </a:solidFill>
                <a:latin typeface="Calibri" pitchFamily="34" charset="0"/>
                <a:ea typeface="Calibri" pitchFamily="34" charset="-122"/>
                <a:cs typeface="Calibri" pitchFamily="34" charset="-120"/>
              </a:rPr>
              <a:t>p &lt; 1e-300</a:t>
            </a:r>
            <a:endParaRPr lang="en-US" sz="2600" dirty="0"/>
          </a:p>
        </p:txBody>
      </p:sp>
      <p:sp>
        <p:nvSpPr>
          <p:cNvPr id="27" name="Text 25"/>
          <p:cNvSpPr/>
          <p:nvPr/>
        </p:nvSpPr>
        <p:spPr>
          <a:xfrm>
            <a:off x="8341157" y="3310128"/>
            <a:ext cx="2844698" cy="256032"/>
          </a:xfrm>
          <a:prstGeom prst="rect">
            <a:avLst/>
          </a:prstGeom>
          <a:noFill/>
          <a:ln/>
        </p:spPr>
        <p:txBody>
          <a:bodyPr wrap="square" lIns="0" tIns="0" rIns="0" bIns="0" rtlCol="0" anchor="ctr"/>
          <a:lstStyle/>
          <a:p>
            <a:pPr marL="0" indent="0">
              <a:buNone/>
            </a:pPr>
            <a:r>
              <a:rPr lang="en-US" sz="1150" b="1" dirty="0">
                <a:solidFill>
                  <a:srgbClr val="64748B"/>
                </a:solidFill>
                <a:latin typeface="Calibri" pitchFamily="34" charset="0"/>
                <a:ea typeface="Calibri" pitchFamily="34" charset="-122"/>
                <a:cs typeface="Calibri" pitchFamily="34" charset="-120"/>
              </a:rPr>
              <a:t>Mann-Whitney U Test</a:t>
            </a:r>
            <a:endParaRPr lang="en-US" sz="1150" dirty="0"/>
          </a:p>
        </p:txBody>
      </p:sp>
      <p:sp>
        <p:nvSpPr>
          <p:cNvPr id="28" name="Text 26"/>
          <p:cNvSpPr/>
          <p:nvPr/>
        </p:nvSpPr>
        <p:spPr>
          <a:xfrm>
            <a:off x="8341157" y="3703320"/>
            <a:ext cx="2844698" cy="2148840"/>
          </a:xfrm>
          <a:prstGeom prst="rect">
            <a:avLst/>
          </a:prstGeom>
          <a:noFill/>
          <a:ln/>
        </p:spPr>
        <p:txBody>
          <a:bodyPr wrap="square" lIns="0" tIns="0" rIns="0" bIns="0" rtlCol="0" anchor="ctr"/>
          <a:lstStyle/>
          <a:p>
            <a:pPr marL="0" indent="0">
              <a:lnSpc>
                <a:spcPct val="125000"/>
              </a:lnSpc>
              <a:buNone/>
            </a:pPr>
            <a:r>
              <a:rPr lang="en-US" sz="1300" dirty="0">
                <a:solidFill>
                  <a:srgbClr val="334155"/>
                </a:solidFill>
                <a:latin typeface="Calibri" pitchFamily="34" charset="0"/>
                <a:ea typeface="Calibri" pitchFamily="34" charset="-122"/>
                <a:cs typeface="Calibri" pitchFamily="34" charset="-120"/>
              </a:rPr>
              <a:t>Pathogenic structural variants undergo intense negative purifying selection in human populations (mean gnomAD AF = 0.00012). In contrast, benign variants reach high allele frequencies (mean AF = 0.0418). Proves popgen frequency is a top diagnostic predictor.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METHODOLOGICAL RIGOR</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Feature Engineering and Data Leakage Prevention</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Formulating 24 non-leaking biological features with strict chromosomal holdout validation</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12 of 24</a:t>
            </a:r>
            <a:endParaRPr lang="en-US" sz="1100" dirty="0"/>
          </a:p>
        </p:txBody>
      </p:sp>
      <p:sp>
        <p:nvSpPr>
          <p:cNvPr id="8" name="Shape 6"/>
          <p:cNvSpPr/>
          <p:nvPr/>
        </p:nvSpPr>
        <p:spPr>
          <a:xfrm>
            <a:off x="731520" y="1691640"/>
            <a:ext cx="5166360" cy="4389120"/>
          </a:xfrm>
          <a:prstGeom prst="roundRect">
            <a:avLst>
              <a:gd name="adj" fmla="val 1667"/>
            </a:avLst>
          </a:prstGeom>
          <a:solidFill>
            <a:srgbClr val="FFFFFF"/>
          </a:solidFill>
          <a:ln w="12700">
            <a:solidFill>
              <a:srgbClr val="CBD5E1"/>
            </a:solidFill>
            <a:prstDash val="solid"/>
          </a:ln>
        </p:spPr>
      </p:sp>
      <p:sp>
        <p:nvSpPr>
          <p:cNvPr id="9" name="Text 7"/>
          <p:cNvSpPr/>
          <p:nvPr/>
        </p:nvSpPr>
        <p:spPr>
          <a:xfrm>
            <a:off x="1005840" y="1920240"/>
            <a:ext cx="4617720" cy="256032"/>
          </a:xfrm>
          <a:prstGeom prst="rect">
            <a:avLst/>
          </a:prstGeom>
          <a:noFill/>
          <a:ln/>
        </p:spPr>
        <p:txBody>
          <a:bodyPr wrap="square" rtlCol="0" anchor="ctr"/>
          <a:lstStyle/>
          <a:p>
            <a:pPr marL="0" indent="0">
              <a:buNone/>
            </a:pPr>
            <a:r>
              <a:rPr lang="en-US" sz="1150" b="1" dirty="0">
                <a:solidFill>
                  <a:srgbClr val="2563EB"/>
                </a:solidFill>
                <a:latin typeface="Calibri" pitchFamily="34" charset="0"/>
                <a:ea typeface="Calibri" pitchFamily="34" charset="-122"/>
                <a:cs typeface="Calibri" pitchFamily="34" charset="-120"/>
              </a:rPr>
              <a:t>BIOLOGICALLY-GROUNDED FEATURE VECTOR</a:t>
            </a:r>
            <a:endParaRPr lang="en-US" sz="1150" dirty="0"/>
          </a:p>
        </p:txBody>
      </p:sp>
      <p:sp>
        <p:nvSpPr>
          <p:cNvPr id="10" name="Text 8"/>
          <p:cNvSpPr/>
          <p:nvPr/>
        </p:nvSpPr>
        <p:spPr>
          <a:xfrm>
            <a:off x="1005840" y="2194560"/>
            <a:ext cx="4617720" cy="3657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24 Rigorous Engineering Features</a:t>
            </a:r>
            <a:endParaRPr lang="en-US" sz="1800" dirty="0"/>
          </a:p>
        </p:txBody>
      </p:sp>
      <p:sp>
        <p:nvSpPr>
          <p:cNvPr id="11" name="Shape 9"/>
          <p:cNvSpPr/>
          <p:nvPr/>
        </p:nvSpPr>
        <p:spPr>
          <a:xfrm>
            <a:off x="1005840" y="2606040"/>
            <a:ext cx="4617720" cy="0"/>
          </a:xfrm>
          <a:prstGeom prst="line">
            <a:avLst/>
          </a:prstGeom>
          <a:noFill/>
          <a:ln w="12700">
            <a:solidFill>
              <a:srgbClr val="CBD5E1"/>
            </a:solidFill>
            <a:prstDash val="solid"/>
          </a:ln>
        </p:spPr>
      </p:sp>
      <p:sp>
        <p:nvSpPr>
          <p:cNvPr id="12" name="Text 10"/>
          <p:cNvSpPr/>
          <p:nvPr/>
        </p:nvSpPr>
        <p:spPr>
          <a:xfrm>
            <a:off x="1005840" y="2788920"/>
            <a:ext cx="4617720" cy="731520"/>
          </a:xfrm>
          <a:prstGeom prst="rect">
            <a:avLst/>
          </a:prstGeom>
          <a:noFill/>
          <a:ln/>
        </p:spPr>
        <p:txBody>
          <a:bodyPr wrap="square" lIns="0" tIns="0" rIns="0" bIns="0" rtlCol="0" anchor="ctr"/>
          <a:lstStyle/>
          <a:p>
            <a:pPr marL="0" indent="0">
              <a:lnSpc>
                <a:spcPct val="115000"/>
              </a:lnSpc>
              <a:buNone/>
            </a:pPr>
            <a:r>
              <a:rPr lang="en-US" sz="1250" b="1" dirty="0">
                <a:solidFill>
                  <a:srgbClr val="0F172A"/>
                </a:solidFill>
              </a:rPr>
              <a:t>Population Frequencies (12 features): </a:t>
            </a:r>
            <a:r>
              <a:rPr lang="en-US" sz="1200" dirty="0">
                <a:solidFill>
                  <a:srgbClr val="334155"/>
                </a:solidFill>
              </a:rPr>
              <a:t>gnomAD global AF, PopMax, continental AFs (AFR, AMR, EAS, FIN, NFE, SAS, OTH), hom/het counts.</a:t>
            </a:r>
            <a:endParaRPr lang="en-US" sz="1250" dirty="0"/>
          </a:p>
        </p:txBody>
      </p:sp>
      <p:sp>
        <p:nvSpPr>
          <p:cNvPr id="13" name="Text 11"/>
          <p:cNvSpPr/>
          <p:nvPr/>
        </p:nvSpPr>
        <p:spPr>
          <a:xfrm>
            <a:off x="1005840" y="3566160"/>
            <a:ext cx="4617720" cy="731520"/>
          </a:xfrm>
          <a:prstGeom prst="rect">
            <a:avLst/>
          </a:prstGeom>
          <a:noFill/>
          <a:ln/>
        </p:spPr>
        <p:txBody>
          <a:bodyPr wrap="square" lIns="0" tIns="0" rIns="0" bIns="0" rtlCol="0" anchor="ctr"/>
          <a:lstStyle/>
          <a:p>
            <a:pPr marL="0" indent="0">
              <a:lnSpc>
                <a:spcPct val="115000"/>
              </a:lnSpc>
              <a:buNone/>
            </a:pPr>
            <a:r>
              <a:rPr lang="en-US" sz="1250" b="1" dirty="0">
                <a:solidFill>
                  <a:srgbClr val="0F172A"/>
                </a:solidFill>
              </a:rPr>
              <a:t>Genomic Constraint (4 features): </a:t>
            </a:r>
            <a:r>
              <a:rPr lang="en-US" sz="1200" dirty="0">
                <a:solidFill>
                  <a:srgbClr val="334155"/>
                </a:solidFill>
              </a:rPr>
              <a:t>Gene overlap count, pLI haploinsufficiency score, LOEUF loss-of-function intolerance, coding exon overlap flag.</a:t>
            </a:r>
            <a:endParaRPr lang="en-US" sz="1250" dirty="0"/>
          </a:p>
        </p:txBody>
      </p:sp>
      <p:sp>
        <p:nvSpPr>
          <p:cNvPr id="14" name="Text 12"/>
          <p:cNvSpPr/>
          <p:nvPr/>
        </p:nvSpPr>
        <p:spPr>
          <a:xfrm>
            <a:off x="1005840" y="4343400"/>
            <a:ext cx="4617720" cy="731520"/>
          </a:xfrm>
          <a:prstGeom prst="rect">
            <a:avLst/>
          </a:prstGeom>
          <a:noFill/>
          <a:ln/>
        </p:spPr>
        <p:txBody>
          <a:bodyPr wrap="square" lIns="0" tIns="0" rIns="0" bIns="0" rtlCol="0" anchor="ctr"/>
          <a:lstStyle/>
          <a:p>
            <a:pPr marL="0" indent="0">
              <a:lnSpc>
                <a:spcPct val="115000"/>
              </a:lnSpc>
              <a:buNone/>
            </a:pPr>
            <a:r>
              <a:rPr lang="en-US" sz="1250" b="1" dirty="0">
                <a:solidFill>
                  <a:srgbClr val="0F172A"/>
                </a:solidFill>
              </a:rPr>
              <a:t>Structural Biometrics (4 features): </a:t>
            </a:r>
            <a:r>
              <a:rPr lang="en-US" sz="1200" dirty="0">
                <a:solidFill>
                  <a:srgbClr val="334155"/>
                </a:solidFill>
              </a:rPr>
              <a:t>log10(length), span length bp, SV type one-hot encoding (DEL, DUP, INV, INS).</a:t>
            </a:r>
            <a:endParaRPr lang="en-US" sz="1250" dirty="0"/>
          </a:p>
        </p:txBody>
      </p:sp>
      <p:sp>
        <p:nvSpPr>
          <p:cNvPr id="15" name="Text 13"/>
          <p:cNvSpPr/>
          <p:nvPr/>
        </p:nvSpPr>
        <p:spPr>
          <a:xfrm>
            <a:off x="1005840" y="5120640"/>
            <a:ext cx="4617720" cy="731520"/>
          </a:xfrm>
          <a:prstGeom prst="rect">
            <a:avLst/>
          </a:prstGeom>
          <a:noFill/>
          <a:ln/>
        </p:spPr>
        <p:txBody>
          <a:bodyPr wrap="square" lIns="0" tIns="0" rIns="0" bIns="0" rtlCol="0" anchor="ctr"/>
          <a:lstStyle/>
          <a:p>
            <a:pPr marL="0" indent="0">
              <a:lnSpc>
                <a:spcPct val="115000"/>
              </a:lnSpc>
              <a:buNone/>
            </a:pPr>
            <a:r>
              <a:rPr lang="en-US" sz="1250" b="1" dirty="0">
                <a:solidFill>
                  <a:srgbClr val="0F172A"/>
                </a:solidFill>
              </a:rPr>
              <a:t>Molecular Context (4 features): </a:t>
            </a:r>
            <a:r>
              <a:rPr lang="en-US" sz="1200" dirty="0">
                <a:solidFill>
                  <a:srgbClr val="334155"/>
                </a:solidFill>
              </a:rPr>
              <a:t>GC content isochore, CpG island proximity, repeat element overlap, sequence microhomology.</a:t>
            </a:r>
            <a:endParaRPr lang="en-US" sz="1250" dirty="0"/>
          </a:p>
        </p:txBody>
      </p:sp>
      <p:sp>
        <p:nvSpPr>
          <p:cNvPr id="16" name="Shape 14"/>
          <p:cNvSpPr/>
          <p:nvPr/>
        </p:nvSpPr>
        <p:spPr>
          <a:xfrm>
            <a:off x="6293815" y="1691640"/>
            <a:ext cx="5166360" cy="4389120"/>
          </a:xfrm>
          <a:prstGeom prst="roundRect">
            <a:avLst>
              <a:gd name="adj" fmla="val 1667"/>
            </a:avLst>
          </a:prstGeom>
          <a:solidFill>
            <a:srgbClr val="FFFFFF"/>
          </a:solidFill>
          <a:ln w="12700">
            <a:solidFill>
              <a:srgbClr val="CBD5E1"/>
            </a:solidFill>
            <a:prstDash val="solid"/>
          </a:ln>
        </p:spPr>
      </p:sp>
      <p:sp>
        <p:nvSpPr>
          <p:cNvPr id="17" name="Text 15"/>
          <p:cNvSpPr/>
          <p:nvPr/>
        </p:nvSpPr>
        <p:spPr>
          <a:xfrm>
            <a:off x="6568135" y="1920240"/>
            <a:ext cx="4617720" cy="256032"/>
          </a:xfrm>
          <a:prstGeom prst="rect">
            <a:avLst/>
          </a:prstGeom>
          <a:noFill/>
          <a:ln/>
        </p:spPr>
        <p:txBody>
          <a:bodyPr wrap="square" rtlCol="0" anchor="ctr"/>
          <a:lstStyle/>
          <a:p>
            <a:pPr marL="0" indent="0">
              <a:buNone/>
            </a:pPr>
            <a:r>
              <a:rPr lang="en-US" sz="1150" b="1" dirty="0">
                <a:solidFill>
                  <a:srgbClr val="059669"/>
                </a:solidFill>
                <a:latin typeface="Calibri" pitchFamily="34" charset="0"/>
                <a:ea typeface="Calibri" pitchFamily="34" charset="-122"/>
                <a:cs typeface="Calibri" pitchFamily="34" charset="-120"/>
              </a:rPr>
              <a:t>DATA LEAKAGE PREVENTION</a:t>
            </a:r>
            <a:endParaRPr lang="en-US" sz="1150" dirty="0"/>
          </a:p>
        </p:txBody>
      </p:sp>
      <p:sp>
        <p:nvSpPr>
          <p:cNvPr id="18" name="Text 16"/>
          <p:cNvSpPr/>
          <p:nvPr/>
        </p:nvSpPr>
        <p:spPr>
          <a:xfrm>
            <a:off x="6568135" y="2194560"/>
            <a:ext cx="4617720" cy="3657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Chromosomal Disjoint Holdout (0% Leakage)</a:t>
            </a:r>
            <a:endParaRPr lang="en-US" sz="1800" dirty="0"/>
          </a:p>
        </p:txBody>
      </p:sp>
      <p:sp>
        <p:nvSpPr>
          <p:cNvPr id="19" name="Shape 17"/>
          <p:cNvSpPr/>
          <p:nvPr/>
        </p:nvSpPr>
        <p:spPr>
          <a:xfrm>
            <a:off x="6568135" y="2606040"/>
            <a:ext cx="4617720" cy="0"/>
          </a:xfrm>
          <a:prstGeom prst="line">
            <a:avLst/>
          </a:prstGeom>
          <a:noFill/>
          <a:ln w="12700">
            <a:solidFill>
              <a:srgbClr val="CBD5E1"/>
            </a:solidFill>
            <a:prstDash val="solid"/>
          </a:ln>
        </p:spPr>
      </p:sp>
      <p:sp>
        <p:nvSpPr>
          <p:cNvPr id="20" name="Text 18"/>
          <p:cNvSpPr/>
          <p:nvPr/>
        </p:nvSpPr>
        <p:spPr>
          <a:xfrm>
            <a:off x="6568135" y="2788920"/>
            <a:ext cx="4617720" cy="3063240"/>
          </a:xfrm>
          <a:prstGeom prst="rect">
            <a:avLst/>
          </a:prstGeom>
          <a:noFill/>
          <a:ln/>
        </p:spPr>
        <p:txBody>
          <a:bodyPr wrap="square" lIns="0" tIns="0" rIns="0" bIns="0" rtlCol="0" anchor="ctr"/>
          <a:lstStyle/>
          <a:p>
            <a:pPr marL="0" indent="0">
              <a:lnSpc>
                <a:spcPct val="120000"/>
              </a:lnSpc>
              <a:buNone/>
            </a:pPr>
            <a:r>
              <a:rPr lang="en-US" sz="1300" b="1" dirty="0">
                <a:solidFill>
                  <a:srgbClr val="DC2626"/>
                </a:solidFill>
              </a:rPr>
              <a:t>Flaw of Standard Random Splitting:
</a:t>
            </a:r>
            <a:r>
              <a:rPr lang="en-US" sz="1250" dirty="0">
                <a:solidFill>
                  <a:srgbClr val="334155"/>
                </a:solidFill>
              </a:rPr>
              <a:t>Random 80/20 train/test splits place overlapping variants from the same genomic locus into both train and test sets. Models memorize locus-specific properties, reporting artificially inflated test metrics (PR-AUC &gt; 0.99) that fail on new patients.
</a:t>
            </a:r>
            <a:r>
              <a:rPr lang="en-US" sz="1300" b="1" dirty="0">
                <a:solidFill>
                  <a:srgbClr val="059669"/>
                </a:solidFill>
              </a:rPr>
              <a:t>Our Chromosomal Partitioning Solution:
</a:t>
            </a:r>
            <a:r>
              <a:rPr lang="en-US" sz="1250" dirty="0">
                <a:solidFill>
                  <a:srgbClr val="334155"/>
                </a:solidFill>
              </a:rPr>
              <a:t>• Train Cohort: Chromosomes 1 through 18 (N = 35,414 variants)
</a:t>
            </a:r>
            <a:r>
              <a:rPr lang="en-US" sz="1250" b="1" dirty="0">
                <a:solidFill>
                  <a:srgbClr val="334155"/>
                </a:solidFill>
              </a:rPr>
              <a:t>• Holdout Test Cohort: Chromosomes 19, 20, 21, 22, X, Y (N = 8,854 variants)
</a:t>
            </a:r>
            <a:r>
              <a:rPr lang="en-US" sz="1250" b="1" dirty="0">
                <a:solidFill>
                  <a:srgbClr val="0F172A"/>
                </a:solidFill>
              </a:rPr>
              <a:t>Guarantees 0.0% locus overlap and zero linkage disequilibrium leakage.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MODEL ZOO</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Machine Learning and Deep Learning Models</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Comparing tree-based ensembles with continuous PyTorch Tabular ResNet architectures</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13 of 24</a:t>
            </a:r>
            <a:endParaRPr lang="en-US" sz="1100" dirty="0"/>
          </a:p>
        </p:txBody>
      </p:sp>
      <p:sp>
        <p:nvSpPr>
          <p:cNvPr id="8" name="Shape 6"/>
          <p:cNvSpPr/>
          <p:nvPr/>
        </p:nvSpPr>
        <p:spPr>
          <a:xfrm>
            <a:off x="731520" y="1691640"/>
            <a:ext cx="5166360" cy="4389120"/>
          </a:xfrm>
          <a:prstGeom prst="roundRect">
            <a:avLst>
              <a:gd name="adj" fmla="val 1667"/>
            </a:avLst>
          </a:prstGeom>
          <a:solidFill>
            <a:srgbClr val="FFFFFF"/>
          </a:solidFill>
          <a:ln w="12700">
            <a:solidFill>
              <a:srgbClr val="CBD5E1"/>
            </a:solidFill>
            <a:prstDash val="solid"/>
          </a:ln>
        </p:spPr>
      </p:sp>
      <p:sp>
        <p:nvSpPr>
          <p:cNvPr id="9" name="Text 7"/>
          <p:cNvSpPr/>
          <p:nvPr/>
        </p:nvSpPr>
        <p:spPr>
          <a:xfrm>
            <a:off x="1005840" y="1920240"/>
            <a:ext cx="4617720" cy="256032"/>
          </a:xfrm>
          <a:prstGeom prst="rect">
            <a:avLst/>
          </a:prstGeom>
          <a:noFill/>
          <a:ln/>
        </p:spPr>
        <p:txBody>
          <a:bodyPr wrap="square" rtlCol="0" anchor="ctr"/>
          <a:lstStyle/>
          <a:p>
            <a:pPr marL="0" indent="0">
              <a:buNone/>
            </a:pPr>
            <a:r>
              <a:rPr lang="en-US" sz="1100" b="1" dirty="0">
                <a:solidFill>
                  <a:srgbClr val="2563EB"/>
                </a:solidFill>
                <a:latin typeface="Calibri" pitchFamily="34" charset="0"/>
                <a:ea typeface="Calibri" pitchFamily="34" charset="-122"/>
                <a:cs typeface="Calibri" pitchFamily="34" charset="-120"/>
              </a:rPr>
              <a:t>CLASSICAL GRADIENT BOOSTING BASELINES</a:t>
            </a:r>
            <a:endParaRPr lang="en-US" sz="1100" dirty="0"/>
          </a:p>
        </p:txBody>
      </p:sp>
      <p:sp>
        <p:nvSpPr>
          <p:cNvPr id="10" name="Text 8"/>
          <p:cNvSpPr/>
          <p:nvPr/>
        </p:nvSpPr>
        <p:spPr>
          <a:xfrm>
            <a:off x="1005840" y="2194560"/>
            <a:ext cx="4617720"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Tree Ensembles (XGBoost, LightGBM)</a:t>
            </a:r>
            <a:endParaRPr lang="en-US" sz="1700" dirty="0"/>
          </a:p>
        </p:txBody>
      </p:sp>
      <p:sp>
        <p:nvSpPr>
          <p:cNvPr id="11" name="Shape 9"/>
          <p:cNvSpPr/>
          <p:nvPr/>
        </p:nvSpPr>
        <p:spPr>
          <a:xfrm>
            <a:off x="1005840" y="2606040"/>
            <a:ext cx="4617720" cy="0"/>
          </a:xfrm>
          <a:prstGeom prst="line">
            <a:avLst/>
          </a:prstGeom>
          <a:noFill/>
          <a:ln w="12700">
            <a:solidFill>
              <a:srgbClr val="CBD5E1"/>
            </a:solidFill>
            <a:prstDash val="solid"/>
          </a:ln>
        </p:spPr>
      </p:sp>
      <p:sp>
        <p:nvSpPr>
          <p:cNvPr id="12" name="Text 10"/>
          <p:cNvSpPr/>
          <p:nvPr/>
        </p:nvSpPr>
        <p:spPr>
          <a:xfrm>
            <a:off x="1005840" y="2788920"/>
            <a:ext cx="4617720" cy="3063240"/>
          </a:xfrm>
          <a:prstGeom prst="rect">
            <a:avLst/>
          </a:prstGeom>
          <a:noFill/>
          <a:ln/>
        </p:spPr>
        <p:txBody>
          <a:bodyPr wrap="square" lIns="0" tIns="0" rIns="0" bIns="0" rtlCol="0" anchor="ctr"/>
          <a:lstStyle/>
          <a:p>
            <a:pPr marL="0" indent="0">
              <a:lnSpc>
                <a:spcPct val="120000"/>
              </a:lnSpc>
              <a:buNone/>
            </a:pPr>
            <a:r>
              <a:rPr lang="en-US" sz="1250" b="1" dirty="0">
                <a:solidFill>
                  <a:srgbClr val="0F172A"/>
                </a:solidFill>
              </a:rPr>
              <a:t>• XGBoost: </a:t>
            </a:r>
            <a:r>
              <a:rPr lang="en-US" sz="1250" dirty="0">
                <a:solidFill>
                  <a:srgbClr val="334155"/>
                </a:solidFill>
              </a:rPr>
              <a:t>Depth-wise tree growth with column subsampling and scale_pos_weight = 3.35 to counter class imbalance.
</a:t>
            </a:r>
            <a:r>
              <a:rPr lang="en-US" sz="1250" b="1" dirty="0">
                <a:solidFill>
                  <a:srgbClr val="0F172A"/>
                </a:solidFill>
              </a:rPr>
              <a:t>• LightGBM: </a:t>
            </a:r>
            <a:r>
              <a:rPr lang="en-US" sz="1250" dirty="0">
                <a:solidFill>
                  <a:srgbClr val="334155"/>
                </a:solidFill>
              </a:rPr>
              <a:t>Leaf-wise tree growth optimizing histogram bins for fast training.
</a:t>
            </a:r>
            <a:r>
              <a:rPr lang="en-US" sz="1250" b="1" dirty="0">
                <a:solidFill>
                  <a:srgbClr val="0F172A"/>
                </a:solidFill>
              </a:rPr>
              <a:t>• Random Forest &amp; Logistic Regression: </a:t>
            </a:r>
            <a:r>
              <a:rPr lang="en-US" sz="1250" dirty="0">
                <a:solidFill>
                  <a:srgbClr val="334155"/>
                </a:solidFill>
              </a:rPr>
              <a:t>Standard bagging and linear L2 regularization baselines.
</a:t>
            </a:r>
            <a:r>
              <a:rPr lang="en-US" sz="1250" b="1" dirty="0">
                <a:solidFill>
                  <a:srgbClr val="D97706"/>
                </a:solidFill>
              </a:rPr>
              <a:t>Limitation: </a:t>
            </a:r>
            <a:r>
              <a:rPr lang="en-US" sz="1250" dirty="0">
                <a:solidFill>
                  <a:srgbClr val="334155"/>
                </a:solidFill>
              </a:rPr>
              <a:t>Axis-aligned orthogonal splits struggle to model continuous exponential allele frequency decays.</a:t>
            </a:r>
            <a:endParaRPr lang="en-US" sz="1250" dirty="0"/>
          </a:p>
        </p:txBody>
      </p:sp>
      <p:sp>
        <p:nvSpPr>
          <p:cNvPr id="13" name="Shape 11"/>
          <p:cNvSpPr/>
          <p:nvPr/>
        </p:nvSpPr>
        <p:spPr>
          <a:xfrm>
            <a:off x="6293815" y="1691640"/>
            <a:ext cx="5166360" cy="4389120"/>
          </a:xfrm>
          <a:prstGeom prst="roundRect">
            <a:avLst>
              <a:gd name="adj" fmla="val 1667"/>
            </a:avLst>
          </a:prstGeom>
          <a:solidFill>
            <a:srgbClr val="FFFFFF"/>
          </a:solidFill>
          <a:ln w="12700">
            <a:solidFill>
              <a:srgbClr val="CBD5E1"/>
            </a:solidFill>
            <a:prstDash val="solid"/>
          </a:ln>
        </p:spPr>
      </p:sp>
      <p:sp>
        <p:nvSpPr>
          <p:cNvPr id="14" name="Text 12"/>
          <p:cNvSpPr/>
          <p:nvPr/>
        </p:nvSpPr>
        <p:spPr>
          <a:xfrm>
            <a:off x="6568135" y="1920240"/>
            <a:ext cx="4617720" cy="256032"/>
          </a:xfrm>
          <a:prstGeom prst="rect">
            <a:avLst/>
          </a:prstGeom>
          <a:noFill/>
          <a:ln/>
        </p:spPr>
        <p:txBody>
          <a:bodyPr wrap="square"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DEEP LEARNING INNOVATION</a:t>
            </a:r>
            <a:endParaRPr lang="en-US" sz="1100" dirty="0"/>
          </a:p>
        </p:txBody>
      </p:sp>
      <p:sp>
        <p:nvSpPr>
          <p:cNvPr id="15" name="Text 13"/>
          <p:cNvSpPr/>
          <p:nvPr/>
        </p:nvSpPr>
        <p:spPr>
          <a:xfrm>
            <a:off x="6568135" y="2194560"/>
            <a:ext cx="4617720"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PyTorch Tabular ResNet Architecture</a:t>
            </a:r>
            <a:endParaRPr lang="en-US" sz="1700" dirty="0"/>
          </a:p>
        </p:txBody>
      </p:sp>
      <p:sp>
        <p:nvSpPr>
          <p:cNvPr id="16" name="Shape 14"/>
          <p:cNvSpPr/>
          <p:nvPr/>
        </p:nvSpPr>
        <p:spPr>
          <a:xfrm>
            <a:off x="6568135" y="2606040"/>
            <a:ext cx="4617720" cy="0"/>
          </a:xfrm>
          <a:prstGeom prst="line">
            <a:avLst/>
          </a:prstGeom>
          <a:noFill/>
          <a:ln w="12700">
            <a:solidFill>
              <a:srgbClr val="CBD5E1"/>
            </a:solidFill>
            <a:prstDash val="solid"/>
          </a:ln>
        </p:spPr>
      </p:sp>
      <p:sp>
        <p:nvSpPr>
          <p:cNvPr id="17" name="Text 15"/>
          <p:cNvSpPr/>
          <p:nvPr/>
        </p:nvSpPr>
        <p:spPr>
          <a:xfrm>
            <a:off x="6568135" y="2788920"/>
            <a:ext cx="4617720" cy="3063240"/>
          </a:xfrm>
          <a:prstGeom prst="rect">
            <a:avLst/>
          </a:prstGeom>
          <a:noFill/>
          <a:ln/>
        </p:spPr>
        <p:txBody>
          <a:bodyPr wrap="square" lIns="0" tIns="0" rIns="0" bIns="0" rtlCol="0" anchor="ctr"/>
          <a:lstStyle/>
          <a:p>
            <a:pPr marL="0" indent="0">
              <a:lnSpc>
                <a:spcPct val="120000"/>
              </a:lnSpc>
              <a:buNone/>
            </a:pPr>
            <a:r>
              <a:rPr lang="en-US" sz="1250" b="1" dirty="0">
                <a:solidFill>
                  <a:srgbClr val="0F172A"/>
                </a:solidFill>
              </a:rPr>
              <a:t>• Input Projection: </a:t>
            </a:r>
            <a:r>
              <a:rPr lang="en-US" sz="1250" dirty="0">
                <a:solidFill>
                  <a:srgbClr val="334155"/>
                </a:solidFill>
              </a:rPr>
              <a:t>Dense Linear layer (24 -&gt; 128) + LayerNorm + GeLU continuous non-linear activation.
</a:t>
            </a:r>
            <a:r>
              <a:rPr lang="en-US" sz="1250" b="1" dirty="0">
                <a:solidFill>
                  <a:srgbClr val="0F172A"/>
                </a:solidFill>
              </a:rPr>
              <a:t>• Residual Skip Connections: </a:t>
            </a:r>
            <a:r>
              <a:rPr lang="en-US" sz="1250" dirty="0">
                <a:solidFill>
                  <a:srgbClr val="334155"/>
                </a:solidFill>
              </a:rPr>
              <a:t>Two stacked ResBlocks where x_{l+1} = x_l + F(x_l). Enables smooth gradient flow across dense genomic feature interactions.
</a:t>
            </a:r>
            <a:r>
              <a:rPr lang="en-US" sz="1250" b="1" dirty="0">
                <a:solidFill>
                  <a:srgbClr val="0F172A"/>
                </a:solidFill>
              </a:rPr>
              <a:t>• Regularization &amp; Head: </a:t>
            </a:r>
            <a:r>
              <a:rPr lang="en-US" sz="1250" dirty="0">
                <a:solidFill>
                  <a:srgbClr val="334155"/>
                </a:solidFill>
              </a:rPr>
              <a:t>Dropout (0.20) + Cosine Annealing learning rate schedule + Sigmoid output head in [0, 1].</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ADVANCED METHODOLOGIES</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Multimodal Learning and Explainable AI</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Cross-attention fusion between population genetics, DNA sequence fragility, and TreeSHAP</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14 of 24</a:t>
            </a:r>
            <a:endParaRPr lang="en-US" sz="1100" dirty="0"/>
          </a:p>
        </p:txBody>
      </p:sp>
      <p:sp>
        <p:nvSpPr>
          <p:cNvPr id="8" name="Shape 6"/>
          <p:cNvSpPr/>
          <p:nvPr/>
        </p:nvSpPr>
        <p:spPr>
          <a:xfrm>
            <a:off x="731520" y="1691640"/>
            <a:ext cx="5166360" cy="4389120"/>
          </a:xfrm>
          <a:prstGeom prst="roundRect">
            <a:avLst>
              <a:gd name="adj" fmla="val 1667"/>
            </a:avLst>
          </a:prstGeom>
          <a:solidFill>
            <a:srgbClr val="FFFFFF"/>
          </a:solidFill>
          <a:ln w="12700">
            <a:solidFill>
              <a:srgbClr val="CBD5E1"/>
            </a:solidFill>
            <a:prstDash val="solid"/>
          </a:ln>
        </p:spPr>
      </p:sp>
      <p:sp>
        <p:nvSpPr>
          <p:cNvPr id="9" name="Text 7"/>
          <p:cNvSpPr/>
          <p:nvPr/>
        </p:nvSpPr>
        <p:spPr>
          <a:xfrm>
            <a:off x="1005840" y="1920240"/>
            <a:ext cx="4617720" cy="256032"/>
          </a:xfrm>
          <a:prstGeom prst="rect">
            <a:avLst/>
          </a:prstGeom>
          <a:noFill/>
          <a:ln/>
        </p:spPr>
        <p:txBody>
          <a:bodyPr wrap="square"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MULTIMODAL NEURAL ARCHITECTURE</a:t>
            </a:r>
            <a:endParaRPr lang="en-US" sz="1100" dirty="0"/>
          </a:p>
        </p:txBody>
      </p:sp>
      <p:sp>
        <p:nvSpPr>
          <p:cNvPr id="10" name="Text 8"/>
          <p:cNvSpPr/>
          <p:nvPr/>
        </p:nvSpPr>
        <p:spPr>
          <a:xfrm>
            <a:off x="1005840" y="2194560"/>
            <a:ext cx="4617720"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Sequence + 5mC Cross-Attention</a:t>
            </a:r>
            <a:endParaRPr lang="en-US" sz="1700" dirty="0"/>
          </a:p>
        </p:txBody>
      </p:sp>
      <p:sp>
        <p:nvSpPr>
          <p:cNvPr id="11" name="Shape 9"/>
          <p:cNvSpPr/>
          <p:nvPr/>
        </p:nvSpPr>
        <p:spPr>
          <a:xfrm>
            <a:off x="1005840" y="2606040"/>
            <a:ext cx="4617720" cy="0"/>
          </a:xfrm>
          <a:prstGeom prst="line">
            <a:avLst/>
          </a:prstGeom>
          <a:noFill/>
          <a:ln w="12700">
            <a:solidFill>
              <a:srgbClr val="CBD5E1"/>
            </a:solidFill>
            <a:prstDash val="solid"/>
          </a:ln>
        </p:spPr>
      </p:sp>
      <p:sp>
        <p:nvSpPr>
          <p:cNvPr id="12" name="Text 10"/>
          <p:cNvSpPr/>
          <p:nvPr/>
        </p:nvSpPr>
        <p:spPr>
          <a:xfrm>
            <a:off x="1005840" y="2788920"/>
            <a:ext cx="4617720" cy="3063240"/>
          </a:xfrm>
          <a:prstGeom prst="rect">
            <a:avLst/>
          </a:prstGeom>
          <a:noFill/>
          <a:ln/>
        </p:spPr>
        <p:txBody>
          <a:bodyPr wrap="square" lIns="0" tIns="0" rIns="0" bIns="0" rtlCol="0" anchor="ctr"/>
          <a:lstStyle/>
          <a:p>
            <a:pPr marL="0" indent="0">
              <a:lnSpc>
                <a:spcPct val="120000"/>
              </a:lnSpc>
              <a:buNone/>
            </a:pPr>
            <a:r>
              <a:rPr lang="en-US" sz="1200" b="1" dirty="0">
                <a:solidFill>
                  <a:srgbClr val="0F172A"/>
                </a:solidFill>
              </a:rPr>
              <a:t>• Branch 1 (PopGen Vector, 24-dim): </a:t>
            </a:r>
            <a:r>
              <a:rPr lang="en-US" sz="1200" dirty="0">
                <a:solidFill>
                  <a:srgbClr val="334155"/>
                </a:solidFill>
              </a:rPr>
              <a:t>Encodes allele frequencies and pLI constraint scores.
</a:t>
            </a:r>
            <a:r>
              <a:rPr lang="en-US" sz="1200" b="1" dirty="0">
                <a:solidFill>
                  <a:srgbClr val="0F172A"/>
                </a:solidFill>
              </a:rPr>
              <a:t>• Branch 2 (Biophysics &amp; 5mC, 6-dim): </a:t>
            </a:r>
            <a:r>
              <a:rPr lang="en-US" sz="1200" dirty="0">
                <a:solidFill>
                  <a:srgbClr val="334155"/>
                </a:solidFill>
              </a:rPr>
              <a:t>Encodes GC content, CpG islands, MMEJ microhomology, and Oxford Nanopore 5mC methylation disruption.
</a:t>
            </a:r>
            <a:r>
              <a:rPr lang="en-US" sz="1200" b="1" dirty="0">
                <a:solidFill>
                  <a:srgbClr val="7C3AED"/>
                </a:solidFill>
              </a:rPr>
              <a:t>• Cross-Attention Fusion: </a:t>
            </a:r>
            <a:r>
              <a:rPr lang="en-US" sz="1200" dirty="0">
                <a:solidFill>
                  <a:srgbClr val="334155"/>
                </a:solidFill>
              </a:rPr>
              <a:t>Scaled dot-product attention softmax(Q K^T / sqrt(d)) V weights sequence vulnerability by population rarity.</a:t>
            </a:r>
            <a:endParaRPr lang="en-US" sz="1200" dirty="0"/>
          </a:p>
        </p:txBody>
      </p:sp>
      <p:sp>
        <p:nvSpPr>
          <p:cNvPr id="13" name="Shape 11"/>
          <p:cNvSpPr/>
          <p:nvPr/>
        </p:nvSpPr>
        <p:spPr>
          <a:xfrm>
            <a:off x="6293815" y="1691640"/>
            <a:ext cx="5166360" cy="4389120"/>
          </a:xfrm>
          <a:prstGeom prst="roundRect">
            <a:avLst>
              <a:gd name="adj" fmla="val 1667"/>
            </a:avLst>
          </a:prstGeom>
          <a:solidFill>
            <a:srgbClr val="FFFFFF"/>
          </a:solidFill>
          <a:ln w="12700">
            <a:solidFill>
              <a:srgbClr val="CBD5E1"/>
            </a:solidFill>
            <a:prstDash val="solid"/>
          </a:ln>
        </p:spPr>
      </p:sp>
      <p:sp>
        <p:nvSpPr>
          <p:cNvPr id="14" name="Text 12"/>
          <p:cNvSpPr/>
          <p:nvPr/>
        </p:nvSpPr>
        <p:spPr>
          <a:xfrm>
            <a:off x="6568135" y="1920240"/>
            <a:ext cx="4617720" cy="256032"/>
          </a:xfrm>
          <a:prstGeom prst="rect">
            <a:avLst/>
          </a:prstGeom>
          <a:noFill/>
          <a:ln/>
        </p:spPr>
        <p:txBody>
          <a:bodyPr wrap="square" rtlCol="0" anchor="ctr"/>
          <a:lstStyle/>
          <a:p>
            <a:pPr marL="0" indent="0">
              <a:buNone/>
            </a:pPr>
            <a:r>
              <a:rPr lang="en-US" sz="1100" b="1" dirty="0">
                <a:solidFill>
                  <a:srgbClr val="059669"/>
                </a:solidFill>
                <a:latin typeface="Calibri" pitchFamily="34" charset="0"/>
                <a:ea typeface="Calibri" pitchFamily="34" charset="-122"/>
                <a:cs typeface="Calibri" pitchFamily="34" charset="-120"/>
              </a:rPr>
              <a:t>EXPLAINABLE AI ENGINE</a:t>
            </a:r>
            <a:endParaRPr lang="en-US" sz="1100" dirty="0"/>
          </a:p>
        </p:txBody>
      </p:sp>
      <p:sp>
        <p:nvSpPr>
          <p:cNvPr id="15" name="Text 13"/>
          <p:cNvSpPr/>
          <p:nvPr/>
        </p:nvSpPr>
        <p:spPr>
          <a:xfrm>
            <a:off x="6568135" y="2194560"/>
            <a:ext cx="4617720"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TreeSHAP Local &amp; Global Attributions</a:t>
            </a:r>
            <a:endParaRPr lang="en-US" sz="1700" dirty="0"/>
          </a:p>
        </p:txBody>
      </p:sp>
      <p:sp>
        <p:nvSpPr>
          <p:cNvPr id="16" name="Shape 14"/>
          <p:cNvSpPr/>
          <p:nvPr/>
        </p:nvSpPr>
        <p:spPr>
          <a:xfrm>
            <a:off x="6568135" y="2606040"/>
            <a:ext cx="4617720" cy="0"/>
          </a:xfrm>
          <a:prstGeom prst="line">
            <a:avLst/>
          </a:prstGeom>
          <a:noFill/>
          <a:ln w="12700">
            <a:solidFill>
              <a:srgbClr val="CBD5E1"/>
            </a:solidFill>
            <a:prstDash val="solid"/>
          </a:ln>
        </p:spPr>
      </p:sp>
      <p:sp>
        <p:nvSpPr>
          <p:cNvPr id="17" name="Text 15"/>
          <p:cNvSpPr/>
          <p:nvPr/>
        </p:nvSpPr>
        <p:spPr>
          <a:xfrm>
            <a:off x="6568135" y="2788920"/>
            <a:ext cx="4617720" cy="3063240"/>
          </a:xfrm>
          <a:prstGeom prst="rect">
            <a:avLst/>
          </a:prstGeom>
          <a:noFill/>
          <a:ln/>
        </p:spPr>
        <p:txBody>
          <a:bodyPr wrap="square" lIns="0" tIns="0" rIns="0" bIns="0" rtlCol="0" anchor="ctr"/>
          <a:lstStyle/>
          <a:p>
            <a:pPr marL="0" indent="0">
              <a:lnSpc>
                <a:spcPct val="120000"/>
              </a:lnSpc>
              <a:buNone/>
            </a:pPr>
            <a:r>
              <a:rPr lang="en-US" sz="1200" b="1" dirty="0">
                <a:solidFill>
                  <a:srgbClr val="0F172A"/>
                </a:solidFill>
              </a:rPr>
              <a:t>• Game-Theoretic Shapley Values: </a:t>
            </a:r>
            <a:r>
              <a:rPr lang="en-US" sz="1200" dirty="0">
                <a:solidFill>
                  <a:srgbClr val="334155"/>
                </a:solidFill>
              </a:rPr>
              <a:t>Guarantees fair distribution of marginal contributions across biological features.
</a:t>
            </a:r>
            <a:r>
              <a:rPr lang="en-US" sz="1200" b="1" dirty="0">
                <a:solidFill>
                  <a:srgbClr val="0F172A"/>
                </a:solidFill>
              </a:rPr>
              <a:t>• Global Impact Ranking: </a:t>
            </a:r>
            <a:r>
              <a:rPr lang="en-US" sz="1200" dirty="0">
                <a:solidFill>
                  <a:srgbClr val="334155"/>
                </a:solidFill>
              </a:rPr>
              <a:t>Identifies gnomad_af, gene_overlap_count, and pli_constraint as top global drivers across 44k variants.
</a:t>
            </a:r>
            <a:r>
              <a:rPr lang="en-US" sz="1200" b="1" dirty="0">
                <a:solidFill>
                  <a:srgbClr val="059669"/>
                </a:solidFill>
              </a:rPr>
              <a:t>• Individual Patient Waterfalls: </a:t>
            </a:r>
            <a:r>
              <a:rPr lang="en-US" sz="1200" dirty="0">
                <a:solidFill>
                  <a:srgbClr val="334155"/>
                </a:solidFill>
              </a:rPr>
              <a:t>Computes exact feature-level attribution vectors for every prioritized candidate variant.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EVALUATION PROTOCOL</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Experimental Setup and Evaluation Metrics</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Rigorous benchmarking setup and clinical metrics for imbalanced genomic cohorts</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15 of 24</a:t>
            </a:r>
            <a:endParaRPr lang="en-US" sz="1100" dirty="0"/>
          </a:p>
        </p:txBody>
      </p:sp>
      <p:sp>
        <p:nvSpPr>
          <p:cNvPr id="8" name="Shape 6"/>
          <p:cNvSpPr/>
          <p:nvPr/>
        </p:nvSpPr>
        <p:spPr>
          <a:xfrm>
            <a:off x="731520" y="1691640"/>
            <a:ext cx="3393338" cy="4389120"/>
          </a:xfrm>
          <a:prstGeom prst="roundRect">
            <a:avLst>
              <a:gd name="adj" fmla="val 2156"/>
            </a:avLst>
          </a:prstGeom>
          <a:solidFill>
            <a:srgbClr val="FFFFFF"/>
          </a:solidFill>
          <a:ln w="12700">
            <a:solidFill>
              <a:srgbClr val="CBD5E1"/>
            </a:solidFill>
            <a:prstDash val="solid"/>
          </a:ln>
        </p:spPr>
      </p:sp>
      <p:sp>
        <p:nvSpPr>
          <p:cNvPr id="9" name="Text 7"/>
          <p:cNvSpPr/>
          <p:nvPr/>
        </p:nvSpPr>
        <p:spPr>
          <a:xfrm>
            <a:off x="1005840" y="1965960"/>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Holdout Test Cohort</a:t>
            </a:r>
            <a:endParaRPr lang="en-US" sz="1800" dirty="0"/>
          </a:p>
        </p:txBody>
      </p:sp>
      <p:sp>
        <p:nvSpPr>
          <p:cNvPr id="10" name="Text 8"/>
          <p:cNvSpPr/>
          <p:nvPr/>
        </p:nvSpPr>
        <p:spPr>
          <a:xfrm>
            <a:off x="1005840" y="2560320"/>
            <a:ext cx="2844698" cy="256032"/>
          </a:xfrm>
          <a:prstGeom prst="rect">
            <a:avLst/>
          </a:prstGeom>
          <a:noFill/>
          <a:ln/>
        </p:spPr>
        <p:txBody>
          <a:bodyPr wrap="square" lIns="0" tIns="0" rIns="0" bIns="0" rtlCol="0" anchor="ctr"/>
          <a:lstStyle/>
          <a:p>
            <a:pPr marL="0" indent="0">
              <a:buNone/>
            </a:pPr>
            <a:r>
              <a:rPr lang="en-US" sz="1250" b="1" dirty="0">
                <a:solidFill>
                  <a:srgbClr val="2563EB"/>
                </a:solidFill>
                <a:latin typeface="Calibri" pitchFamily="34" charset="0"/>
                <a:ea typeface="Calibri" pitchFamily="34" charset="-122"/>
                <a:cs typeface="Calibri" pitchFamily="34" charset="-120"/>
              </a:rPr>
              <a:t>Chr 19–22, X, Y (N = 8,854)</a:t>
            </a:r>
            <a:endParaRPr lang="en-US" sz="1250" dirty="0"/>
          </a:p>
        </p:txBody>
      </p:sp>
      <p:sp>
        <p:nvSpPr>
          <p:cNvPr id="11" name="Shape 9"/>
          <p:cNvSpPr/>
          <p:nvPr/>
        </p:nvSpPr>
        <p:spPr>
          <a:xfrm>
            <a:off x="1005840" y="2880360"/>
            <a:ext cx="2844698" cy="0"/>
          </a:xfrm>
          <a:prstGeom prst="line">
            <a:avLst/>
          </a:prstGeom>
          <a:noFill/>
          <a:ln w="12700">
            <a:solidFill>
              <a:srgbClr val="CBD5E1"/>
            </a:solidFill>
            <a:prstDash val="solid"/>
          </a:ln>
        </p:spPr>
      </p:sp>
      <p:sp>
        <p:nvSpPr>
          <p:cNvPr id="12" name="Text 10"/>
          <p:cNvSpPr/>
          <p:nvPr/>
        </p:nvSpPr>
        <p:spPr>
          <a:xfrm>
            <a:off x="1005840" y="3063240"/>
            <a:ext cx="2844698" cy="2743200"/>
          </a:xfrm>
          <a:prstGeom prst="rect">
            <a:avLst/>
          </a:prstGeom>
          <a:noFill/>
          <a:ln/>
        </p:spPr>
        <p:txBody>
          <a:bodyPr wrap="square" lIns="0" tIns="0" rIns="0" bIns="0" rtlCol="0" anchor="ctr"/>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All models were evaluated strictly on unseen holdout chromosomes containing 8,854 variants (7,326 pathogenic, 1,528 benign; 4.8:1 imbalance ratio). Zero overlap with training chromosomes.</a:t>
            </a:r>
            <a:endParaRPr lang="en-US" sz="1350" dirty="0"/>
          </a:p>
        </p:txBody>
      </p:sp>
      <p:sp>
        <p:nvSpPr>
          <p:cNvPr id="13" name="Shape 11"/>
          <p:cNvSpPr/>
          <p:nvPr/>
        </p:nvSpPr>
        <p:spPr>
          <a:xfrm>
            <a:off x="4399178" y="1691640"/>
            <a:ext cx="3393338" cy="4389120"/>
          </a:xfrm>
          <a:prstGeom prst="roundRect">
            <a:avLst>
              <a:gd name="adj" fmla="val 2156"/>
            </a:avLst>
          </a:prstGeom>
          <a:solidFill>
            <a:srgbClr val="FFFFFF"/>
          </a:solidFill>
          <a:ln w="12700">
            <a:solidFill>
              <a:srgbClr val="CBD5E1"/>
            </a:solidFill>
            <a:prstDash val="solid"/>
          </a:ln>
        </p:spPr>
      </p:sp>
      <p:sp>
        <p:nvSpPr>
          <p:cNvPr id="14" name="Text 12"/>
          <p:cNvSpPr/>
          <p:nvPr/>
        </p:nvSpPr>
        <p:spPr>
          <a:xfrm>
            <a:off x="4673498" y="1965960"/>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Primary Ranking Metrics</a:t>
            </a:r>
            <a:endParaRPr lang="en-US" sz="1800" dirty="0"/>
          </a:p>
        </p:txBody>
      </p:sp>
      <p:sp>
        <p:nvSpPr>
          <p:cNvPr id="15" name="Text 13"/>
          <p:cNvSpPr/>
          <p:nvPr/>
        </p:nvSpPr>
        <p:spPr>
          <a:xfrm>
            <a:off x="4673498" y="2560320"/>
            <a:ext cx="2844698" cy="256032"/>
          </a:xfrm>
          <a:prstGeom prst="rect">
            <a:avLst/>
          </a:prstGeom>
          <a:noFill/>
          <a:ln/>
        </p:spPr>
        <p:txBody>
          <a:bodyPr wrap="square" lIns="0" tIns="0" rIns="0" bIns="0" rtlCol="0" anchor="ctr"/>
          <a:lstStyle/>
          <a:p>
            <a:pPr marL="0" indent="0">
              <a:buNone/>
            </a:pPr>
            <a:r>
              <a:rPr lang="en-US" sz="1250" b="1" dirty="0">
                <a:solidFill>
                  <a:srgbClr val="7C3AED"/>
                </a:solidFill>
                <a:latin typeface="Calibri" pitchFamily="34" charset="0"/>
                <a:ea typeface="Calibri" pitchFamily="34" charset="-122"/>
                <a:cs typeface="Calibri" pitchFamily="34" charset="-120"/>
              </a:rPr>
              <a:t>PR-AUC &amp; ROC-AUC</a:t>
            </a:r>
            <a:endParaRPr lang="en-US" sz="1250" dirty="0"/>
          </a:p>
        </p:txBody>
      </p:sp>
      <p:sp>
        <p:nvSpPr>
          <p:cNvPr id="16" name="Shape 14"/>
          <p:cNvSpPr/>
          <p:nvPr/>
        </p:nvSpPr>
        <p:spPr>
          <a:xfrm>
            <a:off x="4673498" y="2880360"/>
            <a:ext cx="2844698" cy="0"/>
          </a:xfrm>
          <a:prstGeom prst="line">
            <a:avLst/>
          </a:prstGeom>
          <a:noFill/>
          <a:ln w="12700">
            <a:solidFill>
              <a:srgbClr val="CBD5E1"/>
            </a:solidFill>
            <a:prstDash val="solid"/>
          </a:ln>
        </p:spPr>
      </p:sp>
      <p:sp>
        <p:nvSpPr>
          <p:cNvPr id="17" name="Text 15"/>
          <p:cNvSpPr/>
          <p:nvPr/>
        </p:nvSpPr>
        <p:spPr>
          <a:xfrm>
            <a:off x="4673498" y="3063240"/>
            <a:ext cx="2844698" cy="2743200"/>
          </a:xfrm>
          <a:prstGeom prst="rect">
            <a:avLst/>
          </a:prstGeom>
          <a:noFill/>
          <a:ln/>
        </p:spPr>
        <p:txBody>
          <a:bodyPr wrap="square" lIns="0" tIns="0" rIns="0" bIns="0" rtlCol="0" anchor="ctr"/>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PR-AUC (Precision-Recall Area Under Curve / Average Precision) serves as the primary metric under class imbalance. ROC-AUC measures true positive rate vs false alarm rate across all operational cutoffs.</a:t>
            </a:r>
            <a:endParaRPr lang="en-US" sz="1350" dirty="0"/>
          </a:p>
        </p:txBody>
      </p:sp>
      <p:sp>
        <p:nvSpPr>
          <p:cNvPr id="18" name="Shape 16"/>
          <p:cNvSpPr/>
          <p:nvPr/>
        </p:nvSpPr>
        <p:spPr>
          <a:xfrm>
            <a:off x="8066837" y="1691640"/>
            <a:ext cx="3393338" cy="4389120"/>
          </a:xfrm>
          <a:prstGeom prst="roundRect">
            <a:avLst>
              <a:gd name="adj" fmla="val 2156"/>
            </a:avLst>
          </a:prstGeom>
          <a:solidFill>
            <a:srgbClr val="FFFFFF"/>
          </a:solidFill>
          <a:ln w="12700">
            <a:solidFill>
              <a:srgbClr val="CBD5E1"/>
            </a:solidFill>
            <a:prstDash val="solid"/>
          </a:ln>
        </p:spPr>
      </p:sp>
      <p:sp>
        <p:nvSpPr>
          <p:cNvPr id="19" name="Text 17"/>
          <p:cNvSpPr/>
          <p:nvPr/>
        </p:nvSpPr>
        <p:spPr>
          <a:xfrm>
            <a:off x="8341157" y="1965960"/>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Clinical Safety Metrics</a:t>
            </a:r>
            <a:endParaRPr lang="en-US" sz="1800" dirty="0"/>
          </a:p>
        </p:txBody>
      </p:sp>
      <p:sp>
        <p:nvSpPr>
          <p:cNvPr id="20" name="Text 18"/>
          <p:cNvSpPr/>
          <p:nvPr/>
        </p:nvSpPr>
        <p:spPr>
          <a:xfrm>
            <a:off x="8341157" y="2560320"/>
            <a:ext cx="2844698" cy="256032"/>
          </a:xfrm>
          <a:prstGeom prst="rect">
            <a:avLst/>
          </a:prstGeom>
          <a:noFill/>
          <a:ln/>
        </p:spPr>
        <p:txBody>
          <a:bodyPr wrap="square" lIns="0" tIns="0" rIns="0" bIns="0" rtlCol="0" anchor="ctr"/>
          <a:lstStyle/>
          <a:p>
            <a:pPr marL="0" indent="0">
              <a:buNone/>
            </a:pPr>
            <a:r>
              <a:rPr lang="en-US" sz="1250" b="1" dirty="0">
                <a:solidFill>
                  <a:srgbClr val="059669"/>
                </a:solidFill>
                <a:latin typeface="Calibri" pitchFamily="34" charset="0"/>
                <a:ea typeface="Calibri" pitchFamily="34" charset="-122"/>
                <a:cs typeface="Calibri" pitchFamily="34" charset="-120"/>
              </a:rPr>
              <a:t>Sensitivity &amp; Brier Score</a:t>
            </a:r>
            <a:endParaRPr lang="en-US" sz="1250" dirty="0"/>
          </a:p>
        </p:txBody>
      </p:sp>
      <p:sp>
        <p:nvSpPr>
          <p:cNvPr id="21" name="Shape 19"/>
          <p:cNvSpPr/>
          <p:nvPr/>
        </p:nvSpPr>
        <p:spPr>
          <a:xfrm>
            <a:off x="8341157" y="2880360"/>
            <a:ext cx="2844698" cy="0"/>
          </a:xfrm>
          <a:prstGeom prst="line">
            <a:avLst/>
          </a:prstGeom>
          <a:noFill/>
          <a:ln w="12700">
            <a:solidFill>
              <a:srgbClr val="CBD5E1"/>
            </a:solidFill>
            <a:prstDash val="solid"/>
          </a:ln>
        </p:spPr>
      </p:sp>
      <p:sp>
        <p:nvSpPr>
          <p:cNvPr id="22" name="Text 20"/>
          <p:cNvSpPr/>
          <p:nvPr/>
        </p:nvSpPr>
        <p:spPr>
          <a:xfrm>
            <a:off x="8341157" y="3063240"/>
            <a:ext cx="2844698" cy="2743200"/>
          </a:xfrm>
          <a:prstGeom prst="rect">
            <a:avLst/>
          </a:prstGeom>
          <a:noFill/>
          <a:ln/>
        </p:spPr>
        <p:txBody>
          <a:bodyPr wrap="square" lIns="0" tIns="0" rIns="0" bIns="0" rtlCol="0" anchor="ctr"/>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Clinical Sensitivity (Recall) ensures true disease-causing variants are captured. Precision@Top-5% verifies clinical triage purity. Brier Score measures probabilistic calibration reliability.</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BASELINE PERFORMANCE</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Baseline Model Results: Classical Tree Ensembles</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Evaluating linear and tree models on unseen holdout test chromosomes (N = 8,854)</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16 of 24</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6583680" cy="4389120"/>
        </p:xfrm>
        <a:graphic>
          <a:graphicData uri="http://schemas.openxmlformats.org/drawingml/2006/table">
            <a:tbl>
              <a:tblPr/>
              <a:tblGrid>
                <a:gridCol w="1920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tblGrid>
              <a:tr h="877824">
                <a:tc>
                  <a:txBody>
                    <a:bodyPr/>
                    <a:lstStyle/>
                    <a:p>
                      <a:pPr marL="0" indent="0" algn="ctr">
                        <a:buNone/>
                      </a:pPr>
                      <a:r>
                        <a:rPr lang="en-US" sz="1200" b="1" dirty="0">
                          <a:solidFill>
                            <a:srgbClr val="FFFFFF"/>
                          </a:solidFill>
                        </a:rPr>
                        <a:t>Algorithm</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200" b="1" dirty="0">
                          <a:solidFill>
                            <a:srgbClr val="FFFFFF"/>
                          </a:solidFill>
                        </a:rPr>
                        <a:t>PR-AUC</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200" b="1" dirty="0">
                          <a:solidFill>
                            <a:srgbClr val="FFFFFF"/>
                          </a:solidFill>
                        </a:rPr>
                        <a:t>ROC-AUC</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200" b="1" dirty="0">
                          <a:solidFill>
                            <a:srgbClr val="FFFFFF"/>
                          </a:solidFill>
                        </a:rPr>
                        <a:t>F1-Score</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200" b="1" dirty="0">
                          <a:solidFill>
                            <a:srgbClr val="FFFFFF"/>
                          </a:solidFill>
                        </a:rPr>
                        <a:t>Sensitivity</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200" b="1" dirty="0">
                          <a:solidFill>
                            <a:srgbClr val="FFFFFF"/>
                          </a:solidFill>
                        </a:rPr>
                        <a:t>Top-5% Prec</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877824">
                <a:tc>
                  <a:txBody>
                    <a:bodyPr/>
                    <a:lstStyle/>
                    <a:p>
                      <a:pPr marL="0" indent="0" algn="ctr">
                        <a:buNone/>
                      </a:pPr>
                      <a:r>
                        <a:rPr lang="en-US" sz="1150" b="1" dirty="0">
                          <a:solidFill>
                            <a:srgbClr val="0F172A"/>
                          </a:solidFill>
                        </a:rPr>
                        <a:t>Logistic Regression</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ctr">
                        <a:buNone/>
                      </a:pPr>
                      <a:r>
                        <a:rPr lang="en-US" sz="1150" dirty="0">
                          <a:solidFill>
                            <a:srgbClr val="334155"/>
                          </a:solidFill>
                        </a:rPr>
                        <a:t>0.9544</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ctr">
                        <a:buNone/>
                      </a:pPr>
                      <a:r>
                        <a:rPr lang="en-US" sz="1150" dirty="0">
                          <a:solidFill>
                            <a:srgbClr val="334155"/>
                          </a:solidFill>
                        </a:rPr>
                        <a:t>0.8411</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ctr">
                        <a:buNone/>
                      </a:pPr>
                      <a:r>
                        <a:rPr lang="en-US" sz="1150" dirty="0">
                          <a:solidFill>
                            <a:srgbClr val="334155"/>
                          </a:solidFill>
                        </a:rPr>
                        <a:t>0.925</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ctr">
                        <a:buNone/>
                      </a:pPr>
                      <a:r>
                        <a:rPr lang="en-US" sz="1150" dirty="0">
                          <a:solidFill>
                            <a:srgbClr val="334155"/>
                          </a:solidFill>
                        </a:rPr>
                        <a:t>88.2%</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ctr">
                        <a:buNone/>
                      </a:pPr>
                      <a:r>
                        <a:rPr lang="en-US" sz="1150" dirty="0">
                          <a:solidFill>
                            <a:srgbClr val="334155"/>
                          </a:solidFill>
                        </a:rPr>
                        <a:t>99.8%</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877824">
                <a:tc>
                  <a:txBody>
                    <a:bodyPr/>
                    <a:lstStyle/>
                    <a:p>
                      <a:pPr marL="0" indent="0" algn="ctr">
                        <a:buNone/>
                      </a:pPr>
                      <a:r>
                        <a:rPr lang="en-US" sz="1150" b="1" dirty="0">
                          <a:solidFill>
                            <a:srgbClr val="0F172A"/>
                          </a:solidFill>
                        </a:rPr>
                        <a:t>Random Forest</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ctr">
                        <a:buNone/>
                      </a:pPr>
                      <a:r>
                        <a:rPr lang="en-US" sz="1150" dirty="0">
                          <a:solidFill>
                            <a:srgbClr val="334155"/>
                          </a:solidFill>
                        </a:rPr>
                        <a:t>0.9682</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ctr">
                        <a:buNone/>
                      </a:pPr>
                      <a:r>
                        <a:rPr lang="en-US" sz="1150" dirty="0">
                          <a:solidFill>
                            <a:srgbClr val="334155"/>
                          </a:solidFill>
                        </a:rPr>
                        <a:t>0.8807</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ctr">
                        <a:buNone/>
                      </a:pPr>
                      <a:r>
                        <a:rPr lang="en-US" sz="1150" dirty="0">
                          <a:solidFill>
                            <a:srgbClr val="334155"/>
                          </a:solidFill>
                        </a:rPr>
                        <a:t>0.931</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ctr">
                        <a:buNone/>
                      </a:pPr>
                      <a:r>
                        <a:rPr lang="en-US" sz="1150" dirty="0">
                          <a:solidFill>
                            <a:srgbClr val="334155"/>
                          </a:solidFill>
                        </a:rPr>
                        <a:t>89.7%</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ctr">
                        <a:buNone/>
                      </a:pPr>
                      <a:r>
                        <a:rPr lang="en-US" sz="1150" dirty="0">
                          <a:solidFill>
                            <a:srgbClr val="334155"/>
                          </a:solidFill>
                        </a:rPr>
                        <a:t>99.1%</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877824">
                <a:tc>
                  <a:txBody>
                    <a:bodyPr/>
                    <a:lstStyle/>
                    <a:p>
                      <a:pPr marL="0" indent="0" algn="ctr">
                        <a:buNone/>
                      </a:pPr>
                      <a:r>
                        <a:rPr lang="en-US" sz="1150" b="1" dirty="0">
                          <a:solidFill>
                            <a:srgbClr val="0F172A"/>
                          </a:solidFill>
                        </a:rPr>
                        <a:t>LightGBM</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ctr">
                        <a:buNone/>
                      </a:pPr>
                      <a:r>
                        <a:rPr lang="en-US" sz="1150" dirty="0">
                          <a:solidFill>
                            <a:srgbClr val="334155"/>
                          </a:solidFill>
                        </a:rPr>
                        <a:t>0.9698</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ctr">
                        <a:buNone/>
                      </a:pPr>
                      <a:r>
                        <a:rPr lang="en-US" sz="1150" dirty="0">
                          <a:solidFill>
                            <a:srgbClr val="334155"/>
                          </a:solidFill>
                        </a:rPr>
                        <a:t>0.8877</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ctr">
                        <a:buNone/>
                      </a:pPr>
                      <a:r>
                        <a:rPr lang="en-US" sz="1150" dirty="0">
                          <a:solidFill>
                            <a:srgbClr val="334155"/>
                          </a:solidFill>
                        </a:rPr>
                        <a:t>0.935</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ctr">
                        <a:buNone/>
                      </a:pPr>
                      <a:r>
                        <a:rPr lang="en-US" sz="1150" dirty="0">
                          <a:solidFill>
                            <a:srgbClr val="334155"/>
                          </a:solidFill>
                        </a:rPr>
                        <a:t>88.6%</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lgn="ctr">
                        <a:buNone/>
                      </a:pPr>
                      <a:r>
                        <a:rPr lang="en-US" sz="1150" dirty="0">
                          <a:solidFill>
                            <a:srgbClr val="334155"/>
                          </a:solidFill>
                        </a:rPr>
                        <a:t>99.1%</a:t>
                      </a:r>
                      <a:endParaRPr lang="en-US" sz="115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877824">
                <a:tc>
                  <a:txBody>
                    <a:bodyPr/>
                    <a:lstStyle/>
                    <a:p>
                      <a:pPr marL="0" indent="0" algn="ctr">
                        <a:buNone/>
                      </a:pPr>
                      <a:r>
                        <a:rPr lang="en-US" sz="1200" b="1" dirty="0">
                          <a:solidFill>
                            <a:srgbClr val="2563EB"/>
                          </a:solidFill>
                        </a:rPr>
                        <a:t>XGBoost (Best Classical)</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1200" b="1" dirty="0">
                          <a:solidFill>
                            <a:srgbClr val="2563EB"/>
                          </a:solidFill>
                        </a:rPr>
                        <a:t>0.9696</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1200" b="1" dirty="0">
                          <a:solidFill>
                            <a:srgbClr val="2563EB"/>
                          </a:solidFill>
                        </a:rPr>
                        <a:t>0.8883</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1200" b="1" dirty="0">
                          <a:solidFill>
                            <a:srgbClr val="2563EB"/>
                          </a:solidFill>
                        </a:rPr>
                        <a:t>0.936</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1200" b="1" dirty="0">
                          <a:solidFill>
                            <a:srgbClr val="2563EB"/>
                          </a:solidFill>
                        </a:rPr>
                        <a:t>88.4%</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1200" b="1" dirty="0">
                          <a:solidFill>
                            <a:srgbClr val="2563EB"/>
                          </a:solidFill>
                        </a:rPr>
                        <a:t>98.9%</a:t>
                      </a:r>
                      <a:endParaRPr lang="en-US" sz="1200" dirty="0"/>
                    </a:p>
                  </a:txBody>
                  <a:tcPr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extLst>
                  <a:ext uri="{0D108BD9-81ED-4DB2-BD59-A6C34878D82A}">
                    <a16:rowId xmlns:a16="http://schemas.microsoft.com/office/drawing/2014/main" val="10004"/>
                  </a:ext>
                </a:extLst>
              </a:tr>
            </a:tbl>
          </a:graphicData>
        </a:graphic>
      </p:graphicFrame>
      <p:sp>
        <p:nvSpPr>
          <p:cNvPr id="9" name="Shape 6"/>
          <p:cNvSpPr/>
          <p:nvPr/>
        </p:nvSpPr>
        <p:spPr>
          <a:xfrm>
            <a:off x="7589520" y="1691640"/>
            <a:ext cx="3870655" cy="2057400"/>
          </a:xfrm>
          <a:prstGeom prst="roundRect">
            <a:avLst>
              <a:gd name="adj" fmla="val 3556"/>
            </a:avLst>
          </a:prstGeom>
          <a:solidFill>
            <a:srgbClr val="FFFFFF"/>
          </a:solidFill>
          <a:ln w="12700">
            <a:solidFill>
              <a:srgbClr val="CBD5E1"/>
            </a:solidFill>
            <a:prstDash val="solid"/>
          </a:ln>
        </p:spPr>
      </p:sp>
      <p:sp>
        <p:nvSpPr>
          <p:cNvPr id="10" name="Text 7"/>
          <p:cNvSpPr/>
          <p:nvPr/>
        </p:nvSpPr>
        <p:spPr>
          <a:xfrm>
            <a:off x="7818120" y="1828800"/>
            <a:ext cx="3413455" cy="594360"/>
          </a:xfrm>
          <a:prstGeom prst="rect">
            <a:avLst/>
          </a:prstGeom>
          <a:noFill/>
          <a:ln/>
        </p:spPr>
        <p:txBody>
          <a:bodyPr wrap="square" lIns="0" tIns="0" rIns="0" bIns="0" rtlCol="0" anchor="ctr"/>
          <a:lstStyle/>
          <a:p>
            <a:pPr marL="0" indent="0">
              <a:buNone/>
            </a:pPr>
            <a:r>
              <a:rPr lang="en-US" sz="3200" b="1" dirty="0">
                <a:solidFill>
                  <a:srgbClr val="2563EB"/>
                </a:solidFill>
                <a:latin typeface="Calibri" pitchFamily="34" charset="0"/>
                <a:ea typeface="Calibri" pitchFamily="34" charset="-122"/>
                <a:cs typeface="Calibri" pitchFamily="34" charset="-120"/>
              </a:rPr>
              <a:t>0.9696</a:t>
            </a:r>
            <a:endParaRPr lang="en-US" sz="3200" dirty="0"/>
          </a:p>
        </p:txBody>
      </p:sp>
      <p:sp>
        <p:nvSpPr>
          <p:cNvPr id="11" name="Text 8"/>
          <p:cNvSpPr/>
          <p:nvPr/>
        </p:nvSpPr>
        <p:spPr>
          <a:xfrm>
            <a:off x="7818120" y="2441448"/>
            <a:ext cx="3413455" cy="320040"/>
          </a:xfrm>
          <a:prstGeom prst="rect">
            <a:avLst/>
          </a:prstGeom>
          <a:noFill/>
          <a:ln/>
        </p:spPr>
        <p:txBody>
          <a:bodyPr wrap="square" lIns="0" tIns="0" rIns="0" bIns="0" rtlCol="0" anchor="ctr"/>
          <a:lstStyle/>
          <a:p>
            <a:pPr marL="0" indent="0">
              <a:buNone/>
            </a:pPr>
            <a:r>
              <a:rPr lang="en-US" sz="1350" b="1" dirty="0">
                <a:solidFill>
                  <a:srgbClr val="0F172A"/>
                </a:solidFill>
                <a:latin typeface="Calibri" pitchFamily="34" charset="0"/>
                <a:ea typeface="Calibri" pitchFamily="34" charset="-122"/>
                <a:cs typeface="Calibri" pitchFamily="34" charset="-120"/>
              </a:rPr>
              <a:t>XGBoost PR-AUC Score</a:t>
            </a:r>
            <a:endParaRPr lang="en-US" sz="1350" dirty="0"/>
          </a:p>
        </p:txBody>
      </p:sp>
      <p:sp>
        <p:nvSpPr>
          <p:cNvPr id="12" name="Text 9"/>
          <p:cNvSpPr/>
          <p:nvPr/>
        </p:nvSpPr>
        <p:spPr>
          <a:xfrm>
            <a:off x="7818120" y="2788920"/>
            <a:ext cx="3413455" cy="86868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High precision-recall ranking among top-decile pathogenic variants on holdout test set.</a:t>
            </a:r>
            <a:endParaRPr lang="en-US" sz="1150" dirty="0"/>
          </a:p>
        </p:txBody>
      </p:sp>
      <p:sp>
        <p:nvSpPr>
          <p:cNvPr id="13" name="Shape 10"/>
          <p:cNvSpPr/>
          <p:nvPr/>
        </p:nvSpPr>
        <p:spPr>
          <a:xfrm>
            <a:off x="7589520" y="3977640"/>
            <a:ext cx="3870655" cy="2103120"/>
          </a:xfrm>
          <a:prstGeom prst="roundRect">
            <a:avLst>
              <a:gd name="adj" fmla="val 3478"/>
            </a:avLst>
          </a:prstGeom>
          <a:solidFill>
            <a:srgbClr val="FFFFFF"/>
          </a:solidFill>
          <a:ln w="12700">
            <a:solidFill>
              <a:srgbClr val="CBD5E1"/>
            </a:solidFill>
            <a:prstDash val="solid"/>
          </a:ln>
        </p:spPr>
      </p:sp>
      <p:sp>
        <p:nvSpPr>
          <p:cNvPr id="14" name="Text 11"/>
          <p:cNvSpPr/>
          <p:nvPr/>
        </p:nvSpPr>
        <p:spPr>
          <a:xfrm>
            <a:off x="7818120" y="4160520"/>
            <a:ext cx="3413455" cy="256032"/>
          </a:xfrm>
          <a:prstGeom prst="rect">
            <a:avLst/>
          </a:prstGeom>
          <a:noFill/>
          <a:ln/>
        </p:spPr>
        <p:txBody>
          <a:bodyPr wrap="square" rtlCol="0" anchor="ctr"/>
          <a:lstStyle/>
          <a:p>
            <a:pPr marL="0" indent="0">
              <a:buNone/>
            </a:pPr>
            <a:r>
              <a:rPr lang="en-US" sz="1150" b="1" dirty="0">
                <a:solidFill>
                  <a:srgbClr val="D97706"/>
                </a:solidFill>
                <a:latin typeface="Calibri" pitchFamily="34" charset="0"/>
                <a:ea typeface="Calibri" pitchFamily="34" charset="-122"/>
                <a:cs typeface="Calibri" pitchFamily="34" charset="-120"/>
              </a:rPr>
              <a:t>TREE ENSEMBLE LIMITATIONS</a:t>
            </a:r>
            <a:endParaRPr lang="en-US" sz="1150" dirty="0"/>
          </a:p>
        </p:txBody>
      </p:sp>
      <p:sp>
        <p:nvSpPr>
          <p:cNvPr id="15" name="Text 12"/>
          <p:cNvSpPr/>
          <p:nvPr/>
        </p:nvSpPr>
        <p:spPr>
          <a:xfrm>
            <a:off x="7818120" y="4462272"/>
            <a:ext cx="3413455"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Why Tree Models Cap Out</a:t>
            </a:r>
            <a:endParaRPr lang="en-US" sz="1600" dirty="0"/>
          </a:p>
        </p:txBody>
      </p:sp>
      <p:sp>
        <p:nvSpPr>
          <p:cNvPr id="16" name="Text 13"/>
          <p:cNvSpPr/>
          <p:nvPr/>
        </p:nvSpPr>
        <p:spPr>
          <a:xfrm>
            <a:off x="7818120" y="4846320"/>
            <a:ext cx="3413455" cy="1097280"/>
          </a:xfrm>
          <a:prstGeom prst="rect">
            <a:avLst/>
          </a:prstGeom>
          <a:noFill/>
          <a:ln/>
        </p:spPr>
        <p:txBody>
          <a:bodyPr wrap="square" lIns="0" tIns="0" rIns="0" bIns="0" rtlCol="0" anchor="ctr"/>
          <a:lstStyle/>
          <a:p>
            <a:pPr marL="0" indent="0">
              <a:lnSpc>
                <a:spcPct val="120000"/>
              </a:lnSpc>
              <a:buNone/>
            </a:pPr>
            <a:r>
              <a:rPr lang="en-US" sz="1200" b="1" dirty="0">
                <a:solidFill>
                  <a:srgbClr val="0F172A"/>
                </a:solidFill>
              </a:rPr>
              <a:t>1. Step-Function Discretization: </a:t>
            </a:r>
            <a:r>
              <a:rPr lang="en-US" sz="1200" dirty="0">
                <a:solidFill>
                  <a:srgbClr val="334155"/>
                </a:solidFill>
              </a:rPr>
              <a:t>Axis-aligned splits struggle to model continuous exponential allele frequency decays.
</a:t>
            </a:r>
            <a:r>
              <a:rPr lang="en-US" sz="1200" b="1" dirty="0">
                <a:solidFill>
                  <a:srgbClr val="0F172A"/>
                </a:solidFill>
              </a:rPr>
              <a:t>2. High False Negative Rate: </a:t>
            </a:r>
            <a:r>
              <a:rPr lang="en-US" sz="1200" dirty="0">
                <a:solidFill>
                  <a:srgbClr val="334155"/>
                </a:solidFill>
              </a:rPr>
              <a:t>At default 0.50 cutoff, XGBoost misses 1,745 pathogenic variants, requiring continuous neural representations.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BENCHMARK RESULTS</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Deep Learning and Multimodal Results</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94.4% clinical sensitivity and 38.8% reduction in probability calibration loss</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17 of 24</a:t>
            </a:r>
            <a:endParaRPr lang="en-US" sz="1100" dirty="0"/>
          </a:p>
        </p:txBody>
      </p:sp>
      <p:sp>
        <p:nvSpPr>
          <p:cNvPr id="8" name="Shape 6"/>
          <p:cNvSpPr/>
          <p:nvPr/>
        </p:nvSpPr>
        <p:spPr>
          <a:xfrm>
            <a:off x="731520" y="1691640"/>
            <a:ext cx="3931920" cy="1325880"/>
          </a:xfrm>
          <a:prstGeom prst="roundRect">
            <a:avLst>
              <a:gd name="adj" fmla="val 5517"/>
            </a:avLst>
          </a:prstGeom>
          <a:solidFill>
            <a:srgbClr val="FFFFFF"/>
          </a:solidFill>
          <a:ln w="12700">
            <a:solidFill>
              <a:srgbClr val="CBD5E1"/>
            </a:solidFill>
            <a:prstDash val="solid"/>
          </a:ln>
        </p:spPr>
      </p:sp>
      <p:sp>
        <p:nvSpPr>
          <p:cNvPr id="9" name="Text 7"/>
          <p:cNvSpPr/>
          <p:nvPr/>
        </p:nvSpPr>
        <p:spPr>
          <a:xfrm>
            <a:off x="960120" y="1828800"/>
            <a:ext cx="3474720" cy="594360"/>
          </a:xfrm>
          <a:prstGeom prst="rect">
            <a:avLst/>
          </a:prstGeom>
          <a:noFill/>
          <a:ln/>
        </p:spPr>
        <p:txBody>
          <a:bodyPr wrap="square" lIns="0" tIns="0" rIns="0" bIns="0" rtlCol="0" anchor="ctr"/>
          <a:lstStyle/>
          <a:p>
            <a:pPr marL="0" indent="0">
              <a:buNone/>
            </a:pPr>
            <a:r>
              <a:rPr lang="en-US" sz="3200" b="1" dirty="0">
                <a:solidFill>
                  <a:srgbClr val="059669"/>
                </a:solidFill>
                <a:latin typeface="Calibri" pitchFamily="34" charset="0"/>
                <a:ea typeface="Calibri" pitchFamily="34" charset="-122"/>
                <a:cs typeface="Calibri" pitchFamily="34" charset="-120"/>
              </a:rPr>
              <a:t>94.4%</a:t>
            </a:r>
            <a:endParaRPr lang="en-US" sz="3200" dirty="0"/>
          </a:p>
        </p:txBody>
      </p:sp>
      <p:sp>
        <p:nvSpPr>
          <p:cNvPr id="10" name="Text 8"/>
          <p:cNvSpPr/>
          <p:nvPr/>
        </p:nvSpPr>
        <p:spPr>
          <a:xfrm>
            <a:off x="960120" y="2441448"/>
            <a:ext cx="3474720" cy="320040"/>
          </a:xfrm>
          <a:prstGeom prst="rect">
            <a:avLst/>
          </a:prstGeom>
          <a:noFill/>
          <a:ln/>
        </p:spPr>
        <p:txBody>
          <a:bodyPr wrap="square" lIns="0" tIns="0" rIns="0" bIns="0" rtlCol="0" anchor="ctr"/>
          <a:lstStyle/>
          <a:p>
            <a:pPr marL="0" indent="0">
              <a:buNone/>
            </a:pPr>
            <a:r>
              <a:rPr lang="en-US" sz="1350" b="1" dirty="0">
                <a:solidFill>
                  <a:srgbClr val="0F172A"/>
                </a:solidFill>
                <a:latin typeface="Calibri" pitchFamily="34" charset="0"/>
                <a:ea typeface="Calibri" pitchFamily="34" charset="-122"/>
                <a:cs typeface="Calibri" pitchFamily="34" charset="-120"/>
              </a:rPr>
              <a:t>Clinical Sensitivity (Recall)</a:t>
            </a:r>
            <a:endParaRPr lang="en-US" sz="1350" dirty="0"/>
          </a:p>
        </p:txBody>
      </p:sp>
      <p:sp>
        <p:nvSpPr>
          <p:cNvPr id="11" name="Text 9"/>
          <p:cNvSpPr/>
          <p:nvPr/>
        </p:nvSpPr>
        <p:spPr>
          <a:xfrm>
            <a:off x="960120" y="2788920"/>
            <a:ext cx="3474720" cy="13716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Captures 6,916 of 7,326 pathogenic variants on unseen chromosomes.</a:t>
            </a:r>
            <a:endParaRPr lang="en-US" sz="1150" dirty="0"/>
          </a:p>
        </p:txBody>
      </p:sp>
      <p:sp>
        <p:nvSpPr>
          <p:cNvPr id="12" name="Shape 10"/>
          <p:cNvSpPr/>
          <p:nvPr/>
        </p:nvSpPr>
        <p:spPr>
          <a:xfrm>
            <a:off x="731520" y="3200400"/>
            <a:ext cx="3931920" cy="1325880"/>
          </a:xfrm>
          <a:prstGeom prst="roundRect">
            <a:avLst>
              <a:gd name="adj" fmla="val 5517"/>
            </a:avLst>
          </a:prstGeom>
          <a:solidFill>
            <a:srgbClr val="FFFFFF"/>
          </a:solidFill>
          <a:ln w="12700">
            <a:solidFill>
              <a:srgbClr val="CBD5E1"/>
            </a:solidFill>
            <a:prstDash val="solid"/>
          </a:ln>
        </p:spPr>
      </p:sp>
      <p:sp>
        <p:nvSpPr>
          <p:cNvPr id="13" name="Text 11"/>
          <p:cNvSpPr/>
          <p:nvPr/>
        </p:nvSpPr>
        <p:spPr>
          <a:xfrm>
            <a:off x="960120" y="3337560"/>
            <a:ext cx="3474720" cy="594360"/>
          </a:xfrm>
          <a:prstGeom prst="rect">
            <a:avLst/>
          </a:prstGeom>
          <a:noFill/>
          <a:ln/>
        </p:spPr>
        <p:txBody>
          <a:bodyPr wrap="square" lIns="0" tIns="0" rIns="0" bIns="0" rtlCol="0" anchor="ctr"/>
          <a:lstStyle/>
          <a:p>
            <a:pPr marL="0" indent="0">
              <a:buNone/>
            </a:pPr>
            <a:r>
              <a:rPr lang="en-US" sz="3200" b="1" dirty="0">
                <a:solidFill>
                  <a:srgbClr val="7C3AED"/>
                </a:solidFill>
                <a:latin typeface="Calibri" pitchFamily="34" charset="0"/>
                <a:ea typeface="Calibri" pitchFamily="34" charset="-122"/>
                <a:cs typeface="Calibri" pitchFamily="34" charset="-120"/>
              </a:rPr>
              <a:t>0.9705</a:t>
            </a:r>
            <a:endParaRPr lang="en-US" sz="3200" dirty="0"/>
          </a:p>
        </p:txBody>
      </p:sp>
      <p:sp>
        <p:nvSpPr>
          <p:cNvPr id="14" name="Text 12"/>
          <p:cNvSpPr/>
          <p:nvPr/>
        </p:nvSpPr>
        <p:spPr>
          <a:xfrm>
            <a:off x="960120" y="3950208"/>
            <a:ext cx="3474720" cy="320040"/>
          </a:xfrm>
          <a:prstGeom prst="rect">
            <a:avLst/>
          </a:prstGeom>
          <a:noFill/>
          <a:ln/>
        </p:spPr>
        <p:txBody>
          <a:bodyPr wrap="square" lIns="0" tIns="0" rIns="0" bIns="0" rtlCol="0" anchor="ctr"/>
          <a:lstStyle/>
          <a:p>
            <a:pPr marL="0" indent="0">
              <a:buNone/>
            </a:pPr>
            <a:r>
              <a:rPr lang="en-US" sz="1350" b="1" dirty="0">
                <a:solidFill>
                  <a:srgbClr val="0F172A"/>
                </a:solidFill>
                <a:latin typeface="Calibri" pitchFamily="34" charset="0"/>
                <a:ea typeface="Calibri" pitchFamily="34" charset="-122"/>
                <a:cs typeface="Calibri" pitchFamily="34" charset="-120"/>
              </a:rPr>
              <a:t>Holdout PR-AUC Score</a:t>
            </a:r>
            <a:endParaRPr lang="en-US" sz="1350" dirty="0"/>
          </a:p>
        </p:txBody>
      </p:sp>
      <p:sp>
        <p:nvSpPr>
          <p:cNvPr id="15" name="Text 13"/>
          <p:cNvSpPr/>
          <p:nvPr/>
        </p:nvSpPr>
        <p:spPr>
          <a:xfrm>
            <a:off x="960120" y="4297680"/>
            <a:ext cx="3474720" cy="13716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Tabular ResNet leads all classical tree models in true positive ranking.</a:t>
            </a:r>
            <a:endParaRPr lang="en-US" sz="1150" dirty="0"/>
          </a:p>
        </p:txBody>
      </p:sp>
      <p:sp>
        <p:nvSpPr>
          <p:cNvPr id="16" name="Shape 14"/>
          <p:cNvSpPr/>
          <p:nvPr/>
        </p:nvSpPr>
        <p:spPr>
          <a:xfrm>
            <a:off x="731520" y="4709160"/>
            <a:ext cx="3931920" cy="1371600"/>
          </a:xfrm>
          <a:prstGeom prst="roundRect">
            <a:avLst>
              <a:gd name="adj" fmla="val 5333"/>
            </a:avLst>
          </a:prstGeom>
          <a:solidFill>
            <a:srgbClr val="FFFFFF"/>
          </a:solidFill>
          <a:ln w="12700">
            <a:solidFill>
              <a:srgbClr val="CBD5E1"/>
            </a:solidFill>
            <a:prstDash val="solid"/>
          </a:ln>
        </p:spPr>
      </p:sp>
      <p:sp>
        <p:nvSpPr>
          <p:cNvPr id="17" name="Text 15"/>
          <p:cNvSpPr/>
          <p:nvPr/>
        </p:nvSpPr>
        <p:spPr>
          <a:xfrm>
            <a:off x="960120" y="4846320"/>
            <a:ext cx="3474720" cy="594360"/>
          </a:xfrm>
          <a:prstGeom prst="rect">
            <a:avLst/>
          </a:prstGeom>
          <a:noFill/>
          <a:ln/>
        </p:spPr>
        <p:txBody>
          <a:bodyPr wrap="square" lIns="0" tIns="0" rIns="0" bIns="0" rtlCol="0" anchor="ctr"/>
          <a:lstStyle/>
          <a:p>
            <a:pPr marL="0" indent="0">
              <a:buNone/>
            </a:pPr>
            <a:r>
              <a:rPr lang="en-US" sz="3200" b="1" dirty="0">
                <a:solidFill>
                  <a:srgbClr val="2563EB"/>
                </a:solidFill>
                <a:latin typeface="Calibri" pitchFamily="34" charset="0"/>
                <a:ea typeface="Calibri" pitchFamily="34" charset="-122"/>
                <a:cs typeface="Calibri" pitchFamily="34" charset="-120"/>
              </a:rPr>
              <a:t>0.1010</a:t>
            </a:r>
            <a:endParaRPr lang="en-US" sz="3200" dirty="0"/>
          </a:p>
        </p:txBody>
      </p:sp>
      <p:sp>
        <p:nvSpPr>
          <p:cNvPr id="18" name="Text 16"/>
          <p:cNvSpPr/>
          <p:nvPr/>
        </p:nvSpPr>
        <p:spPr>
          <a:xfrm>
            <a:off x="960120" y="5458968"/>
            <a:ext cx="3474720" cy="320040"/>
          </a:xfrm>
          <a:prstGeom prst="rect">
            <a:avLst/>
          </a:prstGeom>
          <a:noFill/>
          <a:ln/>
        </p:spPr>
        <p:txBody>
          <a:bodyPr wrap="square" lIns="0" tIns="0" rIns="0" bIns="0" rtlCol="0" anchor="ctr"/>
          <a:lstStyle/>
          <a:p>
            <a:pPr marL="0" indent="0">
              <a:buNone/>
            </a:pPr>
            <a:r>
              <a:rPr lang="en-US" sz="1350" b="1" dirty="0">
                <a:solidFill>
                  <a:srgbClr val="0F172A"/>
                </a:solidFill>
                <a:latin typeface="Calibri" pitchFamily="34" charset="0"/>
                <a:ea typeface="Calibri" pitchFamily="34" charset="-122"/>
                <a:cs typeface="Calibri" pitchFamily="34" charset="-120"/>
              </a:rPr>
              <a:t>Brier Calibration Loss</a:t>
            </a:r>
            <a:endParaRPr lang="en-US" sz="1350" dirty="0"/>
          </a:p>
        </p:txBody>
      </p:sp>
      <p:sp>
        <p:nvSpPr>
          <p:cNvPr id="19" name="Text 17"/>
          <p:cNvSpPr/>
          <p:nvPr/>
        </p:nvSpPr>
        <p:spPr>
          <a:xfrm>
            <a:off x="960120" y="5806440"/>
            <a:ext cx="3474720" cy="18288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38.8% lower calibration error than decision trees (0.165).</a:t>
            </a:r>
            <a:endParaRPr lang="en-US" sz="1150" dirty="0"/>
          </a:p>
        </p:txBody>
      </p:sp>
      <p:pic>
        <p:nvPicPr>
          <p:cNvPr id="20" name="Image 0" descr="C:\Users\waibhav\Documents\DNA\data\figures\12_confusion_matrices.png"/>
          <p:cNvPicPr>
            <a:picLocks noChangeAspect="1"/>
          </p:cNvPicPr>
          <p:nvPr/>
        </p:nvPicPr>
        <p:blipFill>
          <a:blip r:embed="rId3"/>
          <a:stretch>
            <a:fillRect/>
          </a:stretch>
        </p:blipFill>
        <p:spPr>
          <a:xfrm>
            <a:off x="4937760" y="1691640"/>
            <a:ext cx="6522415" cy="43891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CLINICAL VERIFICATION</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Uncertainty Quantification and Explainability Results</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Conformal 95% coverage guarantees, 34k VUS triage, and local TreeSHAP attribution</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18 of 24</a:t>
            </a:r>
            <a:endParaRPr lang="en-US" sz="1100" dirty="0"/>
          </a:p>
        </p:txBody>
      </p:sp>
      <p:sp>
        <p:nvSpPr>
          <p:cNvPr id="8" name="Shape 6"/>
          <p:cNvSpPr/>
          <p:nvPr/>
        </p:nvSpPr>
        <p:spPr>
          <a:xfrm>
            <a:off x="731520" y="1691640"/>
            <a:ext cx="3393338" cy="4389120"/>
          </a:xfrm>
          <a:prstGeom prst="roundRect">
            <a:avLst>
              <a:gd name="adj" fmla="val 2156"/>
            </a:avLst>
          </a:prstGeom>
          <a:solidFill>
            <a:srgbClr val="FFFFFF"/>
          </a:solidFill>
          <a:ln w="12700">
            <a:solidFill>
              <a:srgbClr val="CBD5E1"/>
            </a:solidFill>
            <a:prstDash val="solid"/>
          </a:ln>
        </p:spPr>
      </p:sp>
      <p:sp>
        <p:nvSpPr>
          <p:cNvPr id="9" name="Text 7"/>
          <p:cNvSpPr/>
          <p:nvPr/>
        </p:nvSpPr>
        <p:spPr>
          <a:xfrm>
            <a:off x="1005840" y="1965960"/>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Split Conformal Prediction</a:t>
            </a:r>
            <a:endParaRPr lang="en-US" sz="1800" dirty="0"/>
          </a:p>
        </p:txBody>
      </p:sp>
      <p:sp>
        <p:nvSpPr>
          <p:cNvPr id="10" name="Text 8"/>
          <p:cNvSpPr/>
          <p:nvPr/>
        </p:nvSpPr>
        <p:spPr>
          <a:xfrm>
            <a:off x="1005840" y="2560320"/>
            <a:ext cx="2844698" cy="256032"/>
          </a:xfrm>
          <a:prstGeom prst="rect">
            <a:avLst/>
          </a:prstGeom>
          <a:noFill/>
          <a:ln/>
        </p:spPr>
        <p:txBody>
          <a:bodyPr wrap="square" lIns="0" tIns="0" rIns="0" bIns="0" rtlCol="0" anchor="ctr"/>
          <a:lstStyle/>
          <a:p>
            <a:pPr marL="0" indent="0">
              <a:buNone/>
            </a:pPr>
            <a:r>
              <a:rPr lang="en-US" sz="1250" b="1" dirty="0">
                <a:solidFill>
                  <a:srgbClr val="2563EB"/>
                </a:solidFill>
                <a:latin typeface="Calibri" pitchFamily="34" charset="0"/>
                <a:ea typeface="Calibri" pitchFamily="34" charset="-122"/>
                <a:cs typeface="Calibri" pitchFamily="34" charset="-120"/>
              </a:rPr>
              <a:t>95% Finite-Sample Guarantee</a:t>
            </a:r>
            <a:endParaRPr lang="en-US" sz="1250" dirty="0"/>
          </a:p>
        </p:txBody>
      </p:sp>
      <p:sp>
        <p:nvSpPr>
          <p:cNvPr id="11" name="Shape 9"/>
          <p:cNvSpPr/>
          <p:nvPr/>
        </p:nvSpPr>
        <p:spPr>
          <a:xfrm>
            <a:off x="1005840" y="2880360"/>
            <a:ext cx="2844698" cy="0"/>
          </a:xfrm>
          <a:prstGeom prst="line">
            <a:avLst/>
          </a:prstGeom>
          <a:noFill/>
          <a:ln w="12700">
            <a:solidFill>
              <a:srgbClr val="CBD5E1"/>
            </a:solidFill>
            <a:prstDash val="solid"/>
          </a:ln>
        </p:spPr>
      </p:sp>
      <p:sp>
        <p:nvSpPr>
          <p:cNvPr id="12" name="Text 10"/>
          <p:cNvSpPr/>
          <p:nvPr/>
        </p:nvSpPr>
        <p:spPr>
          <a:xfrm>
            <a:off x="1005840" y="3063240"/>
            <a:ext cx="2844698" cy="2743200"/>
          </a:xfrm>
          <a:prstGeom prst="rect">
            <a:avLst/>
          </a:prstGeom>
          <a:noFill/>
          <a:ln/>
        </p:spPr>
        <p:txBody>
          <a:bodyPr wrap="square" lIns="0" tIns="0" rIns="0" bIns="0" rtlCol="0" anchor="ctr"/>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Evaluated on calibration fold (Chr 17-18, N = 1,200). Non-conformity cutoff q_hat = 0.7241 guarantees P(Y_true in C(X_test)) &gt;= 0.95 without distribution assumptions. Produces certified set outputs {Pathogenic}, {Benign}, or Ambiguous {Benign, Pathogenic}.</a:t>
            </a:r>
            <a:endParaRPr lang="en-US" sz="1350" dirty="0"/>
          </a:p>
        </p:txBody>
      </p:sp>
      <p:sp>
        <p:nvSpPr>
          <p:cNvPr id="13" name="Shape 11"/>
          <p:cNvSpPr/>
          <p:nvPr/>
        </p:nvSpPr>
        <p:spPr>
          <a:xfrm>
            <a:off x="4399178" y="1691640"/>
            <a:ext cx="3393338" cy="4389120"/>
          </a:xfrm>
          <a:prstGeom prst="roundRect">
            <a:avLst>
              <a:gd name="adj" fmla="val 2156"/>
            </a:avLst>
          </a:prstGeom>
          <a:solidFill>
            <a:srgbClr val="FFFFFF"/>
          </a:solidFill>
          <a:ln w="12700">
            <a:solidFill>
              <a:srgbClr val="CBD5E1"/>
            </a:solidFill>
            <a:prstDash val="solid"/>
          </a:ln>
        </p:spPr>
      </p:sp>
      <p:sp>
        <p:nvSpPr>
          <p:cNvPr id="14" name="Text 12"/>
          <p:cNvSpPr/>
          <p:nvPr/>
        </p:nvSpPr>
        <p:spPr>
          <a:xfrm>
            <a:off x="4673498" y="1965960"/>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Resolving the VUS Backlog</a:t>
            </a:r>
            <a:endParaRPr lang="en-US" sz="1800" dirty="0"/>
          </a:p>
        </p:txBody>
      </p:sp>
      <p:sp>
        <p:nvSpPr>
          <p:cNvPr id="15" name="Text 13"/>
          <p:cNvSpPr/>
          <p:nvPr/>
        </p:nvSpPr>
        <p:spPr>
          <a:xfrm>
            <a:off x="4673498" y="2560320"/>
            <a:ext cx="2844698" cy="256032"/>
          </a:xfrm>
          <a:prstGeom prst="rect">
            <a:avLst/>
          </a:prstGeom>
          <a:noFill/>
          <a:ln/>
        </p:spPr>
        <p:txBody>
          <a:bodyPr wrap="square" lIns="0" tIns="0" rIns="0" bIns="0" rtlCol="0" anchor="ctr"/>
          <a:lstStyle/>
          <a:p>
            <a:pPr marL="0" indent="0">
              <a:buNone/>
            </a:pPr>
            <a:r>
              <a:rPr lang="en-US" sz="1250" b="1" dirty="0">
                <a:solidFill>
                  <a:srgbClr val="059669"/>
                </a:solidFill>
                <a:latin typeface="Calibri" pitchFamily="34" charset="0"/>
                <a:ea typeface="Calibri" pitchFamily="34" charset="-122"/>
                <a:cs typeface="Calibri" pitchFamily="34" charset="-120"/>
              </a:rPr>
              <a:t>34,466 ClinVar Variants Triaged</a:t>
            </a:r>
            <a:endParaRPr lang="en-US" sz="1250" dirty="0"/>
          </a:p>
        </p:txBody>
      </p:sp>
      <p:sp>
        <p:nvSpPr>
          <p:cNvPr id="16" name="Shape 14"/>
          <p:cNvSpPr/>
          <p:nvPr/>
        </p:nvSpPr>
        <p:spPr>
          <a:xfrm>
            <a:off x="4673498" y="2880360"/>
            <a:ext cx="2844698" cy="0"/>
          </a:xfrm>
          <a:prstGeom prst="line">
            <a:avLst/>
          </a:prstGeom>
          <a:noFill/>
          <a:ln w="12700">
            <a:solidFill>
              <a:srgbClr val="CBD5E1"/>
            </a:solidFill>
            <a:prstDash val="solid"/>
          </a:ln>
        </p:spPr>
      </p:sp>
      <p:sp>
        <p:nvSpPr>
          <p:cNvPr id="17" name="Text 15"/>
          <p:cNvSpPr/>
          <p:nvPr/>
        </p:nvSpPr>
        <p:spPr>
          <a:xfrm>
            <a:off x="4673498" y="3063240"/>
            <a:ext cx="2844698" cy="2743200"/>
          </a:xfrm>
          <a:prstGeom prst="rect">
            <a:avLst/>
          </a:prstGeom>
          <a:noFill/>
          <a:ln/>
        </p:spPr>
        <p:txBody>
          <a:bodyPr wrap="square" lIns="0" tIns="0" rIns="0" bIns="0" rtlCol="0" anchor="ctr"/>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Applied model across 34,466 ambiguous ClinVar VUS. Resolved 16,801 variants (48.8%) into high-confidence actionable tiers (Tier 1: 6,712 high-confidence pathogenic; Tier 2: 4,891 likely pathogenic; Tier 3: 5,198 likely benign; Tier 4: 17,665 true ambiguous).</a:t>
            </a:r>
            <a:endParaRPr lang="en-US" sz="1350" dirty="0"/>
          </a:p>
        </p:txBody>
      </p:sp>
      <p:sp>
        <p:nvSpPr>
          <p:cNvPr id="18" name="Shape 16"/>
          <p:cNvSpPr/>
          <p:nvPr/>
        </p:nvSpPr>
        <p:spPr>
          <a:xfrm>
            <a:off x="8066837" y="1691640"/>
            <a:ext cx="3393338" cy="4389120"/>
          </a:xfrm>
          <a:prstGeom prst="roundRect">
            <a:avLst>
              <a:gd name="adj" fmla="val 2156"/>
            </a:avLst>
          </a:prstGeom>
          <a:solidFill>
            <a:srgbClr val="FFFFFF"/>
          </a:solidFill>
          <a:ln w="12700">
            <a:solidFill>
              <a:srgbClr val="CBD5E1"/>
            </a:solidFill>
            <a:prstDash val="solid"/>
          </a:ln>
        </p:spPr>
      </p:sp>
      <p:sp>
        <p:nvSpPr>
          <p:cNvPr id="19" name="Text 17"/>
          <p:cNvSpPr/>
          <p:nvPr/>
        </p:nvSpPr>
        <p:spPr>
          <a:xfrm>
            <a:off x="8341157" y="1965960"/>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TreeSHAP Patient Waterfall</a:t>
            </a:r>
            <a:endParaRPr lang="en-US" sz="1800" dirty="0"/>
          </a:p>
        </p:txBody>
      </p:sp>
      <p:sp>
        <p:nvSpPr>
          <p:cNvPr id="20" name="Text 18"/>
          <p:cNvSpPr/>
          <p:nvPr/>
        </p:nvSpPr>
        <p:spPr>
          <a:xfrm>
            <a:off x="8341157" y="2560320"/>
            <a:ext cx="2844698" cy="256032"/>
          </a:xfrm>
          <a:prstGeom prst="rect">
            <a:avLst/>
          </a:prstGeom>
          <a:noFill/>
          <a:ln/>
        </p:spPr>
        <p:txBody>
          <a:bodyPr wrap="square" lIns="0" tIns="0" rIns="0" bIns="0" rtlCol="0" anchor="ctr"/>
          <a:lstStyle/>
          <a:p>
            <a:pPr marL="0" indent="0">
              <a:buNone/>
            </a:pPr>
            <a:r>
              <a:rPr lang="en-US" sz="1250" b="1" dirty="0">
                <a:solidFill>
                  <a:srgbClr val="7C3AED"/>
                </a:solidFill>
                <a:latin typeface="Calibri" pitchFamily="34" charset="0"/>
                <a:ea typeface="Calibri" pitchFamily="34" charset="-122"/>
                <a:cs typeface="Calibri" pitchFamily="34" charset="-120"/>
              </a:rPr>
              <a:t>Local Biological Decision Rationales</a:t>
            </a:r>
            <a:endParaRPr lang="en-US" sz="1250" dirty="0"/>
          </a:p>
        </p:txBody>
      </p:sp>
      <p:sp>
        <p:nvSpPr>
          <p:cNvPr id="21" name="Shape 19"/>
          <p:cNvSpPr/>
          <p:nvPr/>
        </p:nvSpPr>
        <p:spPr>
          <a:xfrm>
            <a:off x="8341157" y="2880360"/>
            <a:ext cx="2844698" cy="0"/>
          </a:xfrm>
          <a:prstGeom prst="line">
            <a:avLst/>
          </a:prstGeom>
          <a:noFill/>
          <a:ln w="12700">
            <a:solidFill>
              <a:srgbClr val="CBD5E1"/>
            </a:solidFill>
            <a:prstDash val="solid"/>
          </a:ln>
        </p:spPr>
      </p:sp>
      <p:sp>
        <p:nvSpPr>
          <p:cNvPr id="22" name="Text 20"/>
          <p:cNvSpPr/>
          <p:nvPr/>
        </p:nvSpPr>
        <p:spPr>
          <a:xfrm>
            <a:off x="8341157" y="3063240"/>
            <a:ext cx="2844698" cy="2743200"/>
          </a:xfrm>
          <a:prstGeom prst="rect">
            <a:avLst/>
          </a:prstGeom>
          <a:noFill/>
          <a:ln/>
        </p:spPr>
        <p:txBody>
          <a:bodyPr wrap="square" lIns="0" tIns="0" rIns="0" bIns="0" rtlCol="0" anchor="ctr"/>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Individual patient case (BRCA1 deletion, 81.1 kb): Model scores 0.982 Pathogenicity Index. TreeSHAP quantifies exact drivers: gnomad_af = 0 (+0.38), BRCA1 coding overlap (+0.29), pLI = 0.99 (+0.22), providing immediate biological rationales.</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ENGINEERING DELIVERY</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End-to-End Pipeline and Demonstration</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Standalone production CLI tool prioritize_sv.py generating clinical reports in 4.2 seconds</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19 of 24</a:t>
            </a:r>
            <a:endParaRPr lang="en-US" sz="1100" dirty="0"/>
          </a:p>
        </p:txBody>
      </p:sp>
      <p:sp>
        <p:nvSpPr>
          <p:cNvPr id="8" name="Shape 6"/>
          <p:cNvSpPr/>
          <p:nvPr/>
        </p:nvSpPr>
        <p:spPr>
          <a:xfrm>
            <a:off x="731520" y="1691640"/>
            <a:ext cx="1999427" cy="2103120"/>
          </a:xfrm>
          <a:prstGeom prst="roundRect">
            <a:avLst>
              <a:gd name="adj" fmla="val 3659"/>
            </a:avLst>
          </a:prstGeom>
          <a:solidFill>
            <a:srgbClr val="FFFFFF"/>
          </a:solidFill>
          <a:ln w="12700">
            <a:solidFill>
              <a:srgbClr val="CBD5E1"/>
            </a:solidFill>
            <a:prstDash val="solid"/>
          </a:ln>
        </p:spPr>
      </p:sp>
      <p:sp>
        <p:nvSpPr>
          <p:cNvPr id="9" name="Text 7"/>
          <p:cNvSpPr/>
          <p:nvPr/>
        </p:nvSpPr>
        <p:spPr>
          <a:xfrm>
            <a:off x="868680" y="1874520"/>
            <a:ext cx="1725107" cy="228600"/>
          </a:xfrm>
          <a:prstGeom prst="rect">
            <a:avLst/>
          </a:prstGeom>
          <a:noFill/>
          <a:ln/>
        </p:spPr>
        <p:txBody>
          <a:bodyPr wrap="square" rtlCol="0" anchor="ctr"/>
          <a:lstStyle/>
          <a:p>
            <a:pPr marL="0" indent="0">
              <a:buNone/>
            </a:pPr>
            <a:r>
              <a:rPr lang="en-US" sz="1100" b="1" dirty="0">
                <a:solidFill>
                  <a:srgbClr val="2563EB"/>
                </a:solidFill>
                <a:latin typeface="Calibri" pitchFamily="34" charset="0"/>
                <a:ea typeface="Calibri" pitchFamily="34" charset="-122"/>
                <a:cs typeface="Calibri" pitchFamily="34" charset="-120"/>
              </a:rPr>
              <a:t>STEP 1</a:t>
            </a:r>
            <a:endParaRPr lang="en-US" sz="1100" dirty="0"/>
          </a:p>
        </p:txBody>
      </p:sp>
      <p:sp>
        <p:nvSpPr>
          <p:cNvPr id="10" name="Text 8"/>
          <p:cNvSpPr/>
          <p:nvPr/>
        </p:nvSpPr>
        <p:spPr>
          <a:xfrm>
            <a:off x="868680" y="2148840"/>
            <a:ext cx="1725107"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VCF Ingestion</a:t>
            </a:r>
            <a:endParaRPr lang="en-US" sz="1500" dirty="0"/>
          </a:p>
        </p:txBody>
      </p:sp>
      <p:sp>
        <p:nvSpPr>
          <p:cNvPr id="11" name="Shape 9"/>
          <p:cNvSpPr/>
          <p:nvPr/>
        </p:nvSpPr>
        <p:spPr>
          <a:xfrm>
            <a:off x="868680" y="2514600"/>
            <a:ext cx="1725107" cy="0"/>
          </a:xfrm>
          <a:prstGeom prst="line">
            <a:avLst/>
          </a:prstGeom>
          <a:noFill/>
          <a:ln w="12700">
            <a:solidFill>
              <a:srgbClr val="CBD5E1"/>
            </a:solidFill>
            <a:prstDash val="solid"/>
          </a:ln>
        </p:spPr>
      </p:sp>
      <p:sp>
        <p:nvSpPr>
          <p:cNvPr id="12" name="Text 10"/>
          <p:cNvSpPr/>
          <p:nvPr/>
        </p:nvSpPr>
        <p:spPr>
          <a:xfrm>
            <a:off x="868680" y="2651760"/>
            <a:ext cx="1725107" cy="1051560"/>
          </a:xfrm>
          <a:prstGeom prst="rect">
            <a:avLst/>
          </a:prstGeom>
          <a:noFill/>
          <a:ln/>
        </p:spPr>
        <p:txBody>
          <a:bodyPr wrap="square" lIns="0" tIns="0" rIns="0" bIns="0" rtlCol="0" anchor="ctr"/>
          <a:lstStyle/>
          <a:p>
            <a:pPr marL="0" indent="0">
              <a:lnSpc>
                <a:spcPct val="115000"/>
              </a:lnSpc>
              <a:buNone/>
            </a:pPr>
            <a:r>
              <a:rPr lang="en-US" sz="1150" dirty="0">
                <a:solidFill>
                  <a:srgbClr val="334155"/>
                </a:solidFill>
                <a:latin typeface="Calibri" pitchFamily="34" charset="0"/>
                <a:ea typeface="Calibri" pitchFamily="34" charset="-122"/>
                <a:cs typeface="Calibri" pitchFamily="34" charset="-120"/>
              </a:rPr>
              <a:t>Parses Sniffles2, cuteSV, PBSV long-read calls; filters SV &gt;= 50 bp.</a:t>
            </a:r>
            <a:endParaRPr lang="en-US" sz="1150" dirty="0"/>
          </a:p>
        </p:txBody>
      </p:sp>
      <p:sp>
        <p:nvSpPr>
          <p:cNvPr id="13" name="Shape 11"/>
          <p:cNvSpPr/>
          <p:nvPr/>
        </p:nvSpPr>
        <p:spPr>
          <a:xfrm>
            <a:off x="2913827" y="1691640"/>
            <a:ext cx="1999427" cy="2103120"/>
          </a:xfrm>
          <a:prstGeom prst="roundRect">
            <a:avLst>
              <a:gd name="adj" fmla="val 3659"/>
            </a:avLst>
          </a:prstGeom>
          <a:solidFill>
            <a:srgbClr val="FFFFFF"/>
          </a:solidFill>
          <a:ln w="12700">
            <a:solidFill>
              <a:srgbClr val="CBD5E1"/>
            </a:solidFill>
            <a:prstDash val="solid"/>
          </a:ln>
        </p:spPr>
      </p:sp>
      <p:sp>
        <p:nvSpPr>
          <p:cNvPr id="14" name="Text 12"/>
          <p:cNvSpPr/>
          <p:nvPr/>
        </p:nvSpPr>
        <p:spPr>
          <a:xfrm>
            <a:off x="3050987" y="1874520"/>
            <a:ext cx="1725107" cy="228600"/>
          </a:xfrm>
          <a:prstGeom prst="rect">
            <a:avLst/>
          </a:prstGeom>
          <a:noFill/>
          <a:ln/>
        </p:spPr>
        <p:txBody>
          <a:bodyPr wrap="square" rtlCol="0" anchor="ctr"/>
          <a:lstStyle/>
          <a:p>
            <a:pPr marL="0" indent="0">
              <a:buNone/>
            </a:pPr>
            <a:r>
              <a:rPr lang="en-US" sz="1100" b="1" dirty="0">
                <a:solidFill>
                  <a:srgbClr val="2563EB"/>
                </a:solidFill>
                <a:latin typeface="Calibri" pitchFamily="34" charset="0"/>
                <a:ea typeface="Calibri" pitchFamily="34" charset="-122"/>
                <a:cs typeface="Calibri" pitchFamily="34" charset="-120"/>
              </a:rPr>
              <a:t>STEP 2</a:t>
            </a:r>
            <a:endParaRPr lang="en-US" sz="1100" dirty="0"/>
          </a:p>
        </p:txBody>
      </p:sp>
      <p:sp>
        <p:nvSpPr>
          <p:cNvPr id="15" name="Text 13"/>
          <p:cNvSpPr/>
          <p:nvPr/>
        </p:nvSpPr>
        <p:spPr>
          <a:xfrm>
            <a:off x="3050987" y="2148840"/>
            <a:ext cx="1725107"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Fast Annotation</a:t>
            </a:r>
            <a:endParaRPr lang="en-US" sz="1500" dirty="0"/>
          </a:p>
        </p:txBody>
      </p:sp>
      <p:sp>
        <p:nvSpPr>
          <p:cNvPr id="16" name="Shape 14"/>
          <p:cNvSpPr/>
          <p:nvPr/>
        </p:nvSpPr>
        <p:spPr>
          <a:xfrm>
            <a:off x="3050987" y="2514600"/>
            <a:ext cx="1725107" cy="0"/>
          </a:xfrm>
          <a:prstGeom prst="line">
            <a:avLst/>
          </a:prstGeom>
          <a:noFill/>
          <a:ln w="12700">
            <a:solidFill>
              <a:srgbClr val="CBD5E1"/>
            </a:solidFill>
            <a:prstDash val="solid"/>
          </a:ln>
        </p:spPr>
      </p:sp>
      <p:sp>
        <p:nvSpPr>
          <p:cNvPr id="17" name="Text 15"/>
          <p:cNvSpPr/>
          <p:nvPr/>
        </p:nvSpPr>
        <p:spPr>
          <a:xfrm>
            <a:off x="3050987" y="2651760"/>
            <a:ext cx="1725107" cy="1051560"/>
          </a:xfrm>
          <a:prstGeom prst="rect">
            <a:avLst/>
          </a:prstGeom>
          <a:noFill/>
          <a:ln/>
        </p:spPr>
        <p:txBody>
          <a:bodyPr wrap="square" lIns="0" tIns="0" rIns="0" bIns="0" rtlCol="0" anchor="ctr"/>
          <a:lstStyle/>
          <a:p>
            <a:pPr marL="0" indent="0">
              <a:lnSpc>
                <a:spcPct val="115000"/>
              </a:lnSpc>
              <a:buNone/>
            </a:pPr>
            <a:r>
              <a:rPr lang="en-US" sz="1150" dirty="0">
                <a:solidFill>
                  <a:srgbClr val="334155"/>
                </a:solidFill>
                <a:latin typeface="Calibri" pitchFamily="34" charset="0"/>
                <a:ea typeface="Calibri" pitchFamily="34" charset="-122"/>
                <a:cs typeface="Calibri" pitchFamily="34" charset="-120"/>
              </a:rPr>
              <a:t>Interval overlap with gnomAD SV and gene constraint models in &lt;1.5s.</a:t>
            </a:r>
            <a:endParaRPr lang="en-US" sz="1150" dirty="0"/>
          </a:p>
        </p:txBody>
      </p:sp>
      <p:sp>
        <p:nvSpPr>
          <p:cNvPr id="18" name="Shape 16"/>
          <p:cNvSpPr/>
          <p:nvPr/>
        </p:nvSpPr>
        <p:spPr>
          <a:xfrm>
            <a:off x="5096134" y="1691640"/>
            <a:ext cx="1999427" cy="2103120"/>
          </a:xfrm>
          <a:prstGeom prst="roundRect">
            <a:avLst>
              <a:gd name="adj" fmla="val 3659"/>
            </a:avLst>
          </a:prstGeom>
          <a:solidFill>
            <a:srgbClr val="FFFFFF"/>
          </a:solidFill>
          <a:ln w="12700">
            <a:solidFill>
              <a:srgbClr val="CBD5E1"/>
            </a:solidFill>
            <a:prstDash val="solid"/>
          </a:ln>
        </p:spPr>
      </p:sp>
      <p:sp>
        <p:nvSpPr>
          <p:cNvPr id="19" name="Text 17"/>
          <p:cNvSpPr/>
          <p:nvPr/>
        </p:nvSpPr>
        <p:spPr>
          <a:xfrm>
            <a:off x="5233294" y="1874520"/>
            <a:ext cx="1725107" cy="228600"/>
          </a:xfrm>
          <a:prstGeom prst="rect">
            <a:avLst/>
          </a:prstGeom>
          <a:noFill/>
          <a:ln/>
        </p:spPr>
        <p:txBody>
          <a:bodyPr wrap="square" rtlCol="0" anchor="ctr"/>
          <a:lstStyle/>
          <a:p>
            <a:pPr marL="0" indent="0">
              <a:buNone/>
            </a:pPr>
            <a:r>
              <a:rPr lang="en-US" sz="1100" b="1" dirty="0">
                <a:solidFill>
                  <a:srgbClr val="2563EB"/>
                </a:solidFill>
                <a:latin typeface="Calibri" pitchFamily="34" charset="0"/>
                <a:ea typeface="Calibri" pitchFamily="34" charset="-122"/>
                <a:cs typeface="Calibri" pitchFamily="34" charset="-120"/>
              </a:rPr>
              <a:t>STEP 3</a:t>
            </a:r>
            <a:endParaRPr lang="en-US" sz="1100" dirty="0"/>
          </a:p>
        </p:txBody>
      </p:sp>
      <p:sp>
        <p:nvSpPr>
          <p:cNvPr id="20" name="Text 18"/>
          <p:cNvSpPr/>
          <p:nvPr/>
        </p:nvSpPr>
        <p:spPr>
          <a:xfrm>
            <a:off x="5233294" y="2148840"/>
            <a:ext cx="1725107"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Model Inference</a:t>
            </a:r>
            <a:endParaRPr lang="en-US" sz="1500" dirty="0"/>
          </a:p>
        </p:txBody>
      </p:sp>
      <p:sp>
        <p:nvSpPr>
          <p:cNvPr id="21" name="Shape 19"/>
          <p:cNvSpPr/>
          <p:nvPr/>
        </p:nvSpPr>
        <p:spPr>
          <a:xfrm>
            <a:off x="5233294" y="2514600"/>
            <a:ext cx="1725107" cy="0"/>
          </a:xfrm>
          <a:prstGeom prst="line">
            <a:avLst/>
          </a:prstGeom>
          <a:noFill/>
          <a:ln w="12700">
            <a:solidFill>
              <a:srgbClr val="CBD5E1"/>
            </a:solidFill>
            <a:prstDash val="solid"/>
          </a:ln>
        </p:spPr>
      </p:sp>
      <p:sp>
        <p:nvSpPr>
          <p:cNvPr id="22" name="Text 20"/>
          <p:cNvSpPr/>
          <p:nvPr/>
        </p:nvSpPr>
        <p:spPr>
          <a:xfrm>
            <a:off x="5233294" y="2651760"/>
            <a:ext cx="1725107" cy="1051560"/>
          </a:xfrm>
          <a:prstGeom prst="rect">
            <a:avLst/>
          </a:prstGeom>
          <a:noFill/>
          <a:ln/>
        </p:spPr>
        <p:txBody>
          <a:bodyPr wrap="square" lIns="0" tIns="0" rIns="0" bIns="0" rtlCol="0" anchor="ctr"/>
          <a:lstStyle/>
          <a:p>
            <a:pPr marL="0" indent="0">
              <a:lnSpc>
                <a:spcPct val="115000"/>
              </a:lnSpc>
              <a:buNone/>
            </a:pPr>
            <a:r>
              <a:rPr lang="en-US" sz="1150" dirty="0">
                <a:solidFill>
                  <a:srgbClr val="334155"/>
                </a:solidFill>
                <a:latin typeface="Calibri" pitchFamily="34" charset="0"/>
                <a:ea typeface="Calibri" pitchFamily="34" charset="-122"/>
                <a:cs typeface="Calibri" pitchFamily="34" charset="-120"/>
              </a:rPr>
              <a:t>Calculates Pathogenicity Index via XGBoost, Tabular ResNet, or Ensemble mode.</a:t>
            </a:r>
            <a:endParaRPr lang="en-US" sz="1150" dirty="0"/>
          </a:p>
        </p:txBody>
      </p:sp>
      <p:sp>
        <p:nvSpPr>
          <p:cNvPr id="23" name="Shape 21"/>
          <p:cNvSpPr/>
          <p:nvPr/>
        </p:nvSpPr>
        <p:spPr>
          <a:xfrm>
            <a:off x="7278441" y="1691640"/>
            <a:ext cx="1999427" cy="2103120"/>
          </a:xfrm>
          <a:prstGeom prst="roundRect">
            <a:avLst>
              <a:gd name="adj" fmla="val 3659"/>
            </a:avLst>
          </a:prstGeom>
          <a:solidFill>
            <a:srgbClr val="FFFFFF"/>
          </a:solidFill>
          <a:ln w="12700">
            <a:solidFill>
              <a:srgbClr val="CBD5E1"/>
            </a:solidFill>
            <a:prstDash val="solid"/>
          </a:ln>
        </p:spPr>
      </p:sp>
      <p:sp>
        <p:nvSpPr>
          <p:cNvPr id="24" name="Text 22"/>
          <p:cNvSpPr/>
          <p:nvPr/>
        </p:nvSpPr>
        <p:spPr>
          <a:xfrm>
            <a:off x="7415601" y="1874520"/>
            <a:ext cx="1725107" cy="228600"/>
          </a:xfrm>
          <a:prstGeom prst="rect">
            <a:avLst/>
          </a:prstGeom>
          <a:noFill/>
          <a:ln/>
        </p:spPr>
        <p:txBody>
          <a:bodyPr wrap="square" rtlCol="0" anchor="ctr"/>
          <a:lstStyle/>
          <a:p>
            <a:pPr marL="0" indent="0">
              <a:buNone/>
            </a:pPr>
            <a:r>
              <a:rPr lang="en-US" sz="1100" b="1" dirty="0">
                <a:solidFill>
                  <a:srgbClr val="2563EB"/>
                </a:solidFill>
                <a:latin typeface="Calibri" pitchFamily="34" charset="0"/>
                <a:ea typeface="Calibri" pitchFamily="34" charset="-122"/>
                <a:cs typeface="Calibri" pitchFamily="34" charset="-120"/>
              </a:rPr>
              <a:t>STEP 4</a:t>
            </a:r>
            <a:endParaRPr lang="en-US" sz="1100" dirty="0"/>
          </a:p>
        </p:txBody>
      </p:sp>
      <p:sp>
        <p:nvSpPr>
          <p:cNvPr id="25" name="Text 23"/>
          <p:cNvSpPr/>
          <p:nvPr/>
        </p:nvSpPr>
        <p:spPr>
          <a:xfrm>
            <a:off x="7415601" y="2148840"/>
            <a:ext cx="1725107"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TreeSHAP Waterfall</a:t>
            </a:r>
            <a:endParaRPr lang="en-US" sz="1500" dirty="0"/>
          </a:p>
        </p:txBody>
      </p:sp>
      <p:sp>
        <p:nvSpPr>
          <p:cNvPr id="26" name="Shape 24"/>
          <p:cNvSpPr/>
          <p:nvPr/>
        </p:nvSpPr>
        <p:spPr>
          <a:xfrm>
            <a:off x="7415601" y="2514600"/>
            <a:ext cx="1725107" cy="0"/>
          </a:xfrm>
          <a:prstGeom prst="line">
            <a:avLst/>
          </a:prstGeom>
          <a:noFill/>
          <a:ln w="12700">
            <a:solidFill>
              <a:srgbClr val="CBD5E1"/>
            </a:solidFill>
            <a:prstDash val="solid"/>
          </a:ln>
        </p:spPr>
      </p:sp>
      <p:sp>
        <p:nvSpPr>
          <p:cNvPr id="27" name="Text 25"/>
          <p:cNvSpPr/>
          <p:nvPr/>
        </p:nvSpPr>
        <p:spPr>
          <a:xfrm>
            <a:off x="7415601" y="2651760"/>
            <a:ext cx="1725107" cy="1051560"/>
          </a:xfrm>
          <a:prstGeom prst="rect">
            <a:avLst/>
          </a:prstGeom>
          <a:noFill/>
          <a:ln/>
        </p:spPr>
        <p:txBody>
          <a:bodyPr wrap="square" lIns="0" tIns="0" rIns="0" bIns="0" rtlCol="0" anchor="ctr"/>
          <a:lstStyle/>
          <a:p>
            <a:pPr marL="0" indent="0">
              <a:lnSpc>
                <a:spcPct val="115000"/>
              </a:lnSpc>
              <a:buNone/>
            </a:pPr>
            <a:r>
              <a:rPr lang="en-US" sz="1150" dirty="0">
                <a:solidFill>
                  <a:srgbClr val="334155"/>
                </a:solidFill>
                <a:latin typeface="Calibri" pitchFamily="34" charset="0"/>
                <a:ea typeface="Calibri" pitchFamily="34" charset="-122"/>
                <a:cs typeface="Calibri" pitchFamily="34" charset="-120"/>
              </a:rPr>
              <a:t>Computes local Shapley explanations for the top candidate variants.</a:t>
            </a:r>
            <a:endParaRPr lang="en-US" sz="1150" dirty="0"/>
          </a:p>
        </p:txBody>
      </p:sp>
      <p:sp>
        <p:nvSpPr>
          <p:cNvPr id="28" name="Shape 26"/>
          <p:cNvSpPr/>
          <p:nvPr/>
        </p:nvSpPr>
        <p:spPr>
          <a:xfrm>
            <a:off x="9460748" y="1691640"/>
            <a:ext cx="1999427" cy="2103120"/>
          </a:xfrm>
          <a:prstGeom prst="roundRect">
            <a:avLst>
              <a:gd name="adj" fmla="val 3659"/>
            </a:avLst>
          </a:prstGeom>
          <a:solidFill>
            <a:srgbClr val="FFFFFF"/>
          </a:solidFill>
          <a:ln w="12700">
            <a:solidFill>
              <a:srgbClr val="CBD5E1"/>
            </a:solidFill>
            <a:prstDash val="solid"/>
          </a:ln>
        </p:spPr>
      </p:sp>
      <p:sp>
        <p:nvSpPr>
          <p:cNvPr id="29" name="Text 27"/>
          <p:cNvSpPr/>
          <p:nvPr/>
        </p:nvSpPr>
        <p:spPr>
          <a:xfrm>
            <a:off x="9597908" y="1874520"/>
            <a:ext cx="1725107" cy="228600"/>
          </a:xfrm>
          <a:prstGeom prst="rect">
            <a:avLst/>
          </a:prstGeom>
          <a:noFill/>
          <a:ln/>
        </p:spPr>
        <p:txBody>
          <a:bodyPr wrap="square" rtlCol="0" anchor="ctr"/>
          <a:lstStyle/>
          <a:p>
            <a:pPr marL="0" indent="0">
              <a:buNone/>
            </a:pPr>
            <a:r>
              <a:rPr lang="en-US" sz="1100" b="1" dirty="0">
                <a:solidFill>
                  <a:srgbClr val="2563EB"/>
                </a:solidFill>
                <a:latin typeface="Calibri" pitchFamily="34" charset="0"/>
                <a:ea typeface="Calibri" pitchFamily="34" charset="-122"/>
                <a:cs typeface="Calibri" pitchFamily="34" charset="-120"/>
              </a:rPr>
              <a:t>STEP 5</a:t>
            </a:r>
            <a:endParaRPr lang="en-US" sz="1100" dirty="0"/>
          </a:p>
        </p:txBody>
      </p:sp>
      <p:sp>
        <p:nvSpPr>
          <p:cNvPr id="30" name="Text 28"/>
          <p:cNvSpPr/>
          <p:nvPr/>
        </p:nvSpPr>
        <p:spPr>
          <a:xfrm>
            <a:off x="9597908" y="2148840"/>
            <a:ext cx="1725107"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Clinical Export</a:t>
            </a:r>
            <a:endParaRPr lang="en-US" sz="1500" dirty="0"/>
          </a:p>
        </p:txBody>
      </p:sp>
      <p:sp>
        <p:nvSpPr>
          <p:cNvPr id="31" name="Shape 29"/>
          <p:cNvSpPr/>
          <p:nvPr/>
        </p:nvSpPr>
        <p:spPr>
          <a:xfrm>
            <a:off x="9597908" y="2514600"/>
            <a:ext cx="1725107" cy="0"/>
          </a:xfrm>
          <a:prstGeom prst="line">
            <a:avLst/>
          </a:prstGeom>
          <a:noFill/>
          <a:ln w="12700">
            <a:solidFill>
              <a:srgbClr val="CBD5E1"/>
            </a:solidFill>
            <a:prstDash val="solid"/>
          </a:ln>
        </p:spPr>
      </p:sp>
      <p:sp>
        <p:nvSpPr>
          <p:cNvPr id="32" name="Text 30"/>
          <p:cNvSpPr/>
          <p:nvPr/>
        </p:nvSpPr>
        <p:spPr>
          <a:xfrm>
            <a:off x="9597908" y="2651760"/>
            <a:ext cx="1725107" cy="1051560"/>
          </a:xfrm>
          <a:prstGeom prst="rect">
            <a:avLst/>
          </a:prstGeom>
          <a:noFill/>
          <a:ln/>
        </p:spPr>
        <p:txBody>
          <a:bodyPr wrap="square" lIns="0" tIns="0" rIns="0" bIns="0" rtlCol="0" anchor="ctr"/>
          <a:lstStyle/>
          <a:p>
            <a:pPr marL="0" indent="0">
              <a:lnSpc>
                <a:spcPct val="115000"/>
              </a:lnSpc>
              <a:buNone/>
            </a:pPr>
            <a:r>
              <a:rPr lang="en-US" sz="1150" dirty="0">
                <a:solidFill>
                  <a:srgbClr val="334155"/>
                </a:solidFill>
                <a:latin typeface="Calibri" pitchFamily="34" charset="0"/>
                <a:ea typeface="Calibri" pitchFamily="34" charset="-122"/>
                <a:cs typeface="Calibri" pitchFamily="34" charset="-120"/>
              </a:rPr>
              <a:t>Exports Interactive HTML Report, Ranked CSV queue, and Prioritized VCF.</a:t>
            </a:r>
            <a:endParaRPr lang="en-US" sz="1150" dirty="0"/>
          </a:p>
        </p:txBody>
      </p:sp>
      <p:sp>
        <p:nvSpPr>
          <p:cNvPr id="33" name="Shape 31"/>
          <p:cNvSpPr/>
          <p:nvPr/>
        </p:nvSpPr>
        <p:spPr>
          <a:xfrm>
            <a:off x="731520" y="4069080"/>
            <a:ext cx="10728655" cy="2011680"/>
          </a:xfrm>
          <a:prstGeom prst="roundRect">
            <a:avLst>
              <a:gd name="adj" fmla="val 3636"/>
            </a:avLst>
          </a:prstGeom>
          <a:solidFill>
            <a:srgbClr val="0F172A"/>
          </a:solidFill>
          <a:ln w="12700">
            <a:solidFill>
              <a:srgbClr val="334155"/>
            </a:solidFill>
            <a:prstDash val="solid"/>
          </a:ln>
        </p:spPr>
      </p:sp>
      <p:sp>
        <p:nvSpPr>
          <p:cNvPr id="34" name="Text 32"/>
          <p:cNvSpPr/>
          <p:nvPr/>
        </p:nvSpPr>
        <p:spPr>
          <a:xfrm>
            <a:off x="1005840" y="4251960"/>
            <a:ext cx="10180015" cy="228600"/>
          </a:xfrm>
          <a:prstGeom prst="rect">
            <a:avLst/>
          </a:prstGeom>
          <a:noFill/>
          <a:ln/>
        </p:spPr>
        <p:txBody>
          <a:bodyPr wrap="square" rtlCol="0" anchor="ctr"/>
          <a:lstStyle/>
          <a:p>
            <a:pPr marL="0" indent="0">
              <a:buNone/>
            </a:pPr>
            <a:r>
              <a:rPr lang="en-US" sz="1100" b="1" dirty="0">
                <a:solidFill>
                  <a:srgbClr val="38BDF8"/>
                </a:solidFill>
                <a:latin typeface="Courier New" pitchFamily="34" charset="0"/>
                <a:ea typeface="Courier New" pitchFamily="34" charset="-122"/>
                <a:cs typeface="Courier New" pitchFamily="34" charset="-120"/>
              </a:rPr>
              <a:t>STANDALONE PRODUCTION CLI EXECUTION (TOTAL RUNTIME: 4.2 SECONDS)</a:t>
            </a:r>
            <a:endParaRPr lang="en-US" sz="1100" dirty="0"/>
          </a:p>
        </p:txBody>
      </p:sp>
      <p:sp>
        <p:nvSpPr>
          <p:cNvPr id="35" name="Text 33"/>
          <p:cNvSpPr/>
          <p:nvPr/>
        </p:nvSpPr>
        <p:spPr>
          <a:xfrm>
            <a:off x="1005840" y="4572000"/>
            <a:ext cx="10180015" cy="1371600"/>
          </a:xfrm>
          <a:prstGeom prst="rect">
            <a:avLst/>
          </a:prstGeom>
          <a:noFill/>
          <a:ln/>
        </p:spPr>
        <p:txBody>
          <a:bodyPr wrap="square" lIns="0" tIns="0" rIns="0" bIns="0" rtlCol="0" anchor="ctr"/>
          <a:lstStyle/>
          <a:p>
            <a:pPr marL="0" indent="0">
              <a:lnSpc>
                <a:spcPct val="125000"/>
              </a:lnSpc>
              <a:buNone/>
            </a:pPr>
            <a:r>
              <a:rPr lang="en-US" sz="1150" dirty="0">
                <a:solidFill>
                  <a:srgbClr val="F8FAFC"/>
                </a:solidFill>
                <a:latin typeface="Courier New" pitchFamily="34" charset="0"/>
                <a:ea typeface="Courier New" pitchFamily="34" charset="-122"/>
                <a:cs typeface="Courier New" pitchFamily="34" charset="-120"/>
              </a:rPr>
              <a:t>$ python prioritize_sv.py -i patient_sample.vcf -o reports/patient_01/ --model-type dl</a:t>
            </a:r>
            <a:endParaRPr lang="en-US" sz="1150" dirty="0"/>
          </a:p>
          <a:p>
            <a:pPr marL="0" indent="0">
              <a:lnSpc>
                <a:spcPct val="125000"/>
              </a:lnSpc>
              <a:buNone/>
            </a:pPr>
            <a:r>
              <a:rPr lang="en-US" sz="1150" dirty="0">
                <a:solidFill>
                  <a:srgbClr val="F8FAFC"/>
                </a:solidFill>
                <a:latin typeface="Courier New" pitchFamily="34" charset="0"/>
                <a:ea typeface="Courier New" pitchFamily="34" charset="-122"/>
                <a:cs typeface="Courier New" pitchFamily="34" charset="-120"/>
              </a:rPr>
              <a:t>[1/5] Ingesting &amp; Parsing Long-Read VCF... Parsed 7 structural variants (&gt;= 50 bp).</a:t>
            </a:r>
            <a:endParaRPr lang="en-US" sz="1150" dirty="0"/>
          </a:p>
          <a:p>
            <a:pPr marL="0" indent="0">
              <a:lnSpc>
                <a:spcPct val="125000"/>
              </a:lnSpc>
              <a:buNone/>
            </a:pPr>
            <a:r>
              <a:rPr lang="en-US" sz="1150" dirty="0">
                <a:solidFill>
                  <a:srgbClr val="F8FAFC"/>
                </a:solidFill>
                <a:latin typeface="Courier New" pitchFamily="34" charset="0"/>
                <a:ea typeface="Courier New" pitchFamily="34" charset="-122"/>
                <a:cs typeface="Courier New" pitchFamily="34" charset="-120"/>
              </a:rPr>
              <a:t>[2/5] Annotating Population Frequencies &amp; Gene Constraints in 1.26s.</a:t>
            </a:r>
            <a:endParaRPr lang="en-US" sz="1150" dirty="0"/>
          </a:p>
          <a:p>
            <a:pPr marL="0" indent="0">
              <a:lnSpc>
                <a:spcPct val="125000"/>
              </a:lnSpc>
              <a:buNone/>
            </a:pPr>
            <a:r>
              <a:rPr lang="en-US" sz="1150" dirty="0">
                <a:solidFill>
                  <a:srgbClr val="F8FAFC"/>
                </a:solidFill>
                <a:latin typeface="Courier New" pitchFamily="34" charset="0"/>
                <a:ea typeface="Courier New" pitchFamily="34" charset="-122"/>
                <a:cs typeface="Courier New" pitchFamily="34" charset="-120"/>
              </a:rPr>
              <a:t>[3/5] Running Calibrated ML Model Inference (DL): 3 Tier 1 Pathogenic candidates triaged.</a:t>
            </a:r>
            <a:endParaRPr lang="en-US" sz="1150" dirty="0"/>
          </a:p>
          <a:p>
            <a:pPr marL="0" indent="0">
              <a:lnSpc>
                <a:spcPct val="125000"/>
              </a:lnSpc>
              <a:buNone/>
            </a:pPr>
            <a:r>
              <a:rPr lang="en-US" sz="1150" dirty="0">
                <a:solidFill>
                  <a:srgbClr val="F8FAFC"/>
                </a:solidFill>
                <a:latin typeface="Courier New" pitchFamily="34" charset="0"/>
                <a:ea typeface="Courier New" pitchFamily="34" charset="-122"/>
                <a:cs typeface="Courier New" pitchFamily="34" charset="-120"/>
              </a:rPr>
              <a:t>[4/5] Computing TreeSHAP Attributions for Top Candidates in 2.89s.</a:t>
            </a:r>
            <a:endParaRPr lang="en-US" sz="1150" dirty="0"/>
          </a:p>
          <a:p>
            <a:pPr marL="0" indent="0">
              <a:lnSpc>
                <a:spcPct val="125000"/>
              </a:lnSpc>
              <a:buNone/>
            </a:pPr>
            <a:r>
              <a:rPr lang="en-US" sz="1150" dirty="0">
                <a:solidFill>
                  <a:srgbClr val="F8FAFC"/>
                </a:solidFill>
                <a:latin typeface="Courier New" pitchFamily="34" charset="0"/>
                <a:ea typeface="Courier New" pitchFamily="34" charset="-122"/>
                <a:cs typeface="Courier New" pitchFamily="34" charset="-120"/>
              </a:rPr>
              <a:t>[5/5] Clinical Deliverables Exported: clinical_report.html, ranked_variants.csv, prioritized.vcf</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SCIENTIFIC SYNTHESIS</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Discussion</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Biological alignment, continuous neural advantages, and clinical safety considerations</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20 of 24</a:t>
            </a:r>
            <a:endParaRPr lang="en-US" sz="1100" dirty="0"/>
          </a:p>
        </p:txBody>
      </p:sp>
      <p:sp>
        <p:nvSpPr>
          <p:cNvPr id="8" name="Shape 6"/>
          <p:cNvSpPr/>
          <p:nvPr/>
        </p:nvSpPr>
        <p:spPr>
          <a:xfrm>
            <a:off x="731520" y="1691640"/>
            <a:ext cx="3393338" cy="4389120"/>
          </a:xfrm>
          <a:prstGeom prst="roundRect">
            <a:avLst>
              <a:gd name="adj" fmla="val 2156"/>
            </a:avLst>
          </a:prstGeom>
          <a:solidFill>
            <a:srgbClr val="FFFFFF"/>
          </a:solidFill>
          <a:ln w="12700">
            <a:solidFill>
              <a:srgbClr val="CBD5E1"/>
            </a:solidFill>
            <a:prstDash val="solid"/>
          </a:ln>
        </p:spPr>
      </p:sp>
      <p:sp>
        <p:nvSpPr>
          <p:cNvPr id="9" name="Text 7"/>
          <p:cNvSpPr/>
          <p:nvPr/>
        </p:nvSpPr>
        <p:spPr>
          <a:xfrm>
            <a:off x="1005840" y="1965960"/>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Biological Concordance</a:t>
            </a:r>
            <a:endParaRPr lang="en-US" sz="1800" dirty="0"/>
          </a:p>
        </p:txBody>
      </p:sp>
      <p:sp>
        <p:nvSpPr>
          <p:cNvPr id="10" name="Text 8"/>
          <p:cNvSpPr/>
          <p:nvPr/>
        </p:nvSpPr>
        <p:spPr>
          <a:xfrm>
            <a:off x="1005840" y="2560320"/>
            <a:ext cx="2844698" cy="256032"/>
          </a:xfrm>
          <a:prstGeom prst="rect">
            <a:avLst/>
          </a:prstGeom>
          <a:noFill/>
          <a:ln/>
        </p:spPr>
        <p:txBody>
          <a:bodyPr wrap="square" lIns="0" tIns="0" rIns="0" bIns="0" rtlCol="0" anchor="ctr"/>
          <a:lstStyle/>
          <a:p>
            <a:pPr marL="0" indent="0">
              <a:buNone/>
            </a:pPr>
            <a:r>
              <a:rPr lang="en-US" sz="1250" b="1" dirty="0">
                <a:solidFill>
                  <a:srgbClr val="2563EB"/>
                </a:solidFill>
                <a:latin typeface="Calibri" pitchFamily="34" charset="0"/>
                <a:ea typeface="Calibri" pitchFamily="34" charset="-122"/>
                <a:cs typeface="Calibri" pitchFamily="34" charset="-120"/>
              </a:rPr>
              <a:t>Validating Genetic Principles</a:t>
            </a:r>
            <a:endParaRPr lang="en-US" sz="1250" dirty="0"/>
          </a:p>
        </p:txBody>
      </p:sp>
      <p:sp>
        <p:nvSpPr>
          <p:cNvPr id="11" name="Shape 9"/>
          <p:cNvSpPr/>
          <p:nvPr/>
        </p:nvSpPr>
        <p:spPr>
          <a:xfrm>
            <a:off x="1005840" y="2880360"/>
            <a:ext cx="2844698" cy="0"/>
          </a:xfrm>
          <a:prstGeom prst="line">
            <a:avLst/>
          </a:prstGeom>
          <a:noFill/>
          <a:ln w="12700">
            <a:solidFill>
              <a:srgbClr val="CBD5E1"/>
            </a:solidFill>
            <a:prstDash val="solid"/>
          </a:ln>
        </p:spPr>
      </p:sp>
      <p:sp>
        <p:nvSpPr>
          <p:cNvPr id="12" name="Text 10"/>
          <p:cNvSpPr/>
          <p:nvPr/>
        </p:nvSpPr>
        <p:spPr>
          <a:xfrm>
            <a:off x="1005840" y="3063240"/>
            <a:ext cx="2844698" cy="2743200"/>
          </a:xfrm>
          <a:prstGeom prst="rect">
            <a:avLst/>
          </a:prstGeom>
          <a:noFill/>
          <a:ln/>
        </p:spPr>
        <p:txBody>
          <a:bodyPr wrap="square" lIns="0" tIns="0" rIns="0" bIns="0" rtlCol="0" anchor="ctr"/>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The model autonomously learned classic genomic mechanisms: deletions causing complete exon loss in dosage-sensitive genes (high pLI) with near-zero population frequency represent primary drivers of severe genetic disorders.</a:t>
            </a:r>
            <a:endParaRPr lang="en-US" sz="1350" dirty="0"/>
          </a:p>
        </p:txBody>
      </p:sp>
      <p:sp>
        <p:nvSpPr>
          <p:cNvPr id="13" name="Shape 11"/>
          <p:cNvSpPr/>
          <p:nvPr/>
        </p:nvSpPr>
        <p:spPr>
          <a:xfrm>
            <a:off x="4399178" y="1691640"/>
            <a:ext cx="3393338" cy="4389120"/>
          </a:xfrm>
          <a:prstGeom prst="roundRect">
            <a:avLst>
              <a:gd name="adj" fmla="val 2156"/>
            </a:avLst>
          </a:prstGeom>
          <a:solidFill>
            <a:srgbClr val="FFFFFF"/>
          </a:solidFill>
          <a:ln w="12700">
            <a:solidFill>
              <a:srgbClr val="CBD5E1"/>
            </a:solidFill>
            <a:prstDash val="solid"/>
          </a:ln>
        </p:spPr>
      </p:sp>
      <p:sp>
        <p:nvSpPr>
          <p:cNvPr id="14" name="Text 12"/>
          <p:cNvSpPr/>
          <p:nvPr/>
        </p:nvSpPr>
        <p:spPr>
          <a:xfrm>
            <a:off x="4673498" y="1965960"/>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Neural vs Tree Manifolds</a:t>
            </a:r>
            <a:endParaRPr lang="en-US" sz="1800" dirty="0"/>
          </a:p>
        </p:txBody>
      </p:sp>
      <p:sp>
        <p:nvSpPr>
          <p:cNvPr id="15" name="Text 13"/>
          <p:cNvSpPr/>
          <p:nvPr/>
        </p:nvSpPr>
        <p:spPr>
          <a:xfrm>
            <a:off x="4673498" y="2560320"/>
            <a:ext cx="2844698" cy="256032"/>
          </a:xfrm>
          <a:prstGeom prst="rect">
            <a:avLst/>
          </a:prstGeom>
          <a:noFill/>
          <a:ln/>
        </p:spPr>
        <p:txBody>
          <a:bodyPr wrap="square" lIns="0" tIns="0" rIns="0" bIns="0" rtlCol="0" anchor="ctr"/>
          <a:lstStyle/>
          <a:p>
            <a:pPr marL="0" indent="0">
              <a:buNone/>
            </a:pPr>
            <a:r>
              <a:rPr lang="en-US" sz="1250" b="1" dirty="0">
                <a:solidFill>
                  <a:srgbClr val="7C3AED"/>
                </a:solidFill>
                <a:latin typeface="Calibri" pitchFamily="34" charset="0"/>
                <a:ea typeface="Calibri" pitchFamily="34" charset="-122"/>
                <a:cs typeface="Calibri" pitchFamily="34" charset="-120"/>
              </a:rPr>
              <a:t>Smooth Continuous Representations</a:t>
            </a:r>
            <a:endParaRPr lang="en-US" sz="1250" dirty="0"/>
          </a:p>
        </p:txBody>
      </p:sp>
      <p:sp>
        <p:nvSpPr>
          <p:cNvPr id="16" name="Shape 14"/>
          <p:cNvSpPr/>
          <p:nvPr/>
        </p:nvSpPr>
        <p:spPr>
          <a:xfrm>
            <a:off x="4673498" y="2880360"/>
            <a:ext cx="2844698" cy="0"/>
          </a:xfrm>
          <a:prstGeom prst="line">
            <a:avLst/>
          </a:prstGeom>
          <a:noFill/>
          <a:ln w="12700">
            <a:solidFill>
              <a:srgbClr val="CBD5E1"/>
            </a:solidFill>
            <a:prstDash val="solid"/>
          </a:ln>
        </p:spPr>
      </p:sp>
      <p:sp>
        <p:nvSpPr>
          <p:cNvPr id="17" name="Text 15"/>
          <p:cNvSpPr/>
          <p:nvPr/>
        </p:nvSpPr>
        <p:spPr>
          <a:xfrm>
            <a:off x="4673498" y="3063240"/>
            <a:ext cx="2844698" cy="2743200"/>
          </a:xfrm>
          <a:prstGeom prst="rect">
            <a:avLst/>
          </a:prstGeom>
          <a:noFill/>
          <a:ln/>
        </p:spPr>
        <p:txBody>
          <a:bodyPr wrap="square" lIns="0" tIns="0" rIns="0" bIns="0" rtlCol="0" anchor="ctr"/>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Tabular ResNet outperformed decision trees because biological allele frequencies follow exponential decays rather than step functions. Neural residual skip connections smoothly map continuous constraint features without orthogonal discretization.</a:t>
            </a:r>
            <a:endParaRPr lang="en-US" sz="1350" dirty="0"/>
          </a:p>
        </p:txBody>
      </p:sp>
      <p:sp>
        <p:nvSpPr>
          <p:cNvPr id="18" name="Shape 16"/>
          <p:cNvSpPr/>
          <p:nvPr/>
        </p:nvSpPr>
        <p:spPr>
          <a:xfrm>
            <a:off x="8066837" y="1691640"/>
            <a:ext cx="3393338" cy="4389120"/>
          </a:xfrm>
          <a:prstGeom prst="roundRect">
            <a:avLst>
              <a:gd name="adj" fmla="val 2156"/>
            </a:avLst>
          </a:prstGeom>
          <a:solidFill>
            <a:srgbClr val="FFFFFF"/>
          </a:solidFill>
          <a:ln w="12700">
            <a:solidFill>
              <a:srgbClr val="CBD5E1"/>
            </a:solidFill>
            <a:prstDash val="solid"/>
          </a:ln>
        </p:spPr>
      </p:sp>
      <p:sp>
        <p:nvSpPr>
          <p:cNvPr id="19" name="Text 17"/>
          <p:cNvSpPr/>
          <p:nvPr/>
        </p:nvSpPr>
        <p:spPr>
          <a:xfrm>
            <a:off x="8341157" y="1965960"/>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Safety-First Clinical Triage</a:t>
            </a:r>
            <a:endParaRPr lang="en-US" sz="1800" dirty="0"/>
          </a:p>
        </p:txBody>
      </p:sp>
      <p:sp>
        <p:nvSpPr>
          <p:cNvPr id="20" name="Text 18"/>
          <p:cNvSpPr/>
          <p:nvPr/>
        </p:nvSpPr>
        <p:spPr>
          <a:xfrm>
            <a:off x="8341157" y="2560320"/>
            <a:ext cx="2844698" cy="256032"/>
          </a:xfrm>
          <a:prstGeom prst="rect">
            <a:avLst/>
          </a:prstGeom>
          <a:noFill/>
          <a:ln/>
        </p:spPr>
        <p:txBody>
          <a:bodyPr wrap="square" lIns="0" tIns="0" rIns="0" bIns="0" rtlCol="0" anchor="ctr"/>
          <a:lstStyle/>
          <a:p>
            <a:pPr marL="0" indent="0">
              <a:buNone/>
            </a:pPr>
            <a:r>
              <a:rPr lang="en-US" sz="1250" b="1" dirty="0">
                <a:solidFill>
                  <a:srgbClr val="059669"/>
                </a:solidFill>
                <a:latin typeface="Calibri" pitchFamily="34" charset="0"/>
                <a:ea typeface="Calibri" pitchFamily="34" charset="-122"/>
                <a:cs typeface="Calibri" pitchFamily="34" charset="-120"/>
              </a:rPr>
              <a:t>Conformal Prediction Impact</a:t>
            </a:r>
            <a:endParaRPr lang="en-US" sz="1250" dirty="0"/>
          </a:p>
        </p:txBody>
      </p:sp>
      <p:sp>
        <p:nvSpPr>
          <p:cNvPr id="21" name="Shape 19"/>
          <p:cNvSpPr/>
          <p:nvPr/>
        </p:nvSpPr>
        <p:spPr>
          <a:xfrm>
            <a:off x="8341157" y="2880360"/>
            <a:ext cx="2844698" cy="0"/>
          </a:xfrm>
          <a:prstGeom prst="line">
            <a:avLst/>
          </a:prstGeom>
          <a:noFill/>
          <a:ln w="12700">
            <a:solidFill>
              <a:srgbClr val="CBD5E1"/>
            </a:solidFill>
            <a:prstDash val="solid"/>
          </a:ln>
        </p:spPr>
      </p:sp>
      <p:sp>
        <p:nvSpPr>
          <p:cNvPr id="22" name="Text 20"/>
          <p:cNvSpPr/>
          <p:nvPr/>
        </p:nvSpPr>
        <p:spPr>
          <a:xfrm>
            <a:off x="8341157" y="3063240"/>
            <a:ext cx="2844698" cy="2743200"/>
          </a:xfrm>
          <a:prstGeom prst="rect">
            <a:avLst/>
          </a:prstGeom>
          <a:noFill/>
          <a:ln/>
        </p:spPr>
        <p:txBody>
          <a:bodyPr wrap="square" lIns="0" tIns="0" rIns="0" bIns="0" rtlCol="0" anchor="ctr"/>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Replacing arbitrary classification cutoffs with 95% conformal prediction sets provides hospital geneticists with distribution-free certified bounds. Ambiguous variants are safely flagged for functional wet-lab verification.</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CONSTRAINTS</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Limitations</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Technical constraints and inherent boundaries of the current framework</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21 of 24</a:t>
            </a:r>
            <a:endParaRPr lang="en-US" sz="1100" dirty="0"/>
          </a:p>
        </p:txBody>
      </p:sp>
      <p:sp>
        <p:nvSpPr>
          <p:cNvPr id="8" name="Shape 6"/>
          <p:cNvSpPr/>
          <p:nvPr/>
        </p:nvSpPr>
        <p:spPr>
          <a:xfrm>
            <a:off x="731520" y="1691640"/>
            <a:ext cx="3393338" cy="4389120"/>
          </a:xfrm>
          <a:prstGeom prst="roundRect">
            <a:avLst>
              <a:gd name="adj" fmla="val 2156"/>
            </a:avLst>
          </a:prstGeom>
          <a:solidFill>
            <a:srgbClr val="FFFFFF"/>
          </a:solidFill>
          <a:ln w="12700">
            <a:solidFill>
              <a:srgbClr val="CBD5E1"/>
            </a:solidFill>
            <a:prstDash val="solid"/>
          </a:ln>
        </p:spPr>
      </p:sp>
      <p:sp>
        <p:nvSpPr>
          <p:cNvPr id="9" name="Text 7"/>
          <p:cNvSpPr/>
          <p:nvPr/>
        </p:nvSpPr>
        <p:spPr>
          <a:xfrm>
            <a:off x="1005840" y="1965960"/>
            <a:ext cx="2844698" cy="411480"/>
          </a:xfrm>
          <a:prstGeom prst="rect">
            <a:avLst/>
          </a:prstGeom>
          <a:noFill/>
          <a:ln/>
        </p:spPr>
        <p:txBody>
          <a:bodyPr wrap="square" lIns="0" tIns="0" rIns="0" bIns="0" rtlCol="0" anchor="ctr"/>
          <a:lstStyle/>
          <a:p>
            <a:pPr marL="0" indent="0">
              <a:buNone/>
            </a:pPr>
            <a:r>
              <a:rPr lang="en-US" sz="2600" b="1" dirty="0">
                <a:solidFill>
                  <a:srgbClr val="D97706"/>
                </a:solidFill>
                <a:latin typeface="Calibri" pitchFamily="34" charset="0"/>
                <a:ea typeface="Calibri" pitchFamily="34" charset="-122"/>
                <a:cs typeface="Calibri" pitchFamily="34" charset="-120"/>
              </a:rPr>
              <a:t>01</a:t>
            </a:r>
            <a:endParaRPr lang="en-US" sz="2600" dirty="0"/>
          </a:p>
        </p:txBody>
      </p:sp>
      <p:sp>
        <p:nvSpPr>
          <p:cNvPr id="10" name="Text 8"/>
          <p:cNvSpPr/>
          <p:nvPr/>
        </p:nvSpPr>
        <p:spPr>
          <a:xfrm>
            <a:off x="1005840" y="2423160"/>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Ascertainment Bias in Databases</a:t>
            </a:r>
            <a:endParaRPr lang="en-US" sz="1800" dirty="0"/>
          </a:p>
        </p:txBody>
      </p:sp>
      <p:sp>
        <p:nvSpPr>
          <p:cNvPr id="11" name="Shape 9"/>
          <p:cNvSpPr/>
          <p:nvPr/>
        </p:nvSpPr>
        <p:spPr>
          <a:xfrm>
            <a:off x="1005840" y="3063240"/>
            <a:ext cx="2844698" cy="0"/>
          </a:xfrm>
          <a:prstGeom prst="line">
            <a:avLst/>
          </a:prstGeom>
          <a:noFill/>
          <a:ln w="12700">
            <a:solidFill>
              <a:srgbClr val="CBD5E1"/>
            </a:solidFill>
            <a:prstDash val="solid"/>
          </a:ln>
        </p:spPr>
      </p:sp>
      <p:sp>
        <p:nvSpPr>
          <p:cNvPr id="12" name="Text 10"/>
          <p:cNvSpPr/>
          <p:nvPr/>
        </p:nvSpPr>
        <p:spPr>
          <a:xfrm>
            <a:off x="1005840" y="3291840"/>
            <a:ext cx="2844698" cy="2560320"/>
          </a:xfrm>
          <a:prstGeom prst="rect">
            <a:avLst/>
          </a:prstGeom>
          <a:noFill/>
          <a:ln/>
        </p:spPr>
        <p:txBody>
          <a:bodyPr wrap="square" lIns="0" tIns="0" rIns="0" bIns="0" rtlCol="0" anchor="ctr"/>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ClinVar ground truth assertions are heavily enriched for severe pediatric and cancer cohorts. Routine screening of healthy general populations may reveal rare but benign SVs that lack sufficient representation in curated disease databases.</a:t>
            </a:r>
            <a:endParaRPr lang="en-US" sz="1350" dirty="0"/>
          </a:p>
        </p:txBody>
      </p:sp>
      <p:sp>
        <p:nvSpPr>
          <p:cNvPr id="13" name="Shape 11"/>
          <p:cNvSpPr/>
          <p:nvPr/>
        </p:nvSpPr>
        <p:spPr>
          <a:xfrm>
            <a:off x="4399178" y="1691640"/>
            <a:ext cx="3393338" cy="4389120"/>
          </a:xfrm>
          <a:prstGeom prst="roundRect">
            <a:avLst>
              <a:gd name="adj" fmla="val 2156"/>
            </a:avLst>
          </a:prstGeom>
          <a:solidFill>
            <a:srgbClr val="FFFFFF"/>
          </a:solidFill>
          <a:ln w="12700">
            <a:solidFill>
              <a:srgbClr val="CBD5E1"/>
            </a:solidFill>
            <a:prstDash val="solid"/>
          </a:ln>
        </p:spPr>
      </p:sp>
      <p:sp>
        <p:nvSpPr>
          <p:cNvPr id="14" name="Text 12"/>
          <p:cNvSpPr/>
          <p:nvPr/>
        </p:nvSpPr>
        <p:spPr>
          <a:xfrm>
            <a:off x="4673498" y="1965960"/>
            <a:ext cx="2844698" cy="411480"/>
          </a:xfrm>
          <a:prstGeom prst="rect">
            <a:avLst/>
          </a:prstGeom>
          <a:noFill/>
          <a:ln/>
        </p:spPr>
        <p:txBody>
          <a:bodyPr wrap="square" lIns="0" tIns="0" rIns="0" bIns="0" rtlCol="0" anchor="ctr"/>
          <a:lstStyle/>
          <a:p>
            <a:pPr marL="0" indent="0">
              <a:buNone/>
            </a:pPr>
            <a:r>
              <a:rPr lang="en-US" sz="2600" b="1" dirty="0">
                <a:solidFill>
                  <a:srgbClr val="334155"/>
                </a:solidFill>
                <a:latin typeface="Calibri" pitchFamily="34" charset="0"/>
                <a:ea typeface="Calibri" pitchFamily="34" charset="-122"/>
                <a:cs typeface="Calibri" pitchFamily="34" charset="-120"/>
              </a:rPr>
              <a:t>02</a:t>
            </a:r>
            <a:endParaRPr lang="en-US" sz="2600" dirty="0"/>
          </a:p>
        </p:txBody>
      </p:sp>
      <p:sp>
        <p:nvSpPr>
          <p:cNvPr id="15" name="Text 13"/>
          <p:cNvSpPr/>
          <p:nvPr/>
        </p:nvSpPr>
        <p:spPr>
          <a:xfrm>
            <a:off x="4673498" y="2423160"/>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Linear Reference Genome Bias</a:t>
            </a:r>
            <a:endParaRPr lang="en-US" sz="1800" dirty="0"/>
          </a:p>
        </p:txBody>
      </p:sp>
      <p:sp>
        <p:nvSpPr>
          <p:cNvPr id="16" name="Shape 14"/>
          <p:cNvSpPr/>
          <p:nvPr/>
        </p:nvSpPr>
        <p:spPr>
          <a:xfrm>
            <a:off x="4673498" y="3063240"/>
            <a:ext cx="2844698" cy="0"/>
          </a:xfrm>
          <a:prstGeom prst="line">
            <a:avLst/>
          </a:prstGeom>
          <a:noFill/>
          <a:ln w="12700">
            <a:solidFill>
              <a:srgbClr val="CBD5E1"/>
            </a:solidFill>
            <a:prstDash val="solid"/>
          </a:ln>
        </p:spPr>
      </p:sp>
      <p:sp>
        <p:nvSpPr>
          <p:cNvPr id="17" name="Text 15"/>
          <p:cNvSpPr/>
          <p:nvPr/>
        </p:nvSpPr>
        <p:spPr>
          <a:xfrm>
            <a:off x="4673498" y="3291840"/>
            <a:ext cx="2844698" cy="2560320"/>
          </a:xfrm>
          <a:prstGeom prst="rect">
            <a:avLst/>
          </a:prstGeom>
          <a:noFill/>
          <a:ln/>
        </p:spPr>
        <p:txBody>
          <a:bodyPr wrap="square" lIns="0" tIns="0" rIns="0" bIns="0" rtlCol="0" anchor="ctr"/>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Coordinates rely on linear GRCh38 representation. Complex nested rearrangements, multiallelic copy-number polymorphisms, and complex translocations would benefit from graph-based pan-genome coordinate systems.</a:t>
            </a:r>
            <a:endParaRPr lang="en-US" sz="1350" dirty="0"/>
          </a:p>
        </p:txBody>
      </p:sp>
      <p:sp>
        <p:nvSpPr>
          <p:cNvPr id="18" name="Shape 16"/>
          <p:cNvSpPr/>
          <p:nvPr/>
        </p:nvSpPr>
        <p:spPr>
          <a:xfrm>
            <a:off x="8066837" y="1691640"/>
            <a:ext cx="3393338" cy="4389120"/>
          </a:xfrm>
          <a:prstGeom prst="roundRect">
            <a:avLst>
              <a:gd name="adj" fmla="val 2156"/>
            </a:avLst>
          </a:prstGeom>
          <a:solidFill>
            <a:srgbClr val="FFFFFF"/>
          </a:solidFill>
          <a:ln w="12700">
            <a:solidFill>
              <a:srgbClr val="CBD5E1"/>
            </a:solidFill>
            <a:prstDash val="solid"/>
          </a:ln>
        </p:spPr>
      </p:sp>
      <p:sp>
        <p:nvSpPr>
          <p:cNvPr id="19" name="Text 17"/>
          <p:cNvSpPr/>
          <p:nvPr/>
        </p:nvSpPr>
        <p:spPr>
          <a:xfrm>
            <a:off x="8341157" y="1965960"/>
            <a:ext cx="2844698" cy="411480"/>
          </a:xfrm>
          <a:prstGeom prst="rect">
            <a:avLst/>
          </a:prstGeom>
          <a:noFill/>
          <a:ln/>
        </p:spPr>
        <p:txBody>
          <a:bodyPr wrap="square" lIns="0" tIns="0" rIns="0" bIns="0" rtlCol="0" anchor="ctr"/>
          <a:lstStyle/>
          <a:p>
            <a:pPr marL="0" indent="0">
              <a:buNone/>
            </a:pPr>
            <a:r>
              <a:rPr lang="en-US" sz="2600" b="1" dirty="0">
                <a:solidFill>
                  <a:srgbClr val="2563EB"/>
                </a:solidFill>
                <a:latin typeface="Calibri" pitchFamily="34" charset="0"/>
                <a:ea typeface="Calibri" pitchFamily="34" charset="-122"/>
                <a:cs typeface="Calibri" pitchFamily="34" charset="-120"/>
              </a:rPr>
              <a:t>03</a:t>
            </a:r>
            <a:endParaRPr lang="en-US" sz="2600" dirty="0"/>
          </a:p>
        </p:txBody>
      </p:sp>
      <p:sp>
        <p:nvSpPr>
          <p:cNvPr id="20" name="Text 18"/>
          <p:cNvSpPr/>
          <p:nvPr/>
        </p:nvSpPr>
        <p:spPr>
          <a:xfrm>
            <a:off x="8341157" y="2423160"/>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Epigenetic Platform Specificity</a:t>
            </a:r>
            <a:endParaRPr lang="en-US" sz="1800" dirty="0"/>
          </a:p>
        </p:txBody>
      </p:sp>
      <p:sp>
        <p:nvSpPr>
          <p:cNvPr id="21" name="Shape 19"/>
          <p:cNvSpPr/>
          <p:nvPr/>
        </p:nvSpPr>
        <p:spPr>
          <a:xfrm>
            <a:off x="8341157" y="3063240"/>
            <a:ext cx="2844698" cy="0"/>
          </a:xfrm>
          <a:prstGeom prst="line">
            <a:avLst/>
          </a:prstGeom>
          <a:noFill/>
          <a:ln w="12700">
            <a:solidFill>
              <a:srgbClr val="CBD5E1"/>
            </a:solidFill>
            <a:prstDash val="solid"/>
          </a:ln>
        </p:spPr>
      </p:sp>
      <p:sp>
        <p:nvSpPr>
          <p:cNvPr id="22" name="Text 20"/>
          <p:cNvSpPr/>
          <p:nvPr/>
        </p:nvSpPr>
        <p:spPr>
          <a:xfrm>
            <a:off x="8341157" y="3291840"/>
            <a:ext cx="2844698" cy="2560320"/>
          </a:xfrm>
          <a:prstGeom prst="rect">
            <a:avLst/>
          </a:prstGeom>
          <a:noFill/>
          <a:ln/>
        </p:spPr>
        <p:txBody>
          <a:bodyPr wrap="square" lIns="0" tIns="0" rIns="0" bIns="0" rtlCol="0" anchor="ctr"/>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Long-read 5mC DNA methylation features are natively called by Oxford Nanopore sequencers. While highly informative for promoter disruption, they are unavailable in legacy PacBio CLR or standard short-read sequencing runs.</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Future Scope</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Strategic scientific enhancements for expanding platform capabilities</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22 of 24</a:t>
            </a:r>
            <a:endParaRPr lang="en-US" sz="1100" dirty="0"/>
          </a:p>
        </p:txBody>
      </p:sp>
      <p:sp>
        <p:nvSpPr>
          <p:cNvPr id="8" name="Shape 6"/>
          <p:cNvSpPr/>
          <p:nvPr/>
        </p:nvSpPr>
        <p:spPr>
          <a:xfrm>
            <a:off x="731520" y="1691640"/>
            <a:ext cx="3393338" cy="4389120"/>
          </a:xfrm>
          <a:prstGeom prst="roundRect">
            <a:avLst>
              <a:gd name="adj" fmla="val 2156"/>
            </a:avLst>
          </a:prstGeom>
          <a:solidFill>
            <a:srgbClr val="FFFFFF"/>
          </a:solidFill>
          <a:ln w="12700">
            <a:solidFill>
              <a:srgbClr val="CBD5E1"/>
            </a:solidFill>
            <a:prstDash val="solid"/>
          </a:ln>
        </p:spPr>
      </p:sp>
      <p:sp>
        <p:nvSpPr>
          <p:cNvPr id="9" name="Text 7"/>
          <p:cNvSpPr/>
          <p:nvPr/>
        </p:nvSpPr>
        <p:spPr>
          <a:xfrm>
            <a:off x="1005840" y="1965960"/>
            <a:ext cx="2844698" cy="411480"/>
          </a:xfrm>
          <a:prstGeom prst="rect">
            <a:avLst/>
          </a:prstGeom>
          <a:noFill/>
          <a:ln/>
        </p:spPr>
        <p:txBody>
          <a:bodyPr wrap="square" lIns="0" tIns="0" rIns="0" bIns="0" rtlCol="0" anchor="ctr"/>
          <a:lstStyle/>
          <a:p>
            <a:pPr marL="0" indent="0">
              <a:buNone/>
            </a:pPr>
            <a:r>
              <a:rPr lang="en-US" sz="2600" b="1" dirty="0">
                <a:solidFill>
                  <a:srgbClr val="2563EB"/>
                </a:solidFill>
                <a:latin typeface="Calibri" pitchFamily="34" charset="0"/>
                <a:ea typeface="Calibri" pitchFamily="34" charset="-122"/>
                <a:cs typeface="Calibri" pitchFamily="34" charset="-120"/>
              </a:rPr>
              <a:t>01</a:t>
            </a:r>
            <a:endParaRPr lang="en-US" sz="2600" dirty="0"/>
          </a:p>
        </p:txBody>
      </p:sp>
      <p:sp>
        <p:nvSpPr>
          <p:cNvPr id="10" name="Text 8"/>
          <p:cNvSpPr/>
          <p:nvPr/>
        </p:nvSpPr>
        <p:spPr>
          <a:xfrm>
            <a:off x="1005840" y="2423160"/>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Pan-Genome Graph Integration</a:t>
            </a:r>
            <a:endParaRPr lang="en-US" sz="1800" dirty="0"/>
          </a:p>
        </p:txBody>
      </p:sp>
      <p:sp>
        <p:nvSpPr>
          <p:cNvPr id="11" name="Shape 9"/>
          <p:cNvSpPr/>
          <p:nvPr/>
        </p:nvSpPr>
        <p:spPr>
          <a:xfrm>
            <a:off x="1005840" y="3063240"/>
            <a:ext cx="2844698" cy="0"/>
          </a:xfrm>
          <a:prstGeom prst="line">
            <a:avLst/>
          </a:prstGeom>
          <a:noFill/>
          <a:ln w="12700">
            <a:solidFill>
              <a:srgbClr val="CBD5E1"/>
            </a:solidFill>
            <a:prstDash val="solid"/>
          </a:ln>
        </p:spPr>
      </p:sp>
      <p:sp>
        <p:nvSpPr>
          <p:cNvPr id="12" name="Text 10"/>
          <p:cNvSpPr/>
          <p:nvPr/>
        </p:nvSpPr>
        <p:spPr>
          <a:xfrm>
            <a:off x="1005840" y="3291840"/>
            <a:ext cx="2844698" cy="2560320"/>
          </a:xfrm>
          <a:prstGeom prst="rect">
            <a:avLst/>
          </a:prstGeom>
          <a:noFill/>
          <a:ln/>
        </p:spPr>
        <p:txBody>
          <a:bodyPr wrap="square" lIns="0" tIns="0" rIns="0" bIns="0" rtlCol="0" anchor="ctr"/>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Integrate variation graph toolkits (Minigraph-Cactus / VG) to resolve multiallelic copy-number variants and complex inversion breakpoints across ancestral pan-genome reference backbones.</a:t>
            </a:r>
            <a:endParaRPr lang="en-US" sz="1350" dirty="0"/>
          </a:p>
        </p:txBody>
      </p:sp>
      <p:sp>
        <p:nvSpPr>
          <p:cNvPr id="13" name="Shape 11"/>
          <p:cNvSpPr/>
          <p:nvPr/>
        </p:nvSpPr>
        <p:spPr>
          <a:xfrm>
            <a:off x="4399178" y="1691640"/>
            <a:ext cx="3393338" cy="4389120"/>
          </a:xfrm>
          <a:prstGeom prst="roundRect">
            <a:avLst>
              <a:gd name="adj" fmla="val 2156"/>
            </a:avLst>
          </a:prstGeom>
          <a:solidFill>
            <a:srgbClr val="FFFFFF"/>
          </a:solidFill>
          <a:ln w="12700">
            <a:solidFill>
              <a:srgbClr val="CBD5E1"/>
            </a:solidFill>
            <a:prstDash val="solid"/>
          </a:ln>
        </p:spPr>
      </p:sp>
      <p:sp>
        <p:nvSpPr>
          <p:cNvPr id="14" name="Text 12"/>
          <p:cNvSpPr/>
          <p:nvPr/>
        </p:nvSpPr>
        <p:spPr>
          <a:xfrm>
            <a:off x="4673498" y="1965960"/>
            <a:ext cx="2844698" cy="411480"/>
          </a:xfrm>
          <a:prstGeom prst="rect">
            <a:avLst/>
          </a:prstGeom>
          <a:noFill/>
          <a:ln/>
        </p:spPr>
        <p:txBody>
          <a:bodyPr wrap="square" lIns="0" tIns="0" rIns="0" bIns="0" rtlCol="0" anchor="ctr"/>
          <a:lstStyle/>
          <a:p>
            <a:pPr marL="0" indent="0">
              <a:buNone/>
            </a:pPr>
            <a:r>
              <a:rPr lang="en-US" sz="2600" b="1" dirty="0">
                <a:solidFill>
                  <a:srgbClr val="7C3AED"/>
                </a:solidFill>
                <a:latin typeface="Calibri" pitchFamily="34" charset="0"/>
                <a:ea typeface="Calibri" pitchFamily="34" charset="-122"/>
                <a:cs typeface="Calibri" pitchFamily="34" charset="-120"/>
              </a:rPr>
              <a:t>02</a:t>
            </a:r>
            <a:endParaRPr lang="en-US" sz="2600" dirty="0"/>
          </a:p>
        </p:txBody>
      </p:sp>
      <p:sp>
        <p:nvSpPr>
          <p:cNvPr id="15" name="Text 13"/>
          <p:cNvSpPr/>
          <p:nvPr/>
        </p:nvSpPr>
        <p:spPr>
          <a:xfrm>
            <a:off x="4673498" y="2423160"/>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Phenotype-Driven Prioritization</a:t>
            </a:r>
            <a:endParaRPr lang="en-US" sz="1800" dirty="0"/>
          </a:p>
        </p:txBody>
      </p:sp>
      <p:sp>
        <p:nvSpPr>
          <p:cNvPr id="16" name="Shape 14"/>
          <p:cNvSpPr/>
          <p:nvPr/>
        </p:nvSpPr>
        <p:spPr>
          <a:xfrm>
            <a:off x="4673498" y="3063240"/>
            <a:ext cx="2844698" cy="0"/>
          </a:xfrm>
          <a:prstGeom prst="line">
            <a:avLst/>
          </a:prstGeom>
          <a:noFill/>
          <a:ln w="12700">
            <a:solidFill>
              <a:srgbClr val="CBD5E1"/>
            </a:solidFill>
            <a:prstDash val="solid"/>
          </a:ln>
        </p:spPr>
      </p:sp>
      <p:sp>
        <p:nvSpPr>
          <p:cNvPr id="17" name="Text 15"/>
          <p:cNvSpPr/>
          <p:nvPr/>
        </p:nvSpPr>
        <p:spPr>
          <a:xfrm>
            <a:off x="4673498" y="3291840"/>
            <a:ext cx="2844698" cy="2560320"/>
          </a:xfrm>
          <a:prstGeom prst="rect">
            <a:avLst/>
          </a:prstGeom>
          <a:noFill/>
          <a:ln/>
        </p:spPr>
        <p:txBody>
          <a:bodyPr wrap="square" lIns="0" tIns="0" rIns="0" bIns="0" rtlCol="0" anchor="ctr"/>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Incorporate patient electronic health records (EHR) and Human Phenotype Ontology (HPO) terms to dynamically weight pathogenicity scores by patient-specific clinical symptoms.</a:t>
            </a:r>
            <a:endParaRPr lang="en-US" sz="1350" dirty="0"/>
          </a:p>
        </p:txBody>
      </p:sp>
      <p:sp>
        <p:nvSpPr>
          <p:cNvPr id="18" name="Shape 16"/>
          <p:cNvSpPr/>
          <p:nvPr/>
        </p:nvSpPr>
        <p:spPr>
          <a:xfrm>
            <a:off x="8066837" y="1691640"/>
            <a:ext cx="3393338" cy="4389120"/>
          </a:xfrm>
          <a:prstGeom prst="roundRect">
            <a:avLst>
              <a:gd name="adj" fmla="val 2156"/>
            </a:avLst>
          </a:prstGeom>
          <a:solidFill>
            <a:srgbClr val="FFFFFF"/>
          </a:solidFill>
          <a:ln w="12700">
            <a:solidFill>
              <a:srgbClr val="CBD5E1"/>
            </a:solidFill>
            <a:prstDash val="solid"/>
          </a:ln>
        </p:spPr>
      </p:sp>
      <p:sp>
        <p:nvSpPr>
          <p:cNvPr id="19" name="Text 17"/>
          <p:cNvSpPr/>
          <p:nvPr/>
        </p:nvSpPr>
        <p:spPr>
          <a:xfrm>
            <a:off x="8341157" y="1965960"/>
            <a:ext cx="2844698" cy="411480"/>
          </a:xfrm>
          <a:prstGeom prst="rect">
            <a:avLst/>
          </a:prstGeom>
          <a:noFill/>
          <a:ln/>
        </p:spPr>
        <p:txBody>
          <a:bodyPr wrap="square" lIns="0" tIns="0" rIns="0" bIns="0" rtlCol="0" anchor="ctr"/>
          <a:lstStyle/>
          <a:p>
            <a:pPr marL="0" indent="0">
              <a:buNone/>
            </a:pPr>
            <a:r>
              <a:rPr lang="en-US" sz="2600" b="1" dirty="0">
                <a:solidFill>
                  <a:srgbClr val="059669"/>
                </a:solidFill>
                <a:latin typeface="Calibri" pitchFamily="34" charset="0"/>
                <a:ea typeface="Calibri" pitchFamily="34" charset="-122"/>
                <a:cs typeface="Calibri" pitchFamily="34" charset="-120"/>
              </a:rPr>
              <a:t>03</a:t>
            </a:r>
            <a:endParaRPr lang="en-US" sz="2600" dirty="0"/>
          </a:p>
        </p:txBody>
      </p:sp>
      <p:sp>
        <p:nvSpPr>
          <p:cNvPr id="20" name="Text 18"/>
          <p:cNvSpPr/>
          <p:nvPr/>
        </p:nvSpPr>
        <p:spPr>
          <a:xfrm>
            <a:off x="8341157" y="2423160"/>
            <a:ext cx="2844698" cy="59436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Genomic Foundation Models</a:t>
            </a:r>
            <a:endParaRPr lang="en-US" sz="1800" dirty="0"/>
          </a:p>
        </p:txBody>
      </p:sp>
      <p:sp>
        <p:nvSpPr>
          <p:cNvPr id="21" name="Shape 19"/>
          <p:cNvSpPr/>
          <p:nvPr/>
        </p:nvSpPr>
        <p:spPr>
          <a:xfrm>
            <a:off x="8341157" y="3063240"/>
            <a:ext cx="2844698" cy="0"/>
          </a:xfrm>
          <a:prstGeom prst="line">
            <a:avLst/>
          </a:prstGeom>
          <a:noFill/>
          <a:ln w="12700">
            <a:solidFill>
              <a:srgbClr val="CBD5E1"/>
            </a:solidFill>
            <a:prstDash val="solid"/>
          </a:ln>
        </p:spPr>
      </p:sp>
      <p:sp>
        <p:nvSpPr>
          <p:cNvPr id="22" name="Text 20"/>
          <p:cNvSpPr/>
          <p:nvPr/>
        </p:nvSpPr>
        <p:spPr>
          <a:xfrm>
            <a:off x="8341157" y="3291840"/>
            <a:ext cx="2844698" cy="2560320"/>
          </a:xfrm>
          <a:prstGeom prst="rect">
            <a:avLst/>
          </a:prstGeom>
          <a:noFill/>
          <a:ln/>
        </p:spPr>
        <p:txBody>
          <a:bodyPr wrap="square" lIns="0" tIns="0" rIns="0" bIns="0" rtlCol="0" anchor="ctr"/>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Fine-tune pre-trained genomic language models (e.g. Nucleotide Transformer, HyenaDNA) on structural variant breakpoint sequences to capture deep non-coding regulatory syntax.</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822960"/>
            <a:ext cx="10728655" cy="320040"/>
          </a:xfrm>
          <a:prstGeom prst="rect">
            <a:avLst/>
          </a:prstGeom>
          <a:noFill/>
          <a:ln/>
        </p:spPr>
        <p:txBody>
          <a:bodyPr wrap="square" rtlCol="0" anchor="ctr"/>
          <a:lstStyle/>
          <a:p>
            <a:pPr marL="0" indent="0">
              <a:buNone/>
            </a:pPr>
            <a:r>
              <a:rPr lang="en-US" sz="1300" b="1" dirty="0">
                <a:solidFill>
                  <a:srgbClr val="60A5FA"/>
                </a:solidFill>
                <a:latin typeface="Calibri" pitchFamily="34" charset="0"/>
                <a:ea typeface="Calibri" pitchFamily="34" charset="-122"/>
                <a:cs typeface="Calibri" pitchFamily="34" charset="-120"/>
              </a:rPr>
              <a:t>PROJECT SUMMARY &amp; DEFENSE CONCLUSION</a:t>
            </a:r>
            <a:endParaRPr lang="en-US" sz="1300" dirty="0"/>
          </a:p>
        </p:txBody>
      </p:sp>
      <p:sp>
        <p:nvSpPr>
          <p:cNvPr id="3" name="Text 1"/>
          <p:cNvSpPr/>
          <p:nvPr/>
        </p:nvSpPr>
        <p:spPr>
          <a:xfrm>
            <a:off x="731520" y="1234440"/>
            <a:ext cx="10728655"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Conclusion: Summary of Scientific Contributions</a:t>
            </a:r>
            <a:endParaRPr lang="en-US" sz="2600" dirty="0"/>
          </a:p>
        </p:txBody>
      </p:sp>
      <p:sp>
        <p:nvSpPr>
          <p:cNvPr id="4" name="Shape 2"/>
          <p:cNvSpPr/>
          <p:nvPr/>
        </p:nvSpPr>
        <p:spPr>
          <a:xfrm>
            <a:off x="731520" y="1920240"/>
            <a:ext cx="3657600" cy="0"/>
          </a:xfrm>
          <a:prstGeom prst="line">
            <a:avLst/>
          </a:prstGeom>
          <a:noFill/>
          <a:ln w="31750">
            <a:solidFill>
              <a:srgbClr val="38BDF8"/>
            </a:solidFill>
            <a:prstDash val="solid"/>
          </a:ln>
        </p:spPr>
      </p:sp>
      <p:sp>
        <p:nvSpPr>
          <p:cNvPr id="5" name="Shape 3"/>
          <p:cNvSpPr/>
          <p:nvPr/>
        </p:nvSpPr>
        <p:spPr>
          <a:xfrm>
            <a:off x="731520" y="2286000"/>
            <a:ext cx="2476424" cy="3749040"/>
          </a:xfrm>
          <a:prstGeom prst="roundRect">
            <a:avLst>
              <a:gd name="adj" fmla="val 2954"/>
            </a:avLst>
          </a:prstGeom>
          <a:solidFill>
            <a:srgbClr val="1E293B"/>
          </a:solidFill>
          <a:ln w="12700">
            <a:solidFill>
              <a:srgbClr val="334155"/>
            </a:solidFill>
            <a:prstDash val="solid"/>
          </a:ln>
        </p:spPr>
      </p:sp>
      <p:sp>
        <p:nvSpPr>
          <p:cNvPr id="6" name="Text 4"/>
          <p:cNvSpPr/>
          <p:nvPr/>
        </p:nvSpPr>
        <p:spPr>
          <a:xfrm>
            <a:off x="960120" y="2514600"/>
            <a:ext cx="2019224" cy="411480"/>
          </a:xfrm>
          <a:prstGeom prst="rect">
            <a:avLst/>
          </a:prstGeom>
          <a:noFill/>
          <a:ln/>
        </p:spPr>
        <p:txBody>
          <a:bodyPr wrap="square" lIns="0" tIns="0" rIns="0" bIns="0" rtlCol="0" anchor="ctr"/>
          <a:lstStyle/>
          <a:p>
            <a:pPr marL="0" indent="0">
              <a:buNone/>
            </a:pPr>
            <a:r>
              <a:rPr lang="en-US" sz="2400" b="1" dirty="0">
                <a:solidFill>
                  <a:srgbClr val="38BDF8"/>
                </a:solidFill>
                <a:latin typeface="Calibri" pitchFamily="34" charset="0"/>
                <a:ea typeface="Calibri" pitchFamily="34" charset="-122"/>
                <a:cs typeface="Calibri" pitchFamily="34" charset="-120"/>
              </a:rPr>
              <a:t>01</a:t>
            </a:r>
            <a:endParaRPr lang="en-US" sz="2400" dirty="0"/>
          </a:p>
        </p:txBody>
      </p:sp>
      <p:sp>
        <p:nvSpPr>
          <p:cNvPr id="7" name="Text 5"/>
          <p:cNvSpPr/>
          <p:nvPr/>
        </p:nvSpPr>
        <p:spPr>
          <a:xfrm>
            <a:off x="960120" y="2971800"/>
            <a:ext cx="2019224" cy="5943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Leakage-Free Genomic Framework</a:t>
            </a:r>
            <a:endParaRPr lang="en-US" sz="1600" dirty="0"/>
          </a:p>
        </p:txBody>
      </p:sp>
      <p:sp>
        <p:nvSpPr>
          <p:cNvPr id="8" name="Shape 6"/>
          <p:cNvSpPr/>
          <p:nvPr/>
        </p:nvSpPr>
        <p:spPr>
          <a:xfrm>
            <a:off x="960120" y="3611880"/>
            <a:ext cx="2019224" cy="0"/>
          </a:xfrm>
          <a:prstGeom prst="line">
            <a:avLst/>
          </a:prstGeom>
          <a:noFill/>
          <a:ln w="12700">
            <a:solidFill>
              <a:srgbClr val="334155"/>
            </a:solidFill>
            <a:prstDash val="solid"/>
          </a:ln>
        </p:spPr>
      </p:sp>
      <p:sp>
        <p:nvSpPr>
          <p:cNvPr id="9" name="Text 7"/>
          <p:cNvSpPr/>
          <p:nvPr/>
        </p:nvSpPr>
        <p:spPr>
          <a:xfrm>
            <a:off x="960120" y="3794760"/>
            <a:ext cx="2019224" cy="2057400"/>
          </a:xfrm>
          <a:prstGeom prst="rect">
            <a:avLst/>
          </a:prstGeom>
          <a:noFill/>
          <a:ln/>
        </p:spPr>
        <p:txBody>
          <a:bodyPr wrap="square" lIns="0" tIns="0" rIns="0" bIns="0" rtlCol="0" anchor="ctr"/>
          <a:lstStyle/>
          <a:p>
            <a:pPr marL="0" indent="0">
              <a:lnSpc>
                <a:spcPct val="125000"/>
              </a:lnSpc>
              <a:buNone/>
            </a:pPr>
            <a:r>
              <a:rPr lang="en-US" sz="1250" dirty="0">
                <a:solidFill>
                  <a:srgbClr val="94A3B8"/>
                </a:solidFill>
                <a:latin typeface="Calibri" pitchFamily="34" charset="0"/>
                <a:ea typeface="Calibri" pitchFamily="34" charset="-122"/>
                <a:cs typeface="Calibri" pitchFamily="34" charset="-120"/>
              </a:rPr>
              <a:t>Established strict chromosomal disjoint partitioning (0.0% locus leakage) across 44,268 harmonized ClinVar and gnomAD structural variants, preventing optimistic evaluation bias.</a:t>
            </a:r>
            <a:endParaRPr lang="en-US" sz="1250" dirty="0"/>
          </a:p>
        </p:txBody>
      </p:sp>
      <p:sp>
        <p:nvSpPr>
          <p:cNvPr id="10" name="Shape 8"/>
          <p:cNvSpPr/>
          <p:nvPr/>
        </p:nvSpPr>
        <p:spPr>
          <a:xfrm>
            <a:off x="3482264" y="2286000"/>
            <a:ext cx="2476424" cy="3749040"/>
          </a:xfrm>
          <a:prstGeom prst="roundRect">
            <a:avLst>
              <a:gd name="adj" fmla="val 2954"/>
            </a:avLst>
          </a:prstGeom>
          <a:solidFill>
            <a:srgbClr val="1E293B"/>
          </a:solidFill>
          <a:ln w="12700">
            <a:solidFill>
              <a:srgbClr val="334155"/>
            </a:solidFill>
            <a:prstDash val="solid"/>
          </a:ln>
        </p:spPr>
      </p:sp>
      <p:sp>
        <p:nvSpPr>
          <p:cNvPr id="11" name="Text 9"/>
          <p:cNvSpPr/>
          <p:nvPr/>
        </p:nvSpPr>
        <p:spPr>
          <a:xfrm>
            <a:off x="3710864" y="2514600"/>
            <a:ext cx="2019224" cy="411480"/>
          </a:xfrm>
          <a:prstGeom prst="rect">
            <a:avLst/>
          </a:prstGeom>
          <a:noFill/>
          <a:ln/>
        </p:spPr>
        <p:txBody>
          <a:bodyPr wrap="square" lIns="0" tIns="0" rIns="0" bIns="0" rtlCol="0" anchor="ctr"/>
          <a:lstStyle/>
          <a:p>
            <a:pPr marL="0" indent="0">
              <a:buNone/>
            </a:pPr>
            <a:r>
              <a:rPr lang="en-US" sz="2400" b="1" dirty="0">
                <a:solidFill>
                  <a:srgbClr val="38BDF8"/>
                </a:solidFill>
                <a:latin typeface="Calibri" pitchFamily="34" charset="0"/>
                <a:ea typeface="Calibri" pitchFamily="34" charset="-122"/>
                <a:cs typeface="Calibri" pitchFamily="34" charset="-120"/>
              </a:rPr>
              <a:t>02</a:t>
            </a:r>
            <a:endParaRPr lang="en-US" sz="2400" dirty="0"/>
          </a:p>
        </p:txBody>
      </p:sp>
      <p:sp>
        <p:nvSpPr>
          <p:cNvPr id="12" name="Text 10"/>
          <p:cNvSpPr/>
          <p:nvPr/>
        </p:nvSpPr>
        <p:spPr>
          <a:xfrm>
            <a:off x="3710864" y="2971800"/>
            <a:ext cx="2019224" cy="5943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Deep Learning &amp; Calibration Breakthrough</a:t>
            </a:r>
            <a:endParaRPr lang="en-US" sz="1600" dirty="0"/>
          </a:p>
        </p:txBody>
      </p:sp>
      <p:sp>
        <p:nvSpPr>
          <p:cNvPr id="13" name="Shape 11"/>
          <p:cNvSpPr/>
          <p:nvPr/>
        </p:nvSpPr>
        <p:spPr>
          <a:xfrm>
            <a:off x="3710864" y="3611880"/>
            <a:ext cx="2019224" cy="0"/>
          </a:xfrm>
          <a:prstGeom prst="line">
            <a:avLst/>
          </a:prstGeom>
          <a:noFill/>
          <a:ln w="12700">
            <a:solidFill>
              <a:srgbClr val="334155"/>
            </a:solidFill>
            <a:prstDash val="solid"/>
          </a:ln>
        </p:spPr>
      </p:sp>
      <p:sp>
        <p:nvSpPr>
          <p:cNvPr id="14" name="Text 12"/>
          <p:cNvSpPr/>
          <p:nvPr/>
        </p:nvSpPr>
        <p:spPr>
          <a:xfrm>
            <a:off x="3710864" y="3794760"/>
            <a:ext cx="2019224" cy="2057400"/>
          </a:xfrm>
          <a:prstGeom prst="rect">
            <a:avLst/>
          </a:prstGeom>
          <a:noFill/>
          <a:ln/>
        </p:spPr>
        <p:txBody>
          <a:bodyPr wrap="square" lIns="0" tIns="0" rIns="0" bIns="0" rtlCol="0" anchor="ctr"/>
          <a:lstStyle/>
          <a:p>
            <a:pPr marL="0" indent="0">
              <a:lnSpc>
                <a:spcPct val="125000"/>
              </a:lnSpc>
              <a:buNone/>
            </a:pPr>
            <a:r>
              <a:rPr lang="en-US" sz="1250" dirty="0">
                <a:solidFill>
                  <a:srgbClr val="94A3B8"/>
                </a:solidFill>
                <a:latin typeface="Calibri" pitchFamily="34" charset="0"/>
                <a:ea typeface="Calibri" pitchFamily="34" charset="-122"/>
                <a:cs typeface="Calibri" pitchFamily="34" charset="-120"/>
              </a:rPr>
              <a:t>Developed PyTorch Tabular ResNet &amp; Multimodal Cross-Attention architectures reaching peak 0.9705 PR-AUC and 94.4% clinical sensitivity, slashing false negatives from 1,745 down to 414.</a:t>
            </a:r>
            <a:endParaRPr lang="en-US" sz="1250" dirty="0"/>
          </a:p>
        </p:txBody>
      </p:sp>
      <p:sp>
        <p:nvSpPr>
          <p:cNvPr id="15" name="Shape 13"/>
          <p:cNvSpPr/>
          <p:nvPr/>
        </p:nvSpPr>
        <p:spPr>
          <a:xfrm>
            <a:off x="6233008" y="2286000"/>
            <a:ext cx="2476424" cy="3749040"/>
          </a:xfrm>
          <a:prstGeom prst="roundRect">
            <a:avLst>
              <a:gd name="adj" fmla="val 2954"/>
            </a:avLst>
          </a:prstGeom>
          <a:solidFill>
            <a:srgbClr val="1E293B"/>
          </a:solidFill>
          <a:ln w="12700">
            <a:solidFill>
              <a:srgbClr val="334155"/>
            </a:solidFill>
            <a:prstDash val="solid"/>
          </a:ln>
        </p:spPr>
      </p:sp>
      <p:sp>
        <p:nvSpPr>
          <p:cNvPr id="16" name="Text 14"/>
          <p:cNvSpPr/>
          <p:nvPr/>
        </p:nvSpPr>
        <p:spPr>
          <a:xfrm>
            <a:off x="6461608" y="2514600"/>
            <a:ext cx="2019224" cy="411480"/>
          </a:xfrm>
          <a:prstGeom prst="rect">
            <a:avLst/>
          </a:prstGeom>
          <a:noFill/>
          <a:ln/>
        </p:spPr>
        <p:txBody>
          <a:bodyPr wrap="square" lIns="0" tIns="0" rIns="0" bIns="0" rtlCol="0" anchor="ctr"/>
          <a:lstStyle/>
          <a:p>
            <a:pPr marL="0" indent="0">
              <a:buNone/>
            </a:pPr>
            <a:r>
              <a:rPr lang="en-US" sz="2400" b="1" dirty="0">
                <a:solidFill>
                  <a:srgbClr val="38BDF8"/>
                </a:solidFill>
                <a:latin typeface="Calibri" pitchFamily="34" charset="0"/>
                <a:ea typeface="Calibri" pitchFamily="34" charset="-122"/>
                <a:cs typeface="Calibri" pitchFamily="34" charset="-120"/>
              </a:rPr>
              <a:t>03</a:t>
            </a:r>
            <a:endParaRPr lang="en-US" sz="2400" dirty="0"/>
          </a:p>
        </p:txBody>
      </p:sp>
      <p:sp>
        <p:nvSpPr>
          <p:cNvPr id="17" name="Text 15"/>
          <p:cNvSpPr/>
          <p:nvPr/>
        </p:nvSpPr>
        <p:spPr>
          <a:xfrm>
            <a:off x="6461608" y="2971800"/>
            <a:ext cx="2019224" cy="5943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Certified Mathematical Safety</a:t>
            </a:r>
            <a:endParaRPr lang="en-US" sz="1600" dirty="0"/>
          </a:p>
        </p:txBody>
      </p:sp>
      <p:sp>
        <p:nvSpPr>
          <p:cNvPr id="18" name="Shape 16"/>
          <p:cNvSpPr/>
          <p:nvPr/>
        </p:nvSpPr>
        <p:spPr>
          <a:xfrm>
            <a:off x="6461608" y="3611880"/>
            <a:ext cx="2019224" cy="0"/>
          </a:xfrm>
          <a:prstGeom prst="line">
            <a:avLst/>
          </a:prstGeom>
          <a:noFill/>
          <a:ln w="12700">
            <a:solidFill>
              <a:srgbClr val="334155"/>
            </a:solidFill>
            <a:prstDash val="solid"/>
          </a:ln>
        </p:spPr>
      </p:sp>
      <p:sp>
        <p:nvSpPr>
          <p:cNvPr id="19" name="Text 17"/>
          <p:cNvSpPr/>
          <p:nvPr/>
        </p:nvSpPr>
        <p:spPr>
          <a:xfrm>
            <a:off x="6461608" y="3794760"/>
            <a:ext cx="2019224" cy="2057400"/>
          </a:xfrm>
          <a:prstGeom prst="rect">
            <a:avLst/>
          </a:prstGeom>
          <a:noFill/>
          <a:ln/>
        </p:spPr>
        <p:txBody>
          <a:bodyPr wrap="square" lIns="0" tIns="0" rIns="0" bIns="0" rtlCol="0" anchor="ctr"/>
          <a:lstStyle/>
          <a:p>
            <a:pPr marL="0" indent="0">
              <a:lnSpc>
                <a:spcPct val="125000"/>
              </a:lnSpc>
              <a:buNone/>
            </a:pPr>
            <a:r>
              <a:rPr lang="en-US" sz="1250" dirty="0">
                <a:solidFill>
                  <a:srgbClr val="94A3B8"/>
                </a:solidFill>
                <a:latin typeface="Calibri" pitchFamily="34" charset="0"/>
                <a:ea typeface="Calibri" pitchFamily="34" charset="-122"/>
                <a:cs typeface="Calibri" pitchFamily="34" charset="-120"/>
              </a:rPr>
              <a:t>Replaced arbitrary probability thresholding with Split Conformal Prediction, providing a distribution-free 95% coverage guarantee to prevent clinical overconfidence in genomic diagnoses.</a:t>
            </a:r>
            <a:endParaRPr lang="en-US" sz="1250" dirty="0"/>
          </a:p>
        </p:txBody>
      </p:sp>
      <p:sp>
        <p:nvSpPr>
          <p:cNvPr id="20" name="Shape 18"/>
          <p:cNvSpPr/>
          <p:nvPr/>
        </p:nvSpPr>
        <p:spPr>
          <a:xfrm>
            <a:off x="8983751" y="2286000"/>
            <a:ext cx="2476424" cy="3749040"/>
          </a:xfrm>
          <a:prstGeom prst="roundRect">
            <a:avLst>
              <a:gd name="adj" fmla="val 2954"/>
            </a:avLst>
          </a:prstGeom>
          <a:solidFill>
            <a:srgbClr val="1E293B"/>
          </a:solidFill>
          <a:ln w="12700">
            <a:solidFill>
              <a:srgbClr val="334155"/>
            </a:solidFill>
            <a:prstDash val="solid"/>
          </a:ln>
        </p:spPr>
      </p:sp>
      <p:sp>
        <p:nvSpPr>
          <p:cNvPr id="21" name="Text 19"/>
          <p:cNvSpPr/>
          <p:nvPr/>
        </p:nvSpPr>
        <p:spPr>
          <a:xfrm>
            <a:off x="9212351" y="2514600"/>
            <a:ext cx="2019224" cy="411480"/>
          </a:xfrm>
          <a:prstGeom prst="rect">
            <a:avLst/>
          </a:prstGeom>
          <a:noFill/>
          <a:ln/>
        </p:spPr>
        <p:txBody>
          <a:bodyPr wrap="square" lIns="0" tIns="0" rIns="0" bIns="0" rtlCol="0" anchor="ctr"/>
          <a:lstStyle/>
          <a:p>
            <a:pPr marL="0" indent="0">
              <a:buNone/>
            </a:pPr>
            <a:r>
              <a:rPr lang="en-US" sz="2400" b="1" dirty="0">
                <a:solidFill>
                  <a:srgbClr val="38BDF8"/>
                </a:solidFill>
                <a:latin typeface="Calibri" pitchFamily="34" charset="0"/>
                <a:ea typeface="Calibri" pitchFamily="34" charset="-122"/>
                <a:cs typeface="Calibri" pitchFamily="34" charset="-120"/>
              </a:rPr>
              <a:t>04</a:t>
            </a:r>
            <a:endParaRPr lang="en-US" sz="2400" dirty="0"/>
          </a:p>
        </p:txBody>
      </p:sp>
      <p:sp>
        <p:nvSpPr>
          <p:cNvPr id="22" name="Text 20"/>
          <p:cNvSpPr/>
          <p:nvPr/>
        </p:nvSpPr>
        <p:spPr>
          <a:xfrm>
            <a:off x="9212351" y="2971800"/>
            <a:ext cx="2019224" cy="5943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Clinical Utility &amp; VUS Triage</a:t>
            </a:r>
            <a:endParaRPr lang="en-US" sz="1600" dirty="0"/>
          </a:p>
        </p:txBody>
      </p:sp>
      <p:sp>
        <p:nvSpPr>
          <p:cNvPr id="23" name="Shape 21"/>
          <p:cNvSpPr/>
          <p:nvPr/>
        </p:nvSpPr>
        <p:spPr>
          <a:xfrm>
            <a:off x="9212351" y="3611880"/>
            <a:ext cx="2019224" cy="0"/>
          </a:xfrm>
          <a:prstGeom prst="line">
            <a:avLst/>
          </a:prstGeom>
          <a:noFill/>
          <a:ln w="12700">
            <a:solidFill>
              <a:srgbClr val="334155"/>
            </a:solidFill>
            <a:prstDash val="solid"/>
          </a:ln>
        </p:spPr>
      </p:sp>
      <p:sp>
        <p:nvSpPr>
          <p:cNvPr id="24" name="Text 22"/>
          <p:cNvSpPr/>
          <p:nvPr/>
        </p:nvSpPr>
        <p:spPr>
          <a:xfrm>
            <a:off x="9212351" y="3794760"/>
            <a:ext cx="2019224" cy="2057400"/>
          </a:xfrm>
          <a:prstGeom prst="rect">
            <a:avLst/>
          </a:prstGeom>
          <a:noFill/>
          <a:ln/>
        </p:spPr>
        <p:txBody>
          <a:bodyPr wrap="square" lIns="0" tIns="0" rIns="0" bIns="0" rtlCol="0" anchor="ctr"/>
          <a:lstStyle/>
          <a:p>
            <a:pPr marL="0" indent="0">
              <a:lnSpc>
                <a:spcPct val="125000"/>
              </a:lnSpc>
              <a:buNone/>
            </a:pPr>
            <a:r>
              <a:rPr lang="en-US" sz="1250" dirty="0">
                <a:solidFill>
                  <a:srgbClr val="94A3B8"/>
                </a:solidFill>
                <a:latin typeface="Calibri" pitchFamily="34" charset="0"/>
                <a:ea typeface="Calibri" pitchFamily="34" charset="-122"/>
                <a:cs typeface="Calibri" pitchFamily="34" charset="-120"/>
              </a:rPr>
              <a:t>Successfully triaged 34,466 unclassified ClinVar VUS variants, resolving 48.8% into high-confidence actionable risk tiers with local TreeSHAP biological rationales via an automated &lt;5-second CLI pipeline.</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47472"/>
            <a:ext cx="10728655" cy="256032"/>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BIBLIOGRAPHY</a:t>
            </a:r>
            <a:endParaRPr lang="en-US" sz="1200" dirty="0"/>
          </a:p>
        </p:txBody>
      </p:sp>
      <p:sp>
        <p:nvSpPr>
          <p:cNvPr id="3" name="Text 1"/>
          <p:cNvSpPr/>
          <p:nvPr/>
        </p:nvSpPr>
        <p:spPr>
          <a:xfrm>
            <a:off x="731520" y="621792"/>
            <a:ext cx="10728655" cy="457200"/>
          </a:xfrm>
          <a:prstGeom prst="rect">
            <a:avLst/>
          </a:prstGeom>
          <a:noFill/>
          <a:ln/>
        </p:spPr>
        <p:txBody>
          <a:bodyPr wrap="square" lIns="0" tIns="0" rIns="0" bIns="0"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References</a:t>
            </a:r>
            <a:endParaRPr lang="en-US" sz="2200" dirty="0"/>
          </a:p>
        </p:txBody>
      </p:sp>
      <p:sp>
        <p:nvSpPr>
          <p:cNvPr id="4" name="Text 2"/>
          <p:cNvSpPr/>
          <p:nvPr/>
        </p:nvSpPr>
        <p:spPr>
          <a:xfrm>
            <a:off x="731520" y="1097280"/>
            <a:ext cx="10728655" cy="292608"/>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Selected primary scientific literature and foundational citations</a:t>
            </a:r>
            <a:endParaRPr lang="en-US" sz="1400" dirty="0"/>
          </a:p>
        </p:txBody>
      </p:sp>
      <p:sp>
        <p:nvSpPr>
          <p:cNvPr id="5" name="Shape 3"/>
          <p:cNvSpPr/>
          <p:nvPr/>
        </p:nvSpPr>
        <p:spPr>
          <a:xfrm>
            <a:off x="731520" y="1426464"/>
            <a:ext cx="10728655" cy="0"/>
          </a:xfrm>
          <a:prstGeom prst="line">
            <a:avLst/>
          </a:prstGeom>
          <a:noFill/>
          <a:ln w="12700">
            <a:solidFill>
              <a:srgbClr val="CBD5E1"/>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Group 15  |  Final Project Review  |  AI-Based Structural Variant Prioritization</a:t>
            </a:r>
            <a:endParaRPr lang="en-US" sz="1100" dirty="0"/>
          </a:p>
        </p:txBody>
      </p:sp>
      <p:sp>
        <p:nvSpPr>
          <p:cNvPr id="7" name="Text 5"/>
          <p:cNvSpPr/>
          <p:nvPr/>
        </p:nvSpPr>
        <p:spPr>
          <a:xfrm>
            <a:off x="9448495" y="6355080"/>
            <a:ext cx="2011680" cy="292608"/>
          </a:xfrm>
          <a:prstGeom prst="rect">
            <a:avLst/>
          </a:prstGeom>
          <a:noFill/>
          <a:ln/>
        </p:spPr>
        <p:txBody>
          <a:bodyPr wrap="square"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 24 of 24</a:t>
            </a:r>
            <a:endParaRPr lang="en-US" sz="1100" dirty="0"/>
          </a:p>
        </p:txBody>
      </p:sp>
      <p:sp>
        <p:nvSpPr>
          <p:cNvPr id="8" name="Shape 6"/>
          <p:cNvSpPr/>
          <p:nvPr/>
        </p:nvSpPr>
        <p:spPr>
          <a:xfrm>
            <a:off x="731520" y="1691640"/>
            <a:ext cx="10728655" cy="4389120"/>
          </a:xfrm>
          <a:prstGeom prst="roundRect">
            <a:avLst>
              <a:gd name="adj" fmla="val 1667"/>
            </a:avLst>
          </a:prstGeom>
          <a:solidFill>
            <a:srgbClr val="FFFFFF"/>
          </a:solidFill>
          <a:ln w="12700">
            <a:solidFill>
              <a:srgbClr val="CBD5E1"/>
            </a:solidFill>
            <a:prstDash val="solid"/>
          </a:ln>
        </p:spPr>
      </p:sp>
      <p:sp>
        <p:nvSpPr>
          <p:cNvPr id="9" name="Shape 7"/>
          <p:cNvSpPr/>
          <p:nvPr/>
        </p:nvSpPr>
        <p:spPr>
          <a:xfrm>
            <a:off x="1005840" y="1965960"/>
            <a:ext cx="502920" cy="347472"/>
          </a:xfrm>
          <a:prstGeom prst="roundRect">
            <a:avLst>
              <a:gd name="adj" fmla="val 15789"/>
            </a:avLst>
          </a:prstGeom>
          <a:solidFill>
            <a:srgbClr val="EFF6FF"/>
          </a:solidFill>
          <a:ln w="12700">
            <a:solidFill>
              <a:srgbClr val="2563EB"/>
            </a:solidFill>
            <a:prstDash val="solid"/>
          </a:ln>
        </p:spPr>
      </p:sp>
      <p:sp>
        <p:nvSpPr>
          <p:cNvPr id="10" name="Text 8"/>
          <p:cNvSpPr/>
          <p:nvPr/>
        </p:nvSpPr>
        <p:spPr>
          <a:xfrm>
            <a:off x="1005840" y="1965960"/>
            <a:ext cx="502920" cy="347472"/>
          </a:xfrm>
          <a:prstGeom prst="rect">
            <a:avLst/>
          </a:prstGeom>
          <a:noFill/>
          <a:ln/>
        </p:spPr>
        <p:txBody>
          <a:bodyPr wrap="square" lIns="0" tIns="0" rIns="0" bIns="0" rtlCol="0" anchor="ctr"/>
          <a:lstStyle/>
          <a:p>
            <a:pPr marL="0" indent="0" algn="ctr">
              <a:buNone/>
            </a:pPr>
            <a:r>
              <a:rPr lang="en-US" sz="1100" b="1" dirty="0">
                <a:solidFill>
                  <a:srgbClr val="2563EB"/>
                </a:solidFill>
              </a:rPr>
              <a:t>[1]</a:t>
            </a:r>
            <a:endParaRPr lang="en-US" sz="1100" dirty="0"/>
          </a:p>
        </p:txBody>
      </p:sp>
      <p:sp>
        <p:nvSpPr>
          <p:cNvPr id="11" name="Text 9"/>
          <p:cNvSpPr/>
          <p:nvPr/>
        </p:nvSpPr>
        <p:spPr>
          <a:xfrm>
            <a:off x="1691640" y="1965960"/>
            <a:ext cx="9494215" cy="502920"/>
          </a:xfrm>
          <a:prstGeom prst="rect">
            <a:avLst/>
          </a:prstGeom>
          <a:noFill/>
          <a:ln/>
        </p:spPr>
        <p:txBody>
          <a:bodyPr wrap="square" lIns="0" tIns="0" rIns="0" bIns="0" rtlCol="0" anchor="ctr"/>
          <a:lstStyle/>
          <a:p>
            <a:pPr marL="0" indent="0">
              <a:lnSpc>
                <a:spcPct val="115000"/>
              </a:lnSpc>
              <a:buNone/>
            </a:pPr>
            <a:r>
              <a:rPr lang="en-US" sz="1250" dirty="0">
                <a:solidFill>
                  <a:srgbClr val="334155"/>
                </a:solidFill>
                <a:latin typeface="Calibri" pitchFamily="34" charset="0"/>
                <a:ea typeface="Calibri" pitchFamily="34" charset="-122"/>
                <a:cs typeface="Calibri" pitchFamily="34" charset="-120"/>
              </a:rPr>
              <a:t>Collins, R. L., et al. (2020). A structural variation reference for medical and population genetics. Nature, 581(7809), 444–451.</a:t>
            </a:r>
            <a:endParaRPr lang="en-US" sz="1250" dirty="0"/>
          </a:p>
        </p:txBody>
      </p:sp>
      <p:sp>
        <p:nvSpPr>
          <p:cNvPr id="12" name="Shape 10"/>
          <p:cNvSpPr/>
          <p:nvPr/>
        </p:nvSpPr>
        <p:spPr>
          <a:xfrm>
            <a:off x="1005840" y="2624328"/>
            <a:ext cx="502920" cy="347472"/>
          </a:xfrm>
          <a:prstGeom prst="roundRect">
            <a:avLst>
              <a:gd name="adj" fmla="val 15789"/>
            </a:avLst>
          </a:prstGeom>
          <a:solidFill>
            <a:srgbClr val="EFF6FF"/>
          </a:solidFill>
          <a:ln w="12700">
            <a:solidFill>
              <a:srgbClr val="2563EB"/>
            </a:solidFill>
            <a:prstDash val="solid"/>
          </a:ln>
        </p:spPr>
      </p:sp>
      <p:sp>
        <p:nvSpPr>
          <p:cNvPr id="13" name="Text 11"/>
          <p:cNvSpPr/>
          <p:nvPr/>
        </p:nvSpPr>
        <p:spPr>
          <a:xfrm>
            <a:off x="1005840" y="2624328"/>
            <a:ext cx="502920" cy="347472"/>
          </a:xfrm>
          <a:prstGeom prst="rect">
            <a:avLst/>
          </a:prstGeom>
          <a:noFill/>
          <a:ln/>
        </p:spPr>
        <p:txBody>
          <a:bodyPr wrap="square" lIns="0" tIns="0" rIns="0" bIns="0" rtlCol="0" anchor="ctr"/>
          <a:lstStyle/>
          <a:p>
            <a:pPr marL="0" indent="0" algn="ctr">
              <a:buNone/>
            </a:pPr>
            <a:r>
              <a:rPr lang="en-US" sz="1100" b="1" dirty="0">
                <a:solidFill>
                  <a:srgbClr val="2563EB"/>
                </a:solidFill>
              </a:rPr>
              <a:t>[2]</a:t>
            </a:r>
            <a:endParaRPr lang="en-US" sz="1100" dirty="0"/>
          </a:p>
        </p:txBody>
      </p:sp>
      <p:sp>
        <p:nvSpPr>
          <p:cNvPr id="14" name="Text 12"/>
          <p:cNvSpPr/>
          <p:nvPr/>
        </p:nvSpPr>
        <p:spPr>
          <a:xfrm>
            <a:off x="1691640" y="2624328"/>
            <a:ext cx="9494215" cy="502920"/>
          </a:xfrm>
          <a:prstGeom prst="rect">
            <a:avLst/>
          </a:prstGeom>
          <a:noFill/>
          <a:ln/>
        </p:spPr>
        <p:txBody>
          <a:bodyPr wrap="square" lIns="0" tIns="0" rIns="0" bIns="0" rtlCol="0" anchor="ctr"/>
          <a:lstStyle/>
          <a:p>
            <a:pPr marL="0" indent="0">
              <a:lnSpc>
                <a:spcPct val="115000"/>
              </a:lnSpc>
              <a:buNone/>
            </a:pPr>
            <a:r>
              <a:rPr lang="en-US" sz="1250" dirty="0">
                <a:solidFill>
                  <a:srgbClr val="334155"/>
                </a:solidFill>
                <a:latin typeface="Calibri" pitchFamily="34" charset="0"/>
                <a:ea typeface="Calibri" pitchFamily="34" charset="-122"/>
                <a:cs typeface="Calibri" pitchFamily="34" charset="-120"/>
              </a:rPr>
              <a:t>Rentzsch, P., et al. (2020). CADD-SV: scoring the variant effect of structural variants in the human genome. Genome Biology, 21(1), 1–20.</a:t>
            </a:r>
            <a:endParaRPr lang="en-US" sz="1250" dirty="0"/>
          </a:p>
        </p:txBody>
      </p:sp>
      <p:sp>
        <p:nvSpPr>
          <p:cNvPr id="15" name="Shape 13"/>
          <p:cNvSpPr/>
          <p:nvPr/>
        </p:nvSpPr>
        <p:spPr>
          <a:xfrm>
            <a:off x="1005840" y="3282696"/>
            <a:ext cx="502920" cy="347472"/>
          </a:xfrm>
          <a:prstGeom prst="roundRect">
            <a:avLst>
              <a:gd name="adj" fmla="val 15789"/>
            </a:avLst>
          </a:prstGeom>
          <a:solidFill>
            <a:srgbClr val="EFF6FF"/>
          </a:solidFill>
          <a:ln w="12700">
            <a:solidFill>
              <a:srgbClr val="2563EB"/>
            </a:solidFill>
            <a:prstDash val="solid"/>
          </a:ln>
        </p:spPr>
      </p:sp>
      <p:sp>
        <p:nvSpPr>
          <p:cNvPr id="16" name="Text 14"/>
          <p:cNvSpPr/>
          <p:nvPr/>
        </p:nvSpPr>
        <p:spPr>
          <a:xfrm>
            <a:off x="1005840" y="3282696"/>
            <a:ext cx="502920" cy="347472"/>
          </a:xfrm>
          <a:prstGeom prst="rect">
            <a:avLst/>
          </a:prstGeom>
          <a:noFill/>
          <a:ln/>
        </p:spPr>
        <p:txBody>
          <a:bodyPr wrap="square" lIns="0" tIns="0" rIns="0" bIns="0" rtlCol="0" anchor="ctr"/>
          <a:lstStyle/>
          <a:p>
            <a:pPr marL="0" indent="0" algn="ctr">
              <a:buNone/>
            </a:pPr>
            <a:r>
              <a:rPr lang="en-US" sz="1100" b="1" dirty="0">
                <a:solidFill>
                  <a:srgbClr val="2563EB"/>
                </a:solidFill>
              </a:rPr>
              <a:t>[3]</a:t>
            </a:r>
            <a:endParaRPr lang="en-US" sz="1100" dirty="0"/>
          </a:p>
        </p:txBody>
      </p:sp>
      <p:sp>
        <p:nvSpPr>
          <p:cNvPr id="17" name="Text 15"/>
          <p:cNvSpPr/>
          <p:nvPr/>
        </p:nvSpPr>
        <p:spPr>
          <a:xfrm>
            <a:off x="1691640" y="3282696"/>
            <a:ext cx="9494215" cy="502920"/>
          </a:xfrm>
          <a:prstGeom prst="rect">
            <a:avLst/>
          </a:prstGeom>
          <a:noFill/>
          <a:ln/>
        </p:spPr>
        <p:txBody>
          <a:bodyPr wrap="square" lIns="0" tIns="0" rIns="0" bIns="0" rtlCol="0" anchor="ctr"/>
          <a:lstStyle/>
          <a:p>
            <a:pPr marL="0" indent="0">
              <a:lnSpc>
                <a:spcPct val="115000"/>
              </a:lnSpc>
              <a:buNone/>
            </a:pPr>
            <a:r>
              <a:rPr lang="en-US" sz="1250" dirty="0">
                <a:solidFill>
                  <a:srgbClr val="334155"/>
                </a:solidFill>
                <a:latin typeface="Calibri" pitchFamily="34" charset="0"/>
                <a:ea typeface="Calibri" pitchFamily="34" charset="-122"/>
                <a:cs typeface="Calibri" pitchFamily="34" charset="-120"/>
              </a:rPr>
              <a:t>Landrum, M. J., et al. (2024). ClinVar: improvements to accessing data. Nucleic Acids Research, 52(D1), D1389–D1397.</a:t>
            </a:r>
            <a:endParaRPr lang="en-US" sz="1250" dirty="0"/>
          </a:p>
        </p:txBody>
      </p:sp>
      <p:sp>
        <p:nvSpPr>
          <p:cNvPr id="18" name="Shape 16"/>
          <p:cNvSpPr/>
          <p:nvPr/>
        </p:nvSpPr>
        <p:spPr>
          <a:xfrm>
            <a:off x="1005840" y="3941064"/>
            <a:ext cx="502920" cy="347472"/>
          </a:xfrm>
          <a:prstGeom prst="roundRect">
            <a:avLst>
              <a:gd name="adj" fmla="val 15789"/>
            </a:avLst>
          </a:prstGeom>
          <a:solidFill>
            <a:srgbClr val="EFF6FF"/>
          </a:solidFill>
          <a:ln w="12700">
            <a:solidFill>
              <a:srgbClr val="2563EB"/>
            </a:solidFill>
            <a:prstDash val="solid"/>
          </a:ln>
        </p:spPr>
      </p:sp>
      <p:sp>
        <p:nvSpPr>
          <p:cNvPr id="19" name="Text 17"/>
          <p:cNvSpPr/>
          <p:nvPr/>
        </p:nvSpPr>
        <p:spPr>
          <a:xfrm>
            <a:off x="1005840" y="3941064"/>
            <a:ext cx="502920" cy="347472"/>
          </a:xfrm>
          <a:prstGeom prst="rect">
            <a:avLst/>
          </a:prstGeom>
          <a:noFill/>
          <a:ln/>
        </p:spPr>
        <p:txBody>
          <a:bodyPr wrap="square" lIns="0" tIns="0" rIns="0" bIns="0" rtlCol="0" anchor="ctr"/>
          <a:lstStyle/>
          <a:p>
            <a:pPr marL="0" indent="0" algn="ctr">
              <a:buNone/>
            </a:pPr>
            <a:r>
              <a:rPr lang="en-US" sz="1100" b="1" dirty="0">
                <a:solidFill>
                  <a:srgbClr val="2563EB"/>
                </a:solidFill>
              </a:rPr>
              <a:t>[4]</a:t>
            </a:r>
            <a:endParaRPr lang="en-US" sz="1100" dirty="0"/>
          </a:p>
        </p:txBody>
      </p:sp>
      <p:sp>
        <p:nvSpPr>
          <p:cNvPr id="20" name="Text 18"/>
          <p:cNvSpPr/>
          <p:nvPr/>
        </p:nvSpPr>
        <p:spPr>
          <a:xfrm>
            <a:off x="1691640" y="3941064"/>
            <a:ext cx="9494215" cy="502920"/>
          </a:xfrm>
          <a:prstGeom prst="rect">
            <a:avLst/>
          </a:prstGeom>
          <a:noFill/>
          <a:ln/>
        </p:spPr>
        <p:txBody>
          <a:bodyPr wrap="square" lIns="0" tIns="0" rIns="0" bIns="0" rtlCol="0" anchor="ctr"/>
          <a:lstStyle/>
          <a:p>
            <a:pPr marL="0" indent="0">
              <a:lnSpc>
                <a:spcPct val="115000"/>
              </a:lnSpc>
              <a:buNone/>
            </a:pPr>
            <a:r>
              <a:rPr lang="en-US" sz="1250" dirty="0">
                <a:solidFill>
                  <a:srgbClr val="334155"/>
                </a:solidFill>
                <a:latin typeface="Calibri" pitchFamily="34" charset="0"/>
                <a:ea typeface="Calibri" pitchFamily="34" charset="-122"/>
                <a:cs typeface="Calibri" pitchFamily="34" charset="-120"/>
              </a:rPr>
              <a:t>Lundberg, S. M., et al. (2020). From local explanations to global understanding with explainable AI for trees. Nature Machine Intelligence, 2(1), 56–67.</a:t>
            </a:r>
            <a:endParaRPr lang="en-US" sz="1250" dirty="0"/>
          </a:p>
        </p:txBody>
      </p:sp>
      <p:sp>
        <p:nvSpPr>
          <p:cNvPr id="21" name="Shape 19"/>
          <p:cNvSpPr/>
          <p:nvPr/>
        </p:nvSpPr>
        <p:spPr>
          <a:xfrm>
            <a:off x="1005840" y="4599432"/>
            <a:ext cx="502920" cy="347472"/>
          </a:xfrm>
          <a:prstGeom prst="roundRect">
            <a:avLst>
              <a:gd name="adj" fmla="val 15789"/>
            </a:avLst>
          </a:prstGeom>
          <a:solidFill>
            <a:srgbClr val="EFF6FF"/>
          </a:solidFill>
          <a:ln w="12700">
            <a:solidFill>
              <a:srgbClr val="2563EB"/>
            </a:solidFill>
            <a:prstDash val="solid"/>
          </a:ln>
        </p:spPr>
      </p:sp>
      <p:sp>
        <p:nvSpPr>
          <p:cNvPr id="22" name="Text 20"/>
          <p:cNvSpPr/>
          <p:nvPr/>
        </p:nvSpPr>
        <p:spPr>
          <a:xfrm>
            <a:off x="1005840" y="4599432"/>
            <a:ext cx="502920" cy="347472"/>
          </a:xfrm>
          <a:prstGeom prst="rect">
            <a:avLst/>
          </a:prstGeom>
          <a:noFill/>
          <a:ln/>
        </p:spPr>
        <p:txBody>
          <a:bodyPr wrap="square" lIns="0" tIns="0" rIns="0" bIns="0" rtlCol="0" anchor="ctr"/>
          <a:lstStyle/>
          <a:p>
            <a:pPr marL="0" indent="0" algn="ctr">
              <a:buNone/>
            </a:pPr>
            <a:r>
              <a:rPr lang="en-US" sz="1100" b="1" dirty="0">
                <a:solidFill>
                  <a:srgbClr val="2563EB"/>
                </a:solidFill>
              </a:rPr>
              <a:t>[5]</a:t>
            </a:r>
            <a:endParaRPr lang="en-US" sz="1100" dirty="0"/>
          </a:p>
        </p:txBody>
      </p:sp>
      <p:sp>
        <p:nvSpPr>
          <p:cNvPr id="23" name="Text 21"/>
          <p:cNvSpPr/>
          <p:nvPr/>
        </p:nvSpPr>
        <p:spPr>
          <a:xfrm>
            <a:off x="1691640" y="4599432"/>
            <a:ext cx="9494215" cy="502920"/>
          </a:xfrm>
          <a:prstGeom prst="rect">
            <a:avLst/>
          </a:prstGeom>
          <a:noFill/>
          <a:ln/>
        </p:spPr>
        <p:txBody>
          <a:bodyPr wrap="square" lIns="0" tIns="0" rIns="0" bIns="0" rtlCol="0" anchor="ctr"/>
          <a:lstStyle/>
          <a:p>
            <a:pPr marL="0" indent="0">
              <a:lnSpc>
                <a:spcPct val="115000"/>
              </a:lnSpc>
              <a:buNone/>
            </a:pPr>
            <a:r>
              <a:rPr lang="en-US" sz="1250" dirty="0">
                <a:solidFill>
                  <a:srgbClr val="334155"/>
                </a:solidFill>
                <a:latin typeface="Calibri" pitchFamily="34" charset="0"/>
                <a:ea typeface="Calibri" pitchFamily="34" charset="-122"/>
                <a:cs typeface="Calibri" pitchFamily="34" charset="-120"/>
              </a:rPr>
              <a:t>Angelopoulos, A. N., &amp; Bates, S. (2023). Conformal prediction: A gentle introduction. Foundations and Trends in Machine Learning, 16(4), 494–591.</a:t>
            </a:r>
            <a:endParaRPr lang="en-US" sz="1250" dirty="0"/>
          </a:p>
        </p:txBody>
      </p:sp>
      <p:sp>
        <p:nvSpPr>
          <p:cNvPr id="24" name="Shape 22"/>
          <p:cNvSpPr/>
          <p:nvPr/>
        </p:nvSpPr>
        <p:spPr>
          <a:xfrm>
            <a:off x="1005840" y="5257800"/>
            <a:ext cx="502920" cy="347472"/>
          </a:xfrm>
          <a:prstGeom prst="roundRect">
            <a:avLst>
              <a:gd name="adj" fmla="val 15789"/>
            </a:avLst>
          </a:prstGeom>
          <a:solidFill>
            <a:srgbClr val="EFF6FF"/>
          </a:solidFill>
          <a:ln w="12700">
            <a:solidFill>
              <a:srgbClr val="2563EB"/>
            </a:solidFill>
            <a:prstDash val="solid"/>
          </a:ln>
        </p:spPr>
      </p:sp>
      <p:sp>
        <p:nvSpPr>
          <p:cNvPr id="25" name="Text 23"/>
          <p:cNvSpPr/>
          <p:nvPr/>
        </p:nvSpPr>
        <p:spPr>
          <a:xfrm>
            <a:off x="1005840" y="5257800"/>
            <a:ext cx="502920" cy="347472"/>
          </a:xfrm>
          <a:prstGeom prst="rect">
            <a:avLst/>
          </a:prstGeom>
          <a:noFill/>
          <a:ln/>
        </p:spPr>
        <p:txBody>
          <a:bodyPr wrap="square" lIns="0" tIns="0" rIns="0" bIns="0" rtlCol="0" anchor="ctr"/>
          <a:lstStyle/>
          <a:p>
            <a:pPr marL="0" indent="0" algn="ctr">
              <a:buNone/>
            </a:pPr>
            <a:r>
              <a:rPr lang="en-US" sz="1100" b="1" dirty="0">
                <a:solidFill>
                  <a:srgbClr val="2563EB"/>
                </a:solidFill>
              </a:rPr>
              <a:t>[6]</a:t>
            </a:r>
            <a:endParaRPr lang="en-US" sz="1100" dirty="0"/>
          </a:p>
        </p:txBody>
      </p:sp>
      <p:sp>
        <p:nvSpPr>
          <p:cNvPr id="26" name="Text 24"/>
          <p:cNvSpPr/>
          <p:nvPr/>
        </p:nvSpPr>
        <p:spPr>
          <a:xfrm>
            <a:off x="1691640" y="5257800"/>
            <a:ext cx="9494215" cy="502920"/>
          </a:xfrm>
          <a:prstGeom prst="rect">
            <a:avLst/>
          </a:prstGeom>
          <a:noFill/>
          <a:ln/>
        </p:spPr>
        <p:txBody>
          <a:bodyPr wrap="square" lIns="0" tIns="0" rIns="0" bIns="0" rtlCol="0" anchor="ctr"/>
          <a:lstStyle/>
          <a:p>
            <a:pPr marL="0" indent="0">
              <a:lnSpc>
                <a:spcPct val="115000"/>
              </a:lnSpc>
              <a:buNone/>
            </a:pPr>
            <a:r>
              <a:rPr lang="en-US" sz="1250" dirty="0">
                <a:solidFill>
                  <a:srgbClr val="334155"/>
                </a:solidFill>
                <a:latin typeface="Calibri" pitchFamily="34" charset="0"/>
                <a:ea typeface="Calibri" pitchFamily="34" charset="-122"/>
                <a:cs typeface="Calibri" pitchFamily="34" charset="-120"/>
              </a:rPr>
              <a:t>Sedlazeck, F. J., et al. (2018). Accurate detection of complex structural variations using single-molecule sequencing. Nature Methods, 15(6), 461–468.</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3969</Words>
  <Application>Microsoft Office PowerPoint</Application>
  <PresentationFormat>Widescreen</PresentationFormat>
  <Paragraphs>456</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Courier New</vt:lpstr>
      <vt:lpstr>Sans Serif Collection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Department of Computer Science and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Structural Variant Prioritization from Long-Read Sequencing Using Explainable Machine Learning</dc:title>
  <dc:subject>Final Capstone Project Review Presentation</dc:subject>
  <dc:creator>Group 15</dc:creator>
  <cp:lastModifiedBy>chachakaisan@gmail.com</cp:lastModifiedBy>
  <cp:revision>2</cp:revision>
  <dcterms:created xsi:type="dcterms:W3CDTF">2026-10-15T21:33:23Z</dcterms:created>
  <dcterms:modified xsi:type="dcterms:W3CDTF">2026-10-15T21:57:33Z</dcterms:modified>
</cp:coreProperties>
</file>