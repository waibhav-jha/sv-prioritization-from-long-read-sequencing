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731520" y="822960"/>
            <a:ext cx="10728655" cy="320040"/>
          </a:xfrm>
          <a:prstGeom prst="rect">
            <a:avLst/>
          </a:prstGeom>
          <a:noFill/>
          <a:ln/>
        </p:spPr>
        <p:txBody>
          <a:bodyPr wrap="square" rtlCol="0" anchor="ctr"/>
          <a:lstStyle/>
          <a:p>
            <a:pPr indent="0" marL="0">
              <a:buNone/>
            </a:pPr>
            <a:r>
              <a:rPr lang="en-US" sz="1300" b="1" dirty="0">
                <a:solidFill>
                  <a:srgbClr val="60A5FA"/>
                </a:solidFill>
                <a:latin typeface="Calibri" pitchFamily="34" charset="0"/>
                <a:ea typeface="Calibri" pitchFamily="34" charset="-122"/>
                <a:cs typeface="Calibri" pitchFamily="34" charset="-120"/>
              </a:rPr>
              <a:t>FINAL PROJECT TECHNICAL REVIEW  |  DEPARTMENT OF ARTIFICIAL INTELLIGENCE</a:t>
            </a:r>
            <a:endParaRPr lang="en-US" sz="1300" dirty="0"/>
          </a:p>
        </p:txBody>
      </p:sp>
      <p:sp>
        <p:nvSpPr>
          <p:cNvPr id="3" name="Text 1"/>
          <p:cNvSpPr/>
          <p:nvPr/>
        </p:nvSpPr>
        <p:spPr>
          <a:xfrm>
            <a:off x="731520" y="1234440"/>
            <a:ext cx="10728655" cy="1463040"/>
          </a:xfrm>
          <a:prstGeom prst="rect">
            <a:avLst/>
          </a:prstGeom>
          <a:noFill/>
          <a:ln/>
        </p:spPr>
        <p:txBody>
          <a:bodyPr wrap="square" rtlCol="0" anchor="ctr"/>
          <a:lstStyle/>
          <a:p>
            <a:pPr indent="0" marL="0">
              <a:lnSpc>
                <a:spcPct val="115000"/>
              </a:lnSpc>
              <a:buNone/>
            </a:pPr>
            <a:r>
              <a:rPr lang="en-US" sz="2800" b="1" dirty="0">
                <a:solidFill>
                  <a:srgbClr val="FFFFFF"/>
                </a:solidFill>
                <a:latin typeface="Calibri" pitchFamily="34" charset="0"/>
                <a:ea typeface="Calibri" pitchFamily="34" charset="-122"/>
                <a:cs typeface="Calibri" pitchFamily="34" charset="-120"/>
              </a:rPr>
              <a:t>AI-Based Structural Variant Prioritization from Long-Read Sequencing Using Explainable Machine Learning</a:t>
            </a:r>
            <a:endParaRPr lang="en-US" sz="2800" dirty="0"/>
          </a:p>
        </p:txBody>
      </p:sp>
      <p:sp>
        <p:nvSpPr>
          <p:cNvPr id="4" name="Shape 2"/>
          <p:cNvSpPr/>
          <p:nvPr/>
        </p:nvSpPr>
        <p:spPr>
          <a:xfrm>
            <a:off x="731520" y="2834640"/>
            <a:ext cx="3657600" cy="0"/>
          </a:xfrm>
          <a:prstGeom prst="line">
            <a:avLst/>
          </a:prstGeom>
          <a:noFill/>
          <a:ln w="31750">
            <a:solidFill>
              <a:srgbClr val="38BDF8"/>
            </a:solidFill>
            <a:prstDash val="solid"/>
          </a:ln>
        </p:spPr>
      </p:sp>
      <p:sp>
        <p:nvSpPr>
          <p:cNvPr id="5" name="Text 3"/>
          <p:cNvSpPr/>
          <p:nvPr/>
        </p:nvSpPr>
        <p:spPr>
          <a:xfrm>
            <a:off x="731520" y="3017520"/>
            <a:ext cx="10728655" cy="640080"/>
          </a:xfrm>
          <a:prstGeom prst="rect">
            <a:avLst/>
          </a:prstGeom>
          <a:noFill/>
          <a:ln/>
        </p:spPr>
        <p:txBody>
          <a:bodyPr wrap="square" rtlCol="0" anchor="ctr"/>
          <a:lstStyle/>
          <a:p>
            <a:pPr indent="0" marL="0">
              <a:lnSpc>
                <a:spcPct val="110000"/>
              </a:lnSpc>
              <a:buNone/>
            </a:pPr>
            <a:r>
              <a:rPr lang="en-US" sz="1500" dirty="0">
                <a:solidFill>
                  <a:srgbClr val="94A3B8"/>
                </a:solidFill>
                <a:latin typeface="Calibri" pitchFamily="34" charset="0"/>
                <a:ea typeface="Calibri" pitchFamily="34" charset="-122"/>
                <a:cs typeface="Calibri" pitchFamily="34" charset="-120"/>
              </a:rPr>
              <a:t>A Deep Learning &amp; Multimodal Framework with 95% Conformal Confidence Bounds and TreeSHAP Explainability for Clinical Diagnostics</a:t>
            </a:r>
            <a:endParaRPr lang="en-US" sz="1500" dirty="0"/>
          </a:p>
        </p:txBody>
      </p:sp>
      <p:sp>
        <p:nvSpPr>
          <p:cNvPr id="6" name="Shape 4"/>
          <p:cNvSpPr/>
          <p:nvPr/>
        </p:nvSpPr>
        <p:spPr>
          <a:xfrm>
            <a:off x="731520" y="4206240"/>
            <a:ext cx="2476424" cy="1691640"/>
          </a:xfrm>
          <a:prstGeom prst="roundRect">
            <a:avLst>
              <a:gd name="adj" fmla="val 4324"/>
            </a:avLst>
          </a:prstGeom>
          <a:solidFill>
            <a:srgbClr val="1E293B"/>
          </a:solidFill>
          <a:ln w="12700">
            <a:solidFill>
              <a:srgbClr val="334155"/>
            </a:solidFill>
            <a:prstDash val="solid"/>
          </a:ln>
        </p:spPr>
      </p:sp>
      <p:sp>
        <p:nvSpPr>
          <p:cNvPr id="7" name="Text 5"/>
          <p:cNvSpPr/>
          <p:nvPr/>
        </p:nvSpPr>
        <p:spPr>
          <a:xfrm>
            <a:off x="960120" y="4389120"/>
            <a:ext cx="2019224" cy="256032"/>
          </a:xfrm>
          <a:prstGeom prst="rect">
            <a:avLst/>
          </a:prstGeom>
          <a:noFill/>
          <a:ln/>
        </p:spPr>
        <p:txBody>
          <a:bodyPr wrap="square"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PROJECT TEAM</a:t>
            </a:r>
            <a:endParaRPr lang="en-US" sz="1100" dirty="0"/>
          </a:p>
        </p:txBody>
      </p:sp>
      <p:sp>
        <p:nvSpPr>
          <p:cNvPr id="8" name="Text 6"/>
          <p:cNvSpPr/>
          <p:nvPr/>
        </p:nvSpPr>
        <p:spPr>
          <a:xfrm>
            <a:off x="960120" y="4736592"/>
            <a:ext cx="2019224" cy="1005840"/>
          </a:xfrm>
          <a:prstGeom prst="rect">
            <a:avLst/>
          </a:prstGeom>
          <a:noFill/>
          <a:ln/>
        </p:spPr>
        <p:txBody>
          <a:bodyPr wrap="square" rtlCol="0" anchor="ctr"/>
          <a:lstStyle/>
          <a:p>
            <a:pPr indent="0" marL="0">
              <a:lnSpc>
                <a:spcPct val="115000"/>
              </a:lnSpc>
              <a:buNone/>
            </a:pPr>
            <a:r>
              <a:rPr lang="en-US" sz="1250" dirty="0">
                <a:solidFill>
                  <a:srgbClr val="F8FAFC"/>
                </a:solidFill>
                <a:latin typeface="Calibri" pitchFamily="34" charset="0"/>
                <a:ea typeface="Calibri" pitchFamily="34" charset="-122"/>
                <a:cs typeface="Calibri" pitchFamily="34" charset="-120"/>
              </a:rPr>
              <a:t>Waibhav Jha (23162)</a:t>
            </a:r>
            <a:endParaRPr lang="en-US" sz="1250" dirty="0"/>
          </a:p>
          <a:p>
            <a:pPr indent="0" marL="0">
              <a:lnSpc>
                <a:spcPct val="115000"/>
              </a:lnSpc>
              <a:buNone/>
            </a:pPr>
            <a:r>
              <a:rPr lang="en-US" sz="1250" dirty="0">
                <a:solidFill>
                  <a:srgbClr val="F8FAFC"/>
                </a:solidFill>
                <a:latin typeface="Calibri" pitchFamily="34" charset="0"/>
                <a:ea typeface="Calibri" pitchFamily="34" charset="-122"/>
                <a:cs typeface="Calibri" pitchFamily="34" charset="-120"/>
              </a:rPr>
              <a:t>Akash Bardia (23102)</a:t>
            </a:r>
            <a:endParaRPr lang="en-US" sz="1250" dirty="0"/>
          </a:p>
          <a:p>
            <a:pPr indent="0" marL="0">
              <a:lnSpc>
                <a:spcPct val="115000"/>
              </a:lnSpc>
              <a:buNone/>
            </a:pPr>
            <a:r>
              <a:rPr lang="en-US" sz="1250" dirty="0">
                <a:solidFill>
                  <a:srgbClr val="F8FAFC"/>
                </a:solidFill>
                <a:latin typeface="Calibri" pitchFamily="34" charset="0"/>
                <a:ea typeface="Calibri" pitchFamily="34" charset="-122"/>
                <a:cs typeface="Calibri" pitchFamily="34" charset="-120"/>
              </a:rPr>
              <a:t>Anantharaman (23112)</a:t>
            </a:r>
            <a:endParaRPr lang="en-US" sz="1250" dirty="0"/>
          </a:p>
          <a:p>
            <a:pPr indent="0" marL="0">
              <a:lnSpc>
                <a:spcPct val="115000"/>
              </a:lnSpc>
              <a:buNone/>
            </a:pPr>
            <a:r>
              <a:rPr lang="en-US" sz="1250" dirty="0">
                <a:solidFill>
                  <a:srgbClr val="F8FAFC"/>
                </a:solidFill>
                <a:latin typeface="Calibri" pitchFamily="34" charset="0"/>
                <a:ea typeface="Calibri" pitchFamily="34" charset="-122"/>
                <a:cs typeface="Calibri" pitchFamily="34" charset="-120"/>
              </a:rPr>
              <a:t>K S Jagan (23034)</a:t>
            </a:r>
            <a:endParaRPr lang="en-US" sz="1250" dirty="0"/>
          </a:p>
        </p:txBody>
      </p:sp>
      <p:sp>
        <p:nvSpPr>
          <p:cNvPr id="9" name="Shape 7"/>
          <p:cNvSpPr/>
          <p:nvPr/>
        </p:nvSpPr>
        <p:spPr>
          <a:xfrm>
            <a:off x="3482264" y="4206240"/>
            <a:ext cx="2476424" cy="1691640"/>
          </a:xfrm>
          <a:prstGeom prst="roundRect">
            <a:avLst>
              <a:gd name="adj" fmla="val 4324"/>
            </a:avLst>
          </a:prstGeom>
          <a:solidFill>
            <a:srgbClr val="1E293B"/>
          </a:solidFill>
          <a:ln w="12700">
            <a:solidFill>
              <a:srgbClr val="334155"/>
            </a:solidFill>
            <a:prstDash val="solid"/>
          </a:ln>
        </p:spPr>
      </p:sp>
      <p:sp>
        <p:nvSpPr>
          <p:cNvPr id="10" name="Text 8"/>
          <p:cNvSpPr/>
          <p:nvPr/>
        </p:nvSpPr>
        <p:spPr>
          <a:xfrm>
            <a:off x="3710864" y="4389120"/>
            <a:ext cx="2019224" cy="256032"/>
          </a:xfrm>
          <a:prstGeom prst="rect">
            <a:avLst/>
          </a:prstGeom>
          <a:noFill/>
          <a:ln/>
        </p:spPr>
        <p:txBody>
          <a:bodyPr wrap="square"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DEPARTMENT</a:t>
            </a:r>
            <a:endParaRPr lang="en-US" sz="1100" dirty="0"/>
          </a:p>
        </p:txBody>
      </p:sp>
      <p:sp>
        <p:nvSpPr>
          <p:cNvPr id="11" name="Text 9"/>
          <p:cNvSpPr/>
          <p:nvPr/>
        </p:nvSpPr>
        <p:spPr>
          <a:xfrm>
            <a:off x="3710864" y="4736592"/>
            <a:ext cx="2019224" cy="1005840"/>
          </a:xfrm>
          <a:prstGeom prst="rect">
            <a:avLst/>
          </a:prstGeom>
          <a:noFill/>
          <a:ln/>
        </p:spPr>
        <p:txBody>
          <a:bodyPr wrap="square" rtlCol="0" anchor="ctr"/>
          <a:lstStyle/>
          <a:p>
            <a:pPr indent="0" marL="0">
              <a:lnSpc>
                <a:spcPct val="115000"/>
              </a:lnSpc>
              <a:buNone/>
            </a:pPr>
            <a:r>
              <a:rPr lang="en-US" sz="1250" dirty="0">
                <a:solidFill>
                  <a:srgbClr val="F8FAFC"/>
                </a:solidFill>
                <a:latin typeface="Calibri" pitchFamily="34" charset="0"/>
                <a:ea typeface="Calibri" pitchFamily="34" charset="-122"/>
                <a:cs typeface="Calibri" pitchFamily="34" charset="-120"/>
              </a:rPr>
              <a:t>Department of AI</a:t>
            </a:r>
            <a:endParaRPr lang="en-US" sz="1250" dirty="0"/>
          </a:p>
          <a:p>
            <a:pPr indent="0" marL="0">
              <a:lnSpc>
                <a:spcPct val="115000"/>
              </a:lnSpc>
              <a:buNone/>
            </a:pPr>
            <a:r>
              <a:rPr lang="en-US" sz="1250" dirty="0">
                <a:solidFill>
                  <a:srgbClr val="F8FAFC"/>
                </a:solidFill>
                <a:latin typeface="Calibri" pitchFamily="34" charset="0"/>
                <a:ea typeface="Calibri" pitchFamily="34" charset="-122"/>
                <a:cs typeface="Calibri" pitchFamily="34" charset="-120"/>
              </a:rPr>
              <a:t>School of Computing</a:t>
            </a:r>
            <a:endParaRPr lang="en-US" sz="1250" dirty="0"/>
          </a:p>
          <a:p>
            <a:pPr indent="0" marL="0">
              <a:lnSpc>
                <a:spcPct val="115000"/>
              </a:lnSpc>
              <a:buNone/>
            </a:pPr>
            <a:r>
              <a:rPr lang="en-US" sz="1250" dirty="0">
                <a:solidFill>
                  <a:srgbClr val="F8FAFC"/>
                </a:solidFill>
                <a:latin typeface="Calibri" pitchFamily="34" charset="0"/>
                <a:ea typeface="Calibri" pitchFamily="34" charset="-122"/>
                <a:cs typeface="Calibri" pitchFamily="34" charset="-120"/>
              </a:rPr>
              <a:t>Amrita Vishwa Vidyapeetham</a:t>
            </a:r>
            <a:endParaRPr lang="en-US" sz="1250" dirty="0"/>
          </a:p>
        </p:txBody>
      </p:sp>
      <p:sp>
        <p:nvSpPr>
          <p:cNvPr id="12" name="Shape 10"/>
          <p:cNvSpPr/>
          <p:nvPr/>
        </p:nvSpPr>
        <p:spPr>
          <a:xfrm>
            <a:off x="6233008" y="4206240"/>
            <a:ext cx="2476424" cy="1691640"/>
          </a:xfrm>
          <a:prstGeom prst="roundRect">
            <a:avLst>
              <a:gd name="adj" fmla="val 4324"/>
            </a:avLst>
          </a:prstGeom>
          <a:solidFill>
            <a:srgbClr val="1E293B"/>
          </a:solidFill>
          <a:ln w="12700">
            <a:solidFill>
              <a:srgbClr val="334155"/>
            </a:solidFill>
            <a:prstDash val="solid"/>
          </a:ln>
        </p:spPr>
      </p:sp>
      <p:sp>
        <p:nvSpPr>
          <p:cNvPr id="13" name="Text 11"/>
          <p:cNvSpPr/>
          <p:nvPr/>
        </p:nvSpPr>
        <p:spPr>
          <a:xfrm>
            <a:off x="6461608" y="4389120"/>
            <a:ext cx="2019224" cy="256032"/>
          </a:xfrm>
          <a:prstGeom prst="rect">
            <a:avLst/>
          </a:prstGeom>
          <a:noFill/>
          <a:ln/>
        </p:spPr>
        <p:txBody>
          <a:bodyPr wrap="square"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KEY INNOVATION</a:t>
            </a:r>
            <a:endParaRPr lang="en-US" sz="1100" dirty="0"/>
          </a:p>
        </p:txBody>
      </p:sp>
      <p:sp>
        <p:nvSpPr>
          <p:cNvPr id="14" name="Text 12"/>
          <p:cNvSpPr/>
          <p:nvPr/>
        </p:nvSpPr>
        <p:spPr>
          <a:xfrm>
            <a:off x="6461608" y="4736592"/>
            <a:ext cx="2019224" cy="1005840"/>
          </a:xfrm>
          <a:prstGeom prst="rect">
            <a:avLst/>
          </a:prstGeom>
          <a:noFill/>
          <a:ln/>
        </p:spPr>
        <p:txBody>
          <a:bodyPr wrap="square" rtlCol="0" anchor="ctr"/>
          <a:lstStyle/>
          <a:p>
            <a:pPr indent="0" marL="0">
              <a:lnSpc>
                <a:spcPct val="115000"/>
              </a:lnSpc>
              <a:buNone/>
            </a:pPr>
            <a:r>
              <a:rPr lang="en-US" sz="1250" dirty="0">
                <a:solidFill>
                  <a:srgbClr val="F8FAFC"/>
                </a:solidFill>
                <a:latin typeface="Calibri" pitchFamily="34" charset="0"/>
                <a:ea typeface="Calibri" pitchFamily="34" charset="-122"/>
                <a:cs typeface="Calibri" pitchFamily="34" charset="-120"/>
              </a:rPr>
              <a:t>Tabular ResNet + Multimodal</a:t>
            </a:r>
            <a:endParaRPr lang="en-US" sz="1250" dirty="0"/>
          </a:p>
          <a:p>
            <a:pPr indent="0" marL="0">
              <a:lnSpc>
                <a:spcPct val="115000"/>
              </a:lnSpc>
              <a:buNone/>
            </a:pPr>
            <a:r>
              <a:rPr lang="en-US" sz="1250" dirty="0">
                <a:solidFill>
                  <a:srgbClr val="F8FAFC"/>
                </a:solidFill>
                <a:latin typeface="Calibri" pitchFamily="34" charset="0"/>
                <a:ea typeface="Calibri" pitchFamily="34" charset="-122"/>
                <a:cs typeface="Calibri" pitchFamily="34" charset="-120"/>
              </a:rPr>
              <a:t>Over 60% Drop in Missed Diseases</a:t>
            </a:r>
            <a:endParaRPr lang="en-US" sz="1250" dirty="0"/>
          </a:p>
        </p:txBody>
      </p:sp>
      <p:sp>
        <p:nvSpPr>
          <p:cNvPr id="15" name="Shape 13"/>
          <p:cNvSpPr/>
          <p:nvPr/>
        </p:nvSpPr>
        <p:spPr>
          <a:xfrm>
            <a:off x="8983751" y="4206240"/>
            <a:ext cx="2476424" cy="1691640"/>
          </a:xfrm>
          <a:prstGeom prst="roundRect">
            <a:avLst>
              <a:gd name="adj" fmla="val 4324"/>
            </a:avLst>
          </a:prstGeom>
          <a:solidFill>
            <a:srgbClr val="1E293B"/>
          </a:solidFill>
          <a:ln w="12700">
            <a:solidFill>
              <a:srgbClr val="334155"/>
            </a:solidFill>
            <a:prstDash val="solid"/>
          </a:ln>
        </p:spPr>
      </p:sp>
      <p:sp>
        <p:nvSpPr>
          <p:cNvPr id="16" name="Text 14"/>
          <p:cNvSpPr/>
          <p:nvPr/>
        </p:nvSpPr>
        <p:spPr>
          <a:xfrm>
            <a:off x="9212351" y="4389120"/>
            <a:ext cx="2019224" cy="256032"/>
          </a:xfrm>
          <a:prstGeom prst="rect">
            <a:avLst/>
          </a:prstGeom>
          <a:noFill/>
          <a:ln/>
        </p:spPr>
        <p:txBody>
          <a:bodyPr wrap="square"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CLINICAL OUTCOME</a:t>
            </a:r>
            <a:endParaRPr lang="en-US" sz="1100" dirty="0"/>
          </a:p>
        </p:txBody>
      </p:sp>
      <p:sp>
        <p:nvSpPr>
          <p:cNvPr id="17" name="Text 15"/>
          <p:cNvSpPr/>
          <p:nvPr/>
        </p:nvSpPr>
        <p:spPr>
          <a:xfrm>
            <a:off x="9212351" y="4736592"/>
            <a:ext cx="2019224" cy="1005840"/>
          </a:xfrm>
          <a:prstGeom prst="rect">
            <a:avLst/>
          </a:prstGeom>
          <a:noFill/>
          <a:ln/>
        </p:spPr>
        <p:txBody>
          <a:bodyPr wrap="square" rtlCol="0" anchor="ctr"/>
          <a:lstStyle/>
          <a:p>
            <a:pPr indent="0" marL="0">
              <a:lnSpc>
                <a:spcPct val="115000"/>
              </a:lnSpc>
              <a:buNone/>
            </a:pPr>
            <a:r>
              <a:rPr lang="en-US" sz="1250" dirty="0">
                <a:solidFill>
                  <a:srgbClr val="F8FAFC"/>
                </a:solidFill>
                <a:latin typeface="Calibri" pitchFamily="34" charset="0"/>
                <a:ea typeface="Calibri" pitchFamily="34" charset="-122"/>
                <a:cs typeface="Calibri" pitchFamily="34" charset="-120"/>
              </a:rPr>
              <a:t>0% Data Leakage Split</a:t>
            </a:r>
            <a:endParaRPr lang="en-US" sz="1250" dirty="0"/>
          </a:p>
          <a:p>
            <a:pPr indent="0" marL="0">
              <a:lnSpc>
                <a:spcPct val="115000"/>
              </a:lnSpc>
              <a:buNone/>
            </a:pPr>
            <a:r>
              <a:rPr lang="en-US" sz="1250" dirty="0">
                <a:solidFill>
                  <a:srgbClr val="F8FAFC"/>
                </a:solidFill>
                <a:latin typeface="Calibri" pitchFamily="34" charset="0"/>
                <a:ea typeface="Calibri" pitchFamily="34" charset="-122"/>
                <a:cs typeface="Calibri" pitchFamily="34" charset="-120"/>
              </a:rPr>
              <a:t>48.8% of 34k VUS Resolved</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47472"/>
            <a:ext cx="10728655" cy="256032"/>
          </a:xfrm>
          <a:prstGeom prst="rect">
            <a:avLst/>
          </a:prstGeom>
          <a:noFill/>
          <a:ln/>
        </p:spPr>
        <p:txBody>
          <a:bodyPr wrap="square" rtlCol="0" anchor="ctr"/>
          <a:lstStyle/>
          <a:p>
            <a:pPr indent="0" marL="0">
              <a:buNone/>
            </a:pPr>
            <a:r>
              <a:rPr lang="en-US" sz="1200" b="1" dirty="0">
                <a:solidFill>
                  <a:srgbClr val="2563EB"/>
                </a:solidFill>
                <a:latin typeface="Calibri" pitchFamily="34" charset="0"/>
                <a:ea typeface="Calibri" pitchFamily="34" charset="-122"/>
                <a:cs typeface="Calibri" pitchFamily="34" charset="-120"/>
              </a:rPr>
              <a:t>BACKGROUND</a:t>
            </a:r>
            <a:endParaRPr lang="en-US" sz="1200" dirty="0"/>
          </a:p>
        </p:txBody>
      </p:sp>
      <p:sp>
        <p:nvSpPr>
          <p:cNvPr id="3" name="Text 1"/>
          <p:cNvSpPr/>
          <p:nvPr/>
        </p:nvSpPr>
        <p:spPr>
          <a:xfrm>
            <a:off x="731520" y="621792"/>
            <a:ext cx="10728655" cy="45720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Introduction: What is Long-Read Sequencing?</a:t>
            </a:r>
            <a:endParaRPr lang="en-US" sz="2200" dirty="0"/>
          </a:p>
        </p:txBody>
      </p:sp>
      <p:sp>
        <p:nvSpPr>
          <p:cNvPr id="4" name="Text 2"/>
          <p:cNvSpPr/>
          <p:nvPr/>
        </p:nvSpPr>
        <p:spPr>
          <a:xfrm>
            <a:off x="731520" y="1097280"/>
            <a:ext cx="10728655" cy="292608"/>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Long-read sequencing uncovers thousands of large DNA mutations that older technologies completely missed</a:t>
            </a:r>
            <a:endParaRPr lang="en-US" sz="1400" dirty="0"/>
          </a:p>
        </p:txBody>
      </p:sp>
      <p:sp>
        <p:nvSpPr>
          <p:cNvPr id="5" name="Shape 3"/>
          <p:cNvSpPr/>
          <p:nvPr/>
        </p:nvSpPr>
        <p:spPr>
          <a:xfrm>
            <a:off x="731520" y="1426464"/>
            <a:ext cx="10728655" cy="0"/>
          </a:xfrm>
          <a:prstGeom prst="line">
            <a:avLst/>
          </a:prstGeom>
          <a:noFill/>
          <a:ln w="12700">
            <a:solidFill>
              <a:srgbClr val="CBD5E1"/>
            </a:solidFill>
            <a:prstDash val="solid"/>
          </a:ln>
        </p:spPr>
      </p:sp>
      <p:sp>
        <p:nvSpPr>
          <p:cNvPr id="6" name="Text 4"/>
          <p:cNvSpPr/>
          <p:nvPr/>
        </p:nvSpPr>
        <p:spPr>
          <a:xfrm>
            <a:off x="731520" y="6355080"/>
            <a:ext cx="7772400" cy="29260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Department of Artificial Intelligence  |  Final Project Review  |  Amrita Vishwa Vidyapeetham</a:t>
            </a:r>
            <a:endParaRPr lang="en-US" sz="1100" dirty="0"/>
          </a:p>
        </p:txBody>
      </p:sp>
      <p:sp>
        <p:nvSpPr>
          <p:cNvPr id="7" name="Text 5"/>
          <p:cNvSpPr/>
          <p:nvPr/>
        </p:nvSpPr>
        <p:spPr>
          <a:xfrm>
            <a:off x="9448495" y="6355080"/>
            <a:ext cx="2011680" cy="292608"/>
          </a:xfrm>
          <a:prstGeom prst="rect">
            <a:avLst/>
          </a:prstGeom>
          <a:noFill/>
          <a:ln/>
        </p:spPr>
        <p:txBody>
          <a:bodyPr wrap="square" rtlCol="0" anchor="ctr"/>
          <a:lstStyle/>
          <a:p>
            <a:pPr algn="r" indent="0" marL="0">
              <a:buNone/>
            </a:pPr>
            <a:r>
              <a:rPr lang="en-US" sz="1100" dirty="0">
                <a:solidFill>
                  <a:srgbClr val="64748B"/>
                </a:solidFill>
                <a:latin typeface="Calibri" pitchFamily="34" charset="0"/>
                <a:ea typeface="Calibri" pitchFamily="34" charset="-122"/>
                <a:cs typeface="Calibri" pitchFamily="34" charset="-120"/>
              </a:rPr>
              <a:t>Slide 2 of 24</a:t>
            </a:r>
            <a:endParaRPr lang="en-US" sz="1100" dirty="0"/>
          </a:p>
        </p:txBody>
      </p:sp>
      <p:sp>
        <p:nvSpPr>
          <p:cNvPr id="8" name="Shape 6"/>
          <p:cNvSpPr/>
          <p:nvPr/>
        </p:nvSpPr>
        <p:spPr>
          <a:xfrm>
            <a:off x="731520" y="1691640"/>
            <a:ext cx="3393338" cy="4389120"/>
          </a:xfrm>
          <a:prstGeom prst="roundRect">
            <a:avLst>
              <a:gd name="adj" fmla="val 2156"/>
            </a:avLst>
          </a:prstGeom>
          <a:solidFill>
            <a:srgbClr val="FFFFFF"/>
          </a:solidFill>
          <a:ln w="12700">
            <a:solidFill>
              <a:srgbClr val="CBD5E1"/>
            </a:solidFill>
            <a:prstDash val="solid"/>
          </a:ln>
        </p:spPr>
      </p:sp>
      <p:sp>
        <p:nvSpPr>
          <p:cNvPr id="9" name="Text 7"/>
          <p:cNvSpPr/>
          <p:nvPr/>
        </p:nvSpPr>
        <p:spPr>
          <a:xfrm>
            <a:off x="1005840" y="1965960"/>
            <a:ext cx="2844698" cy="54864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Long-Read Sequencing</a:t>
            </a:r>
            <a:endParaRPr lang="en-US" sz="1800" dirty="0"/>
          </a:p>
        </p:txBody>
      </p:sp>
      <p:sp>
        <p:nvSpPr>
          <p:cNvPr id="10" name="Text 8"/>
          <p:cNvSpPr/>
          <p:nvPr/>
        </p:nvSpPr>
        <p:spPr>
          <a:xfrm>
            <a:off x="1005840" y="2542032"/>
            <a:ext cx="2844698" cy="256032"/>
          </a:xfrm>
          <a:prstGeom prst="rect">
            <a:avLst/>
          </a:prstGeom>
          <a:noFill/>
          <a:ln/>
        </p:spPr>
        <p:txBody>
          <a:bodyPr wrap="square" lIns="0" tIns="0" rIns="0" bIns="0" rtlCol="0" anchor="ctr"/>
          <a:lstStyle/>
          <a:p>
            <a:pPr indent="0" marL="0">
              <a:buNone/>
            </a:pPr>
            <a:r>
              <a:rPr lang="en-US" sz="1250" b="1" dirty="0">
                <a:solidFill>
                  <a:srgbClr val="2563EB"/>
                </a:solidFill>
                <a:latin typeface="Calibri" pitchFamily="34" charset="0"/>
                <a:ea typeface="Calibri" pitchFamily="34" charset="-122"/>
                <a:cs typeface="Calibri" pitchFamily="34" charset="-120"/>
              </a:rPr>
              <a:t>Modern DNA Reading Tech</a:t>
            </a:r>
            <a:endParaRPr lang="en-US" sz="1250" dirty="0"/>
          </a:p>
        </p:txBody>
      </p:sp>
      <p:sp>
        <p:nvSpPr>
          <p:cNvPr id="11" name="Shape 9"/>
          <p:cNvSpPr/>
          <p:nvPr/>
        </p:nvSpPr>
        <p:spPr>
          <a:xfrm>
            <a:off x="1005840" y="2880360"/>
            <a:ext cx="2844698" cy="0"/>
          </a:xfrm>
          <a:prstGeom prst="line">
            <a:avLst/>
          </a:prstGeom>
          <a:noFill/>
          <a:ln w="12700">
            <a:solidFill>
              <a:srgbClr val="CBD5E1"/>
            </a:solidFill>
            <a:prstDash val="solid"/>
          </a:ln>
        </p:spPr>
      </p:sp>
      <p:sp>
        <p:nvSpPr>
          <p:cNvPr id="12" name="Text 10"/>
          <p:cNvSpPr/>
          <p:nvPr/>
        </p:nvSpPr>
        <p:spPr>
          <a:xfrm>
            <a:off x="1005840" y="3063240"/>
            <a:ext cx="2844698" cy="2834640"/>
          </a:xfrm>
          <a:prstGeom prst="rect">
            <a:avLst/>
          </a:prstGeom>
          <a:noFill/>
          <a:ln/>
        </p:spPr>
        <p:txBody>
          <a:bodyPr wrap="square" lIns="0" tIns="0" rIns="0" bIns="0" rtlCol="0" anchor="ctr"/>
          <a:lstStyle/>
          <a:p>
            <a:pPr marL="342900" indent="-342900">
              <a:spcAft>
                <a:spcPts val="1200"/>
              </a:spcAft>
              <a:buSzPct val="100000"/>
              <a:buChar char="•"/>
            </a:pPr>
            <a:r>
              <a:rPr lang="en-US" sz="1300" dirty="0">
                <a:solidFill>
                  <a:srgbClr val="334155"/>
                </a:solidFill>
                <a:latin typeface="Calibri" pitchFamily="34" charset="0"/>
                <a:ea typeface="Calibri" pitchFamily="34" charset="-122"/>
                <a:cs typeface="Calibri" pitchFamily="34" charset="-120"/>
              </a:rPr>
              <a:t>Reads continuous DNA fragments over 10,000–25,000 letters long at once.</a:t>
            </a:r>
            <a:endParaRPr lang="en-US" sz="1300" dirty="0"/>
          </a:p>
          <a:p>
            <a:pPr marL="342900" indent="-342900">
              <a:spcAft>
                <a:spcPts val="1200"/>
              </a:spcAft>
              <a:buSzPct val="100000"/>
              <a:buChar char="•"/>
            </a:pPr>
            <a:r>
              <a:rPr lang="en-US" sz="1300" dirty="0">
                <a:solidFill>
                  <a:srgbClr val="334155"/>
                </a:solidFill>
                <a:latin typeface="Calibri" pitchFamily="34" charset="0"/>
                <a:ea typeface="Calibri" pitchFamily="34" charset="-122"/>
                <a:cs typeface="Calibri" pitchFamily="34" charset="-120"/>
              </a:rPr>
              <a:t>Effortlessly reads repetitive genomic regions where older short-read machines got stuck.</a:t>
            </a:r>
            <a:endParaRPr lang="en-US" sz="1300" dirty="0"/>
          </a:p>
          <a:p>
            <a:pPr marL="342900" indent="-342900">
              <a:spcAft>
                <a:spcPts val="1200"/>
              </a:spcAft>
              <a:buSzPct val="100000"/>
              <a:buChar char="•"/>
            </a:pPr>
            <a:r>
              <a:rPr lang="en-US" sz="1300" dirty="0">
                <a:solidFill>
                  <a:srgbClr val="334155"/>
                </a:solidFill>
                <a:latin typeface="Calibri" pitchFamily="34" charset="0"/>
                <a:ea typeface="Calibri" pitchFamily="34" charset="-122"/>
                <a:cs typeface="Calibri" pitchFamily="34" charset="-120"/>
              </a:rPr>
              <a:t>Discovers over 25,000 large DNA variants in every individual patient genome.</a:t>
            </a:r>
            <a:endParaRPr lang="en-US" sz="1300" dirty="0"/>
          </a:p>
        </p:txBody>
      </p:sp>
      <p:sp>
        <p:nvSpPr>
          <p:cNvPr id="13" name="Shape 11"/>
          <p:cNvSpPr/>
          <p:nvPr/>
        </p:nvSpPr>
        <p:spPr>
          <a:xfrm>
            <a:off x="4399178" y="1691640"/>
            <a:ext cx="3393338" cy="4389120"/>
          </a:xfrm>
          <a:prstGeom prst="roundRect">
            <a:avLst>
              <a:gd name="adj" fmla="val 2156"/>
            </a:avLst>
          </a:prstGeom>
          <a:solidFill>
            <a:srgbClr val="FFFFFF"/>
          </a:solidFill>
          <a:ln w="12700">
            <a:solidFill>
              <a:srgbClr val="CBD5E1"/>
            </a:solidFill>
            <a:prstDash val="solid"/>
          </a:ln>
        </p:spPr>
      </p:sp>
      <p:sp>
        <p:nvSpPr>
          <p:cNvPr id="14" name="Text 12"/>
          <p:cNvSpPr/>
          <p:nvPr/>
        </p:nvSpPr>
        <p:spPr>
          <a:xfrm>
            <a:off x="4673498" y="1965960"/>
            <a:ext cx="2844698" cy="54864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Structural Variants (SVs)</a:t>
            </a:r>
            <a:endParaRPr lang="en-US" sz="1800" dirty="0"/>
          </a:p>
        </p:txBody>
      </p:sp>
      <p:sp>
        <p:nvSpPr>
          <p:cNvPr id="15" name="Text 13"/>
          <p:cNvSpPr/>
          <p:nvPr/>
        </p:nvSpPr>
        <p:spPr>
          <a:xfrm>
            <a:off x="4673498" y="2542032"/>
            <a:ext cx="2844698" cy="256032"/>
          </a:xfrm>
          <a:prstGeom prst="rect">
            <a:avLst/>
          </a:prstGeom>
          <a:noFill/>
          <a:ln/>
        </p:spPr>
        <p:txBody>
          <a:bodyPr wrap="square" lIns="0" tIns="0" rIns="0" bIns="0" rtlCol="0" anchor="ctr"/>
          <a:lstStyle/>
          <a:p>
            <a:pPr indent="0" marL="0">
              <a:buNone/>
            </a:pPr>
            <a:r>
              <a:rPr lang="en-US" sz="1250" b="1" dirty="0">
                <a:solidFill>
                  <a:srgbClr val="7C3AED"/>
                </a:solidFill>
                <a:latin typeface="Calibri" pitchFamily="34" charset="0"/>
                <a:ea typeface="Calibri" pitchFamily="34" charset="-122"/>
                <a:cs typeface="Calibri" pitchFamily="34" charset="-120"/>
              </a:rPr>
              <a:t>Large DNA Disruptions</a:t>
            </a:r>
            <a:endParaRPr lang="en-US" sz="1250" dirty="0"/>
          </a:p>
        </p:txBody>
      </p:sp>
      <p:sp>
        <p:nvSpPr>
          <p:cNvPr id="16" name="Shape 14"/>
          <p:cNvSpPr/>
          <p:nvPr/>
        </p:nvSpPr>
        <p:spPr>
          <a:xfrm>
            <a:off x="4673498" y="2880360"/>
            <a:ext cx="2844698" cy="0"/>
          </a:xfrm>
          <a:prstGeom prst="line">
            <a:avLst/>
          </a:prstGeom>
          <a:noFill/>
          <a:ln w="12700">
            <a:solidFill>
              <a:srgbClr val="CBD5E1"/>
            </a:solidFill>
            <a:prstDash val="solid"/>
          </a:ln>
        </p:spPr>
      </p:sp>
      <p:sp>
        <p:nvSpPr>
          <p:cNvPr id="17" name="Text 15"/>
          <p:cNvSpPr/>
          <p:nvPr/>
        </p:nvSpPr>
        <p:spPr>
          <a:xfrm>
            <a:off x="4673498" y="3063240"/>
            <a:ext cx="2844698" cy="2834640"/>
          </a:xfrm>
          <a:prstGeom prst="rect">
            <a:avLst/>
          </a:prstGeom>
          <a:noFill/>
          <a:ln/>
        </p:spPr>
        <p:txBody>
          <a:bodyPr wrap="square" lIns="0" tIns="0" rIns="0" bIns="0" rtlCol="0" anchor="ctr"/>
          <a:lstStyle/>
          <a:p>
            <a:pPr marL="342900" indent="-342900">
              <a:spcAft>
                <a:spcPts val="1200"/>
              </a:spcAft>
              <a:buSzPct val="100000"/>
              <a:buChar char="•"/>
            </a:pPr>
            <a:r>
              <a:rPr lang="en-US" sz="1300" dirty="0">
                <a:solidFill>
                  <a:srgbClr val="334155"/>
                </a:solidFill>
                <a:latin typeface="Calibri" pitchFamily="34" charset="0"/>
                <a:ea typeface="Calibri" pitchFamily="34" charset="-122"/>
                <a:cs typeface="Calibri" pitchFamily="34" charset="-120"/>
              </a:rPr>
              <a:t>Large mutations (&gt;= 50 base pairs) such as large DNA cuts, copies, and flips.</a:t>
            </a:r>
            <a:endParaRPr lang="en-US" sz="1300" dirty="0"/>
          </a:p>
          <a:p>
            <a:pPr marL="342900" indent="-342900">
              <a:spcAft>
                <a:spcPts val="1200"/>
              </a:spcAft>
              <a:buSzPct val="100000"/>
              <a:buChar char="•"/>
            </a:pPr>
            <a:r>
              <a:rPr lang="en-US" sz="1300" dirty="0">
                <a:solidFill>
                  <a:srgbClr val="334155"/>
                </a:solidFill>
                <a:latin typeface="Calibri" pitchFamily="34" charset="0"/>
                <a:ea typeface="Calibri" pitchFamily="34" charset="-122"/>
                <a:cs typeface="Calibri" pitchFamily="34" charset="-120"/>
              </a:rPr>
              <a:t>Affect more total DNA letters than all single-letter typos combined.</a:t>
            </a:r>
            <a:endParaRPr lang="en-US" sz="1300" dirty="0"/>
          </a:p>
          <a:p>
            <a:pPr marL="342900" indent="-342900">
              <a:spcAft>
                <a:spcPts val="1200"/>
              </a:spcAft>
              <a:buSzPct val="100000"/>
              <a:buChar char="•"/>
            </a:pPr>
            <a:r>
              <a:rPr lang="en-US" sz="1300" dirty="0">
                <a:solidFill>
                  <a:srgbClr val="334155"/>
                </a:solidFill>
                <a:latin typeface="Calibri" pitchFamily="34" charset="0"/>
                <a:ea typeface="Calibri" pitchFamily="34" charset="-122"/>
                <a:cs typeface="Calibri" pitchFamily="34" charset="-120"/>
              </a:rPr>
              <a:t>Major cause of hereditary cancers, developmental delays, and rare genetic diseases.</a:t>
            </a:r>
            <a:endParaRPr lang="en-US" sz="1300" dirty="0"/>
          </a:p>
        </p:txBody>
      </p:sp>
      <p:sp>
        <p:nvSpPr>
          <p:cNvPr id="18" name="Shape 16"/>
          <p:cNvSpPr/>
          <p:nvPr/>
        </p:nvSpPr>
        <p:spPr>
          <a:xfrm>
            <a:off x="8066837" y="1691640"/>
            <a:ext cx="3393338" cy="4389120"/>
          </a:xfrm>
          <a:prstGeom prst="roundRect">
            <a:avLst>
              <a:gd name="adj" fmla="val 2156"/>
            </a:avLst>
          </a:prstGeom>
          <a:solidFill>
            <a:srgbClr val="FFFFFF"/>
          </a:solidFill>
          <a:ln w="12700">
            <a:solidFill>
              <a:srgbClr val="CBD5E1"/>
            </a:solidFill>
            <a:prstDash val="solid"/>
          </a:ln>
        </p:spPr>
      </p:sp>
      <p:sp>
        <p:nvSpPr>
          <p:cNvPr id="19" name="Text 17"/>
          <p:cNvSpPr/>
          <p:nvPr/>
        </p:nvSpPr>
        <p:spPr>
          <a:xfrm>
            <a:off x="8341157" y="1965960"/>
            <a:ext cx="2844698" cy="54864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The Clinical Bottleneck</a:t>
            </a:r>
            <a:endParaRPr lang="en-US" sz="1800" dirty="0"/>
          </a:p>
        </p:txBody>
      </p:sp>
      <p:sp>
        <p:nvSpPr>
          <p:cNvPr id="20" name="Text 18"/>
          <p:cNvSpPr/>
          <p:nvPr/>
        </p:nvSpPr>
        <p:spPr>
          <a:xfrm>
            <a:off x="8341157" y="2542032"/>
            <a:ext cx="2844698" cy="256032"/>
          </a:xfrm>
          <a:prstGeom prst="rect">
            <a:avLst/>
          </a:prstGeom>
          <a:noFill/>
          <a:ln/>
        </p:spPr>
        <p:txBody>
          <a:bodyPr wrap="square" lIns="0" tIns="0" rIns="0" bIns="0" rtlCol="0" anchor="ctr"/>
          <a:lstStyle/>
          <a:p>
            <a:pPr indent="0" marL="0">
              <a:buNone/>
            </a:pPr>
            <a:r>
              <a:rPr lang="en-US" sz="1250" b="1" dirty="0">
                <a:solidFill>
                  <a:srgbClr val="059669"/>
                </a:solidFill>
                <a:latin typeface="Calibri" pitchFamily="34" charset="0"/>
                <a:ea typeface="Calibri" pitchFamily="34" charset="-122"/>
                <a:cs typeface="Calibri" pitchFamily="34" charset="-120"/>
              </a:rPr>
              <a:t>Why AI is Needed</a:t>
            </a:r>
            <a:endParaRPr lang="en-US" sz="1250" dirty="0"/>
          </a:p>
        </p:txBody>
      </p:sp>
      <p:sp>
        <p:nvSpPr>
          <p:cNvPr id="21" name="Shape 19"/>
          <p:cNvSpPr/>
          <p:nvPr/>
        </p:nvSpPr>
        <p:spPr>
          <a:xfrm>
            <a:off x="8341157" y="2880360"/>
            <a:ext cx="2844698" cy="0"/>
          </a:xfrm>
          <a:prstGeom prst="line">
            <a:avLst/>
          </a:prstGeom>
          <a:noFill/>
          <a:ln w="12700">
            <a:solidFill>
              <a:srgbClr val="CBD5E1"/>
            </a:solidFill>
            <a:prstDash val="solid"/>
          </a:ln>
        </p:spPr>
      </p:sp>
      <p:sp>
        <p:nvSpPr>
          <p:cNvPr id="22" name="Text 20"/>
          <p:cNvSpPr/>
          <p:nvPr/>
        </p:nvSpPr>
        <p:spPr>
          <a:xfrm>
            <a:off x="8341157" y="3063240"/>
            <a:ext cx="2844698" cy="2834640"/>
          </a:xfrm>
          <a:prstGeom prst="rect">
            <a:avLst/>
          </a:prstGeom>
          <a:noFill/>
          <a:ln/>
        </p:spPr>
        <p:txBody>
          <a:bodyPr wrap="square" lIns="0" tIns="0" rIns="0" bIns="0" rtlCol="0" anchor="ctr"/>
          <a:lstStyle/>
          <a:p>
            <a:pPr marL="342900" indent="-342900">
              <a:spcAft>
                <a:spcPts val="1200"/>
              </a:spcAft>
              <a:buSzPct val="100000"/>
              <a:buChar char="•"/>
            </a:pPr>
            <a:r>
              <a:rPr lang="en-US" sz="1300" dirty="0">
                <a:solidFill>
                  <a:srgbClr val="334155"/>
                </a:solidFill>
                <a:latin typeface="Calibri" pitchFamily="34" charset="0"/>
                <a:ea typeface="Calibri" pitchFamily="34" charset="-122"/>
                <a:cs typeface="Calibri" pitchFamily="34" charset="-120"/>
              </a:rPr>
              <a:t>Doctors face a massive list of 25,000+ variants per patient in their raw output file (VCF).</a:t>
            </a:r>
            <a:endParaRPr lang="en-US" sz="1300" dirty="0"/>
          </a:p>
          <a:p>
            <a:pPr marL="342900" indent="-342900">
              <a:spcAft>
                <a:spcPts val="1200"/>
              </a:spcAft>
              <a:buSzPct val="100000"/>
              <a:buChar char="•"/>
            </a:pPr>
            <a:r>
              <a:rPr lang="en-US" sz="1300" dirty="0">
                <a:solidFill>
                  <a:srgbClr val="334155"/>
                </a:solidFill>
                <a:latin typeface="Calibri" pitchFamily="34" charset="0"/>
                <a:ea typeface="Calibri" pitchFamily="34" charset="-122"/>
                <a:cs typeface="Calibri" pitchFamily="34" charset="-120"/>
              </a:rPr>
              <a:t>Most existing tools only check tiny 1-letter typos, not large DNA rearrangements.</a:t>
            </a:r>
            <a:endParaRPr lang="en-US" sz="1300" dirty="0"/>
          </a:p>
          <a:p>
            <a:pPr marL="342900" indent="-342900">
              <a:spcAft>
                <a:spcPts val="1200"/>
              </a:spcAft>
              <a:buSzPct val="100000"/>
              <a:buChar char="•"/>
            </a:pPr>
            <a:r>
              <a:rPr lang="en-US" sz="1300" dirty="0">
                <a:solidFill>
                  <a:srgbClr val="334155"/>
                </a:solidFill>
                <a:latin typeface="Calibri" pitchFamily="34" charset="0"/>
                <a:ea typeface="Calibri" pitchFamily="34" charset="-122"/>
                <a:cs typeface="Calibri" pitchFamily="34" charset="-120"/>
              </a:rPr>
              <a:t>Manual checking takes weeks; an automated AI prioritization system is urgently needed.</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47472"/>
            <a:ext cx="10728655" cy="256032"/>
          </a:xfrm>
          <a:prstGeom prst="rect">
            <a:avLst/>
          </a:prstGeom>
          <a:noFill/>
          <a:ln/>
        </p:spPr>
        <p:txBody>
          <a:bodyPr wrap="square" rtlCol="0" anchor="ctr"/>
          <a:lstStyle/>
          <a:p>
            <a:pPr indent="0" marL="0">
              <a:buNone/>
            </a:pPr>
            <a:r>
              <a:rPr lang="en-US" sz="1200" b="1" dirty="0">
                <a:solidFill>
                  <a:srgbClr val="2563EB"/>
                </a:solidFill>
                <a:latin typeface="Calibri" pitchFamily="34" charset="0"/>
                <a:ea typeface="Calibri" pitchFamily="34" charset="-122"/>
                <a:cs typeface="Calibri" pitchFamily="34" charset="-120"/>
              </a:rPr>
              <a:t>PROBLEM FORMULATION</a:t>
            </a:r>
            <a:endParaRPr lang="en-US" sz="1200" dirty="0"/>
          </a:p>
        </p:txBody>
      </p:sp>
      <p:sp>
        <p:nvSpPr>
          <p:cNvPr id="3" name="Text 1"/>
          <p:cNvSpPr/>
          <p:nvPr/>
        </p:nvSpPr>
        <p:spPr>
          <a:xfrm>
            <a:off x="731520" y="621792"/>
            <a:ext cx="10728655" cy="45720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Problem Statement: Three Major Diagnostic Challenges</a:t>
            </a:r>
            <a:endParaRPr lang="en-US" sz="2200" dirty="0"/>
          </a:p>
        </p:txBody>
      </p:sp>
      <p:sp>
        <p:nvSpPr>
          <p:cNvPr id="4" name="Text 2"/>
          <p:cNvSpPr/>
          <p:nvPr/>
        </p:nvSpPr>
        <p:spPr>
          <a:xfrm>
            <a:off x="731520" y="1097280"/>
            <a:ext cx="10728655" cy="292608"/>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Why current clinical software fails on long-read structural variant data</a:t>
            </a:r>
            <a:endParaRPr lang="en-US" sz="1400" dirty="0"/>
          </a:p>
        </p:txBody>
      </p:sp>
      <p:sp>
        <p:nvSpPr>
          <p:cNvPr id="5" name="Shape 3"/>
          <p:cNvSpPr/>
          <p:nvPr/>
        </p:nvSpPr>
        <p:spPr>
          <a:xfrm>
            <a:off x="731520" y="1426464"/>
            <a:ext cx="10728655" cy="0"/>
          </a:xfrm>
          <a:prstGeom prst="line">
            <a:avLst/>
          </a:prstGeom>
          <a:noFill/>
          <a:ln w="12700">
            <a:solidFill>
              <a:srgbClr val="CBD5E1"/>
            </a:solidFill>
            <a:prstDash val="solid"/>
          </a:ln>
        </p:spPr>
      </p:sp>
      <p:sp>
        <p:nvSpPr>
          <p:cNvPr id="6" name="Text 4"/>
          <p:cNvSpPr/>
          <p:nvPr/>
        </p:nvSpPr>
        <p:spPr>
          <a:xfrm>
            <a:off x="731520" y="6355080"/>
            <a:ext cx="7772400" cy="29260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Department of Artificial Intelligence  |  Final Project Review  |  Amrita Vishwa Vidyapeetham</a:t>
            </a:r>
            <a:endParaRPr lang="en-US" sz="1100" dirty="0"/>
          </a:p>
        </p:txBody>
      </p:sp>
      <p:sp>
        <p:nvSpPr>
          <p:cNvPr id="7" name="Text 5"/>
          <p:cNvSpPr/>
          <p:nvPr/>
        </p:nvSpPr>
        <p:spPr>
          <a:xfrm>
            <a:off x="9448495" y="6355080"/>
            <a:ext cx="2011680" cy="292608"/>
          </a:xfrm>
          <a:prstGeom prst="rect">
            <a:avLst/>
          </a:prstGeom>
          <a:noFill/>
          <a:ln/>
        </p:spPr>
        <p:txBody>
          <a:bodyPr wrap="square" rtlCol="0" anchor="ctr"/>
          <a:lstStyle/>
          <a:p>
            <a:pPr algn="r" indent="0" marL="0">
              <a:buNone/>
            </a:pPr>
            <a:r>
              <a:rPr lang="en-US" sz="1100" dirty="0">
                <a:solidFill>
                  <a:srgbClr val="64748B"/>
                </a:solidFill>
                <a:latin typeface="Calibri" pitchFamily="34" charset="0"/>
                <a:ea typeface="Calibri" pitchFamily="34" charset="-122"/>
                <a:cs typeface="Calibri" pitchFamily="34" charset="-120"/>
              </a:rPr>
              <a:t>Slide 3 of 24</a:t>
            </a:r>
            <a:endParaRPr lang="en-US" sz="1100" dirty="0"/>
          </a:p>
        </p:txBody>
      </p:sp>
      <p:sp>
        <p:nvSpPr>
          <p:cNvPr id="8" name="Shape 6"/>
          <p:cNvSpPr/>
          <p:nvPr/>
        </p:nvSpPr>
        <p:spPr>
          <a:xfrm>
            <a:off x="731520" y="1691640"/>
            <a:ext cx="3393338" cy="4389120"/>
          </a:xfrm>
          <a:prstGeom prst="roundRect">
            <a:avLst>
              <a:gd name="adj" fmla="val 2156"/>
            </a:avLst>
          </a:prstGeom>
          <a:solidFill>
            <a:srgbClr val="FFFFFF"/>
          </a:solidFill>
          <a:ln w="12700">
            <a:solidFill>
              <a:srgbClr val="CBD5E1"/>
            </a:solidFill>
            <a:prstDash val="solid"/>
          </a:ln>
        </p:spPr>
      </p:sp>
      <p:sp>
        <p:nvSpPr>
          <p:cNvPr id="9" name="Text 7"/>
          <p:cNvSpPr/>
          <p:nvPr/>
        </p:nvSpPr>
        <p:spPr>
          <a:xfrm>
            <a:off x="1005840" y="1965960"/>
            <a:ext cx="2844698" cy="411480"/>
          </a:xfrm>
          <a:prstGeom prst="rect">
            <a:avLst/>
          </a:prstGeom>
          <a:noFill/>
          <a:ln/>
        </p:spPr>
        <p:txBody>
          <a:bodyPr wrap="square" lIns="0" tIns="0" rIns="0" bIns="0" rtlCol="0" anchor="ctr"/>
          <a:lstStyle/>
          <a:p>
            <a:pPr indent="0" marL="0">
              <a:buNone/>
            </a:pPr>
            <a:r>
              <a:rPr lang="en-US" sz="2600" b="1" dirty="0">
                <a:solidFill>
                  <a:srgbClr val="DC2626"/>
                </a:solidFill>
                <a:latin typeface="Calibri" pitchFamily="34" charset="0"/>
                <a:ea typeface="Calibri" pitchFamily="34" charset="-122"/>
                <a:cs typeface="Calibri" pitchFamily="34" charset="-120"/>
              </a:rPr>
              <a:t>01</a:t>
            </a:r>
            <a:endParaRPr lang="en-US" sz="2600" dirty="0"/>
          </a:p>
        </p:txBody>
      </p:sp>
      <p:sp>
        <p:nvSpPr>
          <p:cNvPr id="10" name="Text 8"/>
          <p:cNvSpPr/>
          <p:nvPr/>
        </p:nvSpPr>
        <p:spPr>
          <a:xfrm>
            <a:off x="1005840" y="2423160"/>
            <a:ext cx="2844698" cy="5943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Current Tools Check the Wrong Scale</a:t>
            </a:r>
            <a:endParaRPr lang="en-US" sz="1800" dirty="0"/>
          </a:p>
        </p:txBody>
      </p:sp>
      <p:sp>
        <p:nvSpPr>
          <p:cNvPr id="11" name="Shape 9"/>
          <p:cNvSpPr/>
          <p:nvPr/>
        </p:nvSpPr>
        <p:spPr>
          <a:xfrm>
            <a:off x="1005840" y="3063240"/>
            <a:ext cx="2844698" cy="0"/>
          </a:xfrm>
          <a:prstGeom prst="line">
            <a:avLst/>
          </a:prstGeom>
          <a:noFill/>
          <a:ln w="12700">
            <a:solidFill>
              <a:srgbClr val="CBD5E1"/>
            </a:solidFill>
            <a:prstDash val="solid"/>
          </a:ln>
        </p:spPr>
      </p:sp>
      <p:sp>
        <p:nvSpPr>
          <p:cNvPr id="12" name="Text 10"/>
          <p:cNvSpPr/>
          <p:nvPr/>
        </p:nvSpPr>
        <p:spPr>
          <a:xfrm>
            <a:off x="1005840" y="3291840"/>
            <a:ext cx="2844698" cy="2560320"/>
          </a:xfrm>
          <a:prstGeom prst="rect">
            <a:avLst/>
          </a:prstGeom>
          <a:noFill/>
          <a:ln/>
        </p:spPr>
        <p:txBody>
          <a:bodyPr wrap="square" lIns="0" tIns="0" rIns="0" bIns="0" rtlCol="0" anchor="ctr"/>
          <a:lstStyle/>
          <a:p>
            <a:pPr indent="0" marL="0">
              <a:lnSpc>
                <a:spcPct val="125000"/>
              </a:lnSpc>
              <a:buNone/>
            </a:pPr>
            <a:r>
              <a:rPr lang="en-US" sz="1350" dirty="0">
                <a:solidFill>
                  <a:srgbClr val="334155"/>
                </a:solidFill>
                <a:latin typeface="Calibri" pitchFamily="34" charset="0"/>
                <a:ea typeface="Calibri" pitchFamily="34" charset="-122"/>
                <a:cs typeface="Calibri" pitchFamily="34" charset="-120"/>
              </a:rPr>
              <a:t>Over 90% of current scoring tools are built exclusively for 1-letter typos. They cannot model large multi-thousand-letter deletions or additions that span across entire functional human genes.</a:t>
            </a:r>
            <a:endParaRPr lang="en-US" sz="1350" dirty="0"/>
          </a:p>
        </p:txBody>
      </p:sp>
      <p:sp>
        <p:nvSpPr>
          <p:cNvPr id="13" name="Shape 11"/>
          <p:cNvSpPr/>
          <p:nvPr/>
        </p:nvSpPr>
        <p:spPr>
          <a:xfrm>
            <a:off x="4399178" y="1691640"/>
            <a:ext cx="3393338" cy="4389120"/>
          </a:xfrm>
          <a:prstGeom prst="roundRect">
            <a:avLst>
              <a:gd name="adj" fmla="val 2156"/>
            </a:avLst>
          </a:prstGeom>
          <a:solidFill>
            <a:srgbClr val="FFFFFF"/>
          </a:solidFill>
          <a:ln w="12700">
            <a:solidFill>
              <a:srgbClr val="CBD5E1"/>
            </a:solidFill>
            <a:prstDash val="solid"/>
          </a:ln>
        </p:spPr>
      </p:sp>
      <p:sp>
        <p:nvSpPr>
          <p:cNvPr id="14" name="Text 12"/>
          <p:cNvSpPr/>
          <p:nvPr/>
        </p:nvSpPr>
        <p:spPr>
          <a:xfrm>
            <a:off x="4673498" y="1965960"/>
            <a:ext cx="2844698" cy="411480"/>
          </a:xfrm>
          <a:prstGeom prst="rect">
            <a:avLst/>
          </a:prstGeom>
          <a:noFill/>
          <a:ln/>
        </p:spPr>
        <p:txBody>
          <a:bodyPr wrap="square" lIns="0" tIns="0" rIns="0" bIns="0" rtlCol="0" anchor="ctr"/>
          <a:lstStyle/>
          <a:p>
            <a:pPr indent="0" marL="0">
              <a:buNone/>
            </a:pPr>
            <a:r>
              <a:rPr lang="en-US" sz="2600" b="1" dirty="0">
                <a:solidFill>
                  <a:srgbClr val="D97706"/>
                </a:solidFill>
                <a:latin typeface="Calibri" pitchFamily="34" charset="0"/>
                <a:ea typeface="Calibri" pitchFamily="34" charset="-122"/>
                <a:cs typeface="Calibri" pitchFamily="34" charset="-120"/>
              </a:rPr>
              <a:t>02</a:t>
            </a:r>
            <a:endParaRPr lang="en-US" sz="2600" dirty="0"/>
          </a:p>
        </p:txBody>
      </p:sp>
      <p:sp>
        <p:nvSpPr>
          <p:cNvPr id="15" name="Text 13"/>
          <p:cNvSpPr/>
          <p:nvPr/>
        </p:nvSpPr>
        <p:spPr>
          <a:xfrm>
            <a:off x="4673498" y="2423160"/>
            <a:ext cx="2844698" cy="5943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Data Leakage in Previous Research</a:t>
            </a:r>
            <a:endParaRPr lang="en-US" sz="1800" dirty="0"/>
          </a:p>
        </p:txBody>
      </p:sp>
      <p:sp>
        <p:nvSpPr>
          <p:cNvPr id="16" name="Shape 14"/>
          <p:cNvSpPr/>
          <p:nvPr/>
        </p:nvSpPr>
        <p:spPr>
          <a:xfrm>
            <a:off x="4673498" y="3063240"/>
            <a:ext cx="2844698" cy="0"/>
          </a:xfrm>
          <a:prstGeom prst="line">
            <a:avLst/>
          </a:prstGeom>
          <a:noFill/>
          <a:ln w="12700">
            <a:solidFill>
              <a:srgbClr val="CBD5E1"/>
            </a:solidFill>
            <a:prstDash val="solid"/>
          </a:ln>
        </p:spPr>
      </p:sp>
      <p:sp>
        <p:nvSpPr>
          <p:cNvPr id="17" name="Text 15"/>
          <p:cNvSpPr/>
          <p:nvPr/>
        </p:nvSpPr>
        <p:spPr>
          <a:xfrm>
            <a:off x="4673498" y="3291840"/>
            <a:ext cx="2844698" cy="2560320"/>
          </a:xfrm>
          <a:prstGeom prst="rect">
            <a:avLst/>
          </a:prstGeom>
          <a:noFill/>
          <a:ln/>
        </p:spPr>
        <p:txBody>
          <a:bodyPr wrap="square" lIns="0" tIns="0" rIns="0" bIns="0" rtlCol="0" anchor="ctr"/>
          <a:lstStyle/>
          <a:p>
            <a:pPr indent="0" marL="0">
              <a:lnSpc>
                <a:spcPct val="125000"/>
              </a:lnSpc>
              <a:buNone/>
            </a:pPr>
            <a:r>
              <a:rPr lang="en-US" sz="1350" dirty="0">
                <a:solidFill>
                  <a:srgbClr val="334155"/>
                </a:solidFill>
                <a:latin typeface="Calibri" pitchFamily="34" charset="0"/>
                <a:ea typeface="Calibri" pitchFamily="34" charset="-122"/>
                <a:cs typeface="Calibri" pitchFamily="34" charset="-120"/>
              </a:rPr>
              <a:t>Previous AI papers made a fundamental mistake: they used naive random 80/20 splits. Overlapping variants from the same chromosome appeared in both train and test sets, creating fake high scores that fail on real patients.</a:t>
            </a:r>
            <a:endParaRPr lang="en-US" sz="1350" dirty="0"/>
          </a:p>
        </p:txBody>
      </p:sp>
      <p:sp>
        <p:nvSpPr>
          <p:cNvPr id="18" name="Shape 16"/>
          <p:cNvSpPr/>
          <p:nvPr/>
        </p:nvSpPr>
        <p:spPr>
          <a:xfrm>
            <a:off x="8066837" y="1691640"/>
            <a:ext cx="3393338" cy="4389120"/>
          </a:xfrm>
          <a:prstGeom prst="roundRect">
            <a:avLst>
              <a:gd name="adj" fmla="val 2156"/>
            </a:avLst>
          </a:prstGeom>
          <a:solidFill>
            <a:srgbClr val="FFFFFF"/>
          </a:solidFill>
          <a:ln w="12700">
            <a:solidFill>
              <a:srgbClr val="CBD5E1"/>
            </a:solidFill>
            <a:prstDash val="solid"/>
          </a:ln>
        </p:spPr>
      </p:sp>
      <p:sp>
        <p:nvSpPr>
          <p:cNvPr id="19" name="Text 17"/>
          <p:cNvSpPr/>
          <p:nvPr/>
        </p:nvSpPr>
        <p:spPr>
          <a:xfrm>
            <a:off x="8341157" y="1965960"/>
            <a:ext cx="2844698" cy="411480"/>
          </a:xfrm>
          <a:prstGeom prst="rect">
            <a:avLst/>
          </a:prstGeom>
          <a:noFill/>
          <a:ln/>
        </p:spPr>
        <p:txBody>
          <a:bodyPr wrap="square" lIns="0" tIns="0" rIns="0" bIns="0" rtlCol="0" anchor="ctr"/>
          <a:lstStyle/>
          <a:p>
            <a:pPr indent="0" marL="0">
              <a:buNone/>
            </a:pPr>
            <a:r>
              <a:rPr lang="en-US" sz="2600" b="1" dirty="0">
                <a:solidFill>
                  <a:srgbClr val="2563EB"/>
                </a:solidFill>
                <a:latin typeface="Calibri" pitchFamily="34" charset="0"/>
                <a:ea typeface="Calibri" pitchFamily="34" charset="-122"/>
                <a:cs typeface="Calibri" pitchFamily="34" charset="-120"/>
              </a:rPr>
              <a:t>03</a:t>
            </a:r>
            <a:endParaRPr lang="en-US" sz="2600" dirty="0"/>
          </a:p>
        </p:txBody>
      </p:sp>
      <p:sp>
        <p:nvSpPr>
          <p:cNvPr id="20" name="Text 18"/>
          <p:cNvSpPr/>
          <p:nvPr/>
        </p:nvSpPr>
        <p:spPr>
          <a:xfrm>
            <a:off x="8341157" y="2423160"/>
            <a:ext cx="2844698" cy="5943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Missing Clinical Confidence Bounds</a:t>
            </a:r>
            <a:endParaRPr lang="en-US" sz="1800" dirty="0"/>
          </a:p>
        </p:txBody>
      </p:sp>
      <p:sp>
        <p:nvSpPr>
          <p:cNvPr id="21" name="Shape 19"/>
          <p:cNvSpPr/>
          <p:nvPr/>
        </p:nvSpPr>
        <p:spPr>
          <a:xfrm>
            <a:off x="8341157" y="3063240"/>
            <a:ext cx="2844698" cy="0"/>
          </a:xfrm>
          <a:prstGeom prst="line">
            <a:avLst/>
          </a:prstGeom>
          <a:noFill/>
          <a:ln w="12700">
            <a:solidFill>
              <a:srgbClr val="CBD5E1"/>
            </a:solidFill>
            <a:prstDash val="solid"/>
          </a:ln>
        </p:spPr>
      </p:sp>
      <p:sp>
        <p:nvSpPr>
          <p:cNvPr id="22" name="Text 20"/>
          <p:cNvSpPr/>
          <p:nvPr/>
        </p:nvSpPr>
        <p:spPr>
          <a:xfrm>
            <a:off x="8341157" y="3291840"/>
            <a:ext cx="2844698" cy="2560320"/>
          </a:xfrm>
          <a:prstGeom prst="rect">
            <a:avLst/>
          </a:prstGeom>
          <a:noFill/>
          <a:ln/>
        </p:spPr>
        <p:txBody>
          <a:bodyPr wrap="square" lIns="0" tIns="0" rIns="0" bIns="0" rtlCol="0" anchor="ctr"/>
          <a:lstStyle/>
          <a:p>
            <a:pPr indent="0" marL="0">
              <a:lnSpc>
                <a:spcPct val="125000"/>
              </a:lnSpc>
              <a:buNone/>
            </a:pPr>
            <a:r>
              <a:rPr lang="en-US" sz="1350" dirty="0">
                <a:solidFill>
                  <a:srgbClr val="334155"/>
                </a:solidFill>
                <a:latin typeface="Calibri" pitchFamily="34" charset="0"/>
                <a:ea typeface="Calibri" pitchFamily="34" charset="-122"/>
                <a:cs typeface="Calibri" pitchFamily="34" charset="-120"/>
              </a:rPr>
              <a:t>Standard AI models output a single raw probability score without safety margins. In medical diagnosis, guessing without a certified confidence interval risks missing disease mutations or causing unnecessary surgeries.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47472"/>
            <a:ext cx="10728655" cy="256032"/>
          </a:xfrm>
          <a:prstGeom prst="rect">
            <a:avLst/>
          </a:prstGeom>
          <a:noFill/>
          <a:ln/>
        </p:spPr>
        <p:txBody>
          <a:bodyPr wrap="square" rtlCol="0" anchor="ctr"/>
          <a:lstStyle/>
          <a:p>
            <a:pPr indent="0" marL="0">
              <a:buNone/>
            </a:pPr>
            <a:r>
              <a:rPr lang="en-US" sz="1200" b="1" dirty="0">
                <a:solidFill>
                  <a:srgbClr val="2563EB"/>
                </a:solidFill>
                <a:latin typeface="Calibri" pitchFamily="34" charset="0"/>
                <a:ea typeface="Calibri" pitchFamily="34" charset="-122"/>
                <a:cs typeface="Calibri" pitchFamily="34" charset="-120"/>
              </a:rPr>
              <a:t>CLINICAL RELEVANCE</a:t>
            </a:r>
            <a:endParaRPr lang="en-US" sz="1200" dirty="0"/>
          </a:p>
        </p:txBody>
      </p:sp>
      <p:sp>
        <p:nvSpPr>
          <p:cNvPr id="3" name="Text 1"/>
          <p:cNvSpPr/>
          <p:nvPr/>
        </p:nvSpPr>
        <p:spPr>
          <a:xfrm>
            <a:off x="731520" y="621792"/>
            <a:ext cx="10728655" cy="45720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Clinical Motivation: Solving the 40% Uncertainty Trap</a:t>
            </a:r>
            <a:endParaRPr lang="en-US" sz="2200" dirty="0"/>
          </a:p>
        </p:txBody>
      </p:sp>
      <p:sp>
        <p:nvSpPr>
          <p:cNvPr id="4" name="Text 2"/>
          <p:cNvSpPr/>
          <p:nvPr/>
        </p:nvSpPr>
        <p:spPr>
          <a:xfrm>
            <a:off x="731520" y="1097280"/>
            <a:ext cx="10728655" cy="292608"/>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Helping doctors convert ambiguous genetic findings into clear, fast diagnostic actions</a:t>
            </a:r>
            <a:endParaRPr lang="en-US" sz="1400" dirty="0"/>
          </a:p>
        </p:txBody>
      </p:sp>
      <p:sp>
        <p:nvSpPr>
          <p:cNvPr id="5" name="Shape 3"/>
          <p:cNvSpPr/>
          <p:nvPr/>
        </p:nvSpPr>
        <p:spPr>
          <a:xfrm>
            <a:off x="731520" y="1426464"/>
            <a:ext cx="10728655" cy="0"/>
          </a:xfrm>
          <a:prstGeom prst="line">
            <a:avLst/>
          </a:prstGeom>
          <a:noFill/>
          <a:ln w="12700">
            <a:solidFill>
              <a:srgbClr val="CBD5E1"/>
            </a:solidFill>
            <a:prstDash val="solid"/>
          </a:ln>
        </p:spPr>
      </p:sp>
      <p:sp>
        <p:nvSpPr>
          <p:cNvPr id="6" name="Text 4"/>
          <p:cNvSpPr/>
          <p:nvPr/>
        </p:nvSpPr>
        <p:spPr>
          <a:xfrm>
            <a:off x="731520" y="6355080"/>
            <a:ext cx="7772400" cy="29260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Department of Artificial Intelligence  |  Final Project Review  |  Amrita Vishwa Vidyapeetham</a:t>
            </a:r>
            <a:endParaRPr lang="en-US" sz="1100" dirty="0"/>
          </a:p>
        </p:txBody>
      </p:sp>
      <p:sp>
        <p:nvSpPr>
          <p:cNvPr id="7" name="Text 5"/>
          <p:cNvSpPr/>
          <p:nvPr/>
        </p:nvSpPr>
        <p:spPr>
          <a:xfrm>
            <a:off x="9448495" y="6355080"/>
            <a:ext cx="2011680" cy="292608"/>
          </a:xfrm>
          <a:prstGeom prst="rect">
            <a:avLst/>
          </a:prstGeom>
          <a:noFill/>
          <a:ln/>
        </p:spPr>
        <p:txBody>
          <a:bodyPr wrap="square" rtlCol="0" anchor="ctr"/>
          <a:lstStyle/>
          <a:p>
            <a:pPr algn="r" indent="0" marL="0">
              <a:buNone/>
            </a:pPr>
            <a:r>
              <a:rPr lang="en-US" sz="1100" dirty="0">
                <a:solidFill>
                  <a:srgbClr val="64748B"/>
                </a:solidFill>
                <a:latin typeface="Calibri" pitchFamily="34" charset="0"/>
                <a:ea typeface="Calibri" pitchFamily="34" charset="-122"/>
                <a:cs typeface="Calibri" pitchFamily="34" charset="-120"/>
              </a:rPr>
              <a:t>Slide 4 of 24</a:t>
            </a:r>
            <a:endParaRPr lang="en-US" sz="1100" dirty="0"/>
          </a:p>
        </p:txBody>
      </p:sp>
      <p:sp>
        <p:nvSpPr>
          <p:cNvPr id="8" name="Shape 6"/>
          <p:cNvSpPr/>
          <p:nvPr/>
        </p:nvSpPr>
        <p:spPr>
          <a:xfrm>
            <a:off x="731520" y="1691640"/>
            <a:ext cx="3931920" cy="1325880"/>
          </a:xfrm>
          <a:prstGeom prst="roundRect">
            <a:avLst>
              <a:gd name="adj" fmla="val 5517"/>
            </a:avLst>
          </a:prstGeom>
          <a:solidFill>
            <a:srgbClr val="FFFFFF"/>
          </a:solidFill>
          <a:ln w="12700">
            <a:solidFill>
              <a:srgbClr val="CBD5E1"/>
            </a:solidFill>
            <a:prstDash val="solid"/>
          </a:ln>
        </p:spPr>
      </p:sp>
      <p:sp>
        <p:nvSpPr>
          <p:cNvPr id="9" name="Text 7"/>
          <p:cNvSpPr/>
          <p:nvPr/>
        </p:nvSpPr>
        <p:spPr>
          <a:xfrm>
            <a:off x="960120" y="1828800"/>
            <a:ext cx="3474720" cy="594360"/>
          </a:xfrm>
          <a:prstGeom prst="rect">
            <a:avLst/>
          </a:prstGeom>
          <a:noFill/>
          <a:ln/>
        </p:spPr>
        <p:txBody>
          <a:bodyPr wrap="square" lIns="0" tIns="0" rIns="0" bIns="0" rtlCol="0" anchor="ctr"/>
          <a:lstStyle/>
          <a:p>
            <a:pPr indent="0" marL="0">
              <a:buNone/>
            </a:pPr>
            <a:r>
              <a:rPr lang="en-US" sz="3200" b="1" dirty="0">
                <a:solidFill>
                  <a:srgbClr val="DC2626"/>
                </a:solidFill>
                <a:latin typeface="Calibri" pitchFamily="34" charset="0"/>
                <a:ea typeface="Calibri" pitchFamily="34" charset="-122"/>
                <a:cs typeface="Calibri" pitchFamily="34" charset="-120"/>
              </a:rPr>
              <a:t>~40%</a:t>
            </a:r>
            <a:endParaRPr lang="en-US" sz="3200" dirty="0"/>
          </a:p>
        </p:txBody>
      </p:sp>
      <p:sp>
        <p:nvSpPr>
          <p:cNvPr id="10" name="Text 8"/>
          <p:cNvSpPr/>
          <p:nvPr/>
        </p:nvSpPr>
        <p:spPr>
          <a:xfrm>
            <a:off x="960120" y="2441448"/>
            <a:ext cx="3474720" cy="320040"/>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Variants of Uncertain Significance</a:t>
            </a:r>
            <a:endParaRPr lang="en-US" sz="1350" dirty="0"/>
          </a:p>
        </p:txBody>
      </p:sp>
      <p:sp>
        <p:nvSpPr>
          <p:cNvPr id="11" name="Text 9"/>
          <p:cNvSpPr/>
          <p:nvPr/>
        </p:nvSpPr>
        <p:spPr>
          <a:xfrm>
            <a:off x="960120" y="2788920"/>
            <a:ext cx="3474720" cy="137160"/>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Nearly 40% of patient mutations have unknown impact, leaving families without answers.</a:t>
            </a:r>
            <a:endParaRPr lang="en-US" sz="1150" dirty="0"/>
          </a:p>
        </p:txBody>
      </p:sp>
      <p:sp>
        <p:nvSpPr>
          <p:cNvPr id="12" name="Shape 10"/>
          <p:cNvSpPr/>
          <p:nvPr/>
        </p:nvSpPr>
        <p:spPr>
          <a:xfrm>
            <a:off x="731520" y="3200400"/>
            <a:ext cx="3931920" cy="1325880"/>
          </a:xfrm>
          <a:prstGeom prst="roundRect">
            <a:avLst>
              <a:gd name="adj" fmla="val 5517"/>
            </a:avLst>
          </a:prstGeom>
          <a:solidFill>
            <a:srgbClr val="FFFFFF"/>
          </a:solidFill>
          <a:ln w="12700">
            <a:solidFill>
              <a:srgbClr val="CBD5E1"/>
            </a:solidFill>
            <a:prstDash val="solid"/>
          </a:ln>
        </p:spPr>
      </p:sp>
      <p:sp>
        <p:nvSpPr>
          <p:cNvPr id="13" name="Text 11"/>
          <p:cNvSpPr/>
          <p:nvPr/>
        </p:nvSpPr>
        <p:spPr>
          <a:xfrm>
            <a:off x="960120" y="3337560"/>
            <a:ext cx="3474720"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&gt;45 min</a:t>
            </a:r>
            <a:endParaRPr lang="en-US" sz="3200" dirty="0"/>
          </a:p>
        </p:txBody>
      </p:sp>
      <p:sp>
        <p:nvSpPr>
          <p:cNvPr id="14" name="Text 12"/>
          <p:cNvSpPr/>
          <p:nvPr/>
        </p:nvSpPr>
        <p:spPr>
          <a:xfrm>
            <a:off x="960120" y="3950208"/>
            <a:ext cx="3474720" cy="320040"/>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Manual Doctor Review Time</a:t>
            </a:r>
            <a:endParaRPr lang="en-US" sz="1350" dirty="0"/>
          </a:p>
        </p:txBody>
      </p:sp>
      <p:sp>
        <p:nvSpPr>
          <p:cNvPr id="15" name="Text 13"/>
          <p:cNvSpPr/>
          <p:nvPr/>
        </p:nvSpPr>
        <p:spPr>
          <a:xfrm>
            <a:off x="960120" y="4297680"/>
            <a:ext cx="3474720" cy="137160"/>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Doctors spend 45+ minutes per variant manually searching medical literature.</a:t>
            </a:r>
            <a:endParaRPr lang="en-US" sz="1150" dirty="0"/>
          </a:p>
        </p:txBody>
      </p:sp>
      <p:sp>
        <p:nvSpPr>
          <p:cNvPr id="16" name="Shape 14"/>
          <p:cNvSpPr/>
          <p:nvPr/>
        </p:nvSpPr>
        <p:spPr>
          <a:xfrm>
            <a:off x="731520" y="4709160"/>
            <a:ext cx="3931920" cy="1371600"/>
          </a:xfrm>
          <a:prstGeom prst="roundRect">
            <a:avLst>
              <a:gd name="adj" fmla="val 5333"/>
            </a:avLst>
          </a:prstGeom>
          <a:solidFill>
            <a:srgbClr val="FFFFFF"/>
          </a:solidFill>
          <a:ln w="12700">
            <a:solidFill>
              <a:srgbClr val="CBD5E1"/>
            </a:solidFill>
            <a:prstDash val="solid"/>
          </a:ln>
        </p:spPr>
      </p:sp>
      <p:sp>
        <p:nvSpPr>
          <p:cNvPr id="17" name="Text 15"/>
          <p:cNvSpPr/>
          <p:nvPr/>
        </p:nvSpPr>
        <p:spPr>
          <a:xfrm>
            <a:off x="960120" y="4846320"/>
            <a:ext cx="3474720" cy="594360"/>
          </a:xfrm>
          <a:prstGeom prst="rect">
            <a:avLst/>
          </a:prstGeom>
          <a:noFill/>
          <a:ln/>
        </p:spPr>
        <p:txBody>
          <a:bodyPr wrap="square" lIns="0" tIns="0" rIns="0" bIns="0" rtlCol="0" anchor="ctr"/>
          <a:lstStyle/>
          <a:p>
            <a:pPr indent="0" marL="0">
              <a:buNone/>
            </a:pPr>
            <a:r>
              <a:rPr lang="en-US" sz="3200" b="1" dirty="0">
                <a:solidFill>
                  <a:srgbClr val="059669"/>
                </a:solidFill>
                <a:latin typeface="Calibri" pitchFamily="34" charset="0"/>
                <a:ea typeface="Calibri" pitchFamily="34" charset="-122"/>
                <a:cs typeface="Calibri" pitchFamily="34" charset="-120"/>
              </a:rPr>
              <a:t>4.2s</a:t>
            </a:r>
            <a:endParaRPr lang="en-US" sz="3200" dirty="0"/>
          </a:p>
        </p:txBody>
      </p:sp>
      <p:sp>
        <p:nvSpPr>
          <p:cNvPr id="18" name="Text 16"/>
          <p:cNvSpPr/>
          <p:nvPr/>
        </p:nvSpPr>
        <p:spPr>
          <a:xfrm>
            <a:off x="960120" y="5458968"/>
            <a:ext cx="3474720" cy="320040"/>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Our Automated AI Pipeline</a:t>
            </a:r>
            <a:endParaRPr lang="en-US" sz="1350" dirty="0"/>
          </a:p>
        </p:txBody>
      </p:sp>
      <p:sp>
        <p:nvSpPr>
          <p:cNvPr id="19" name="Text 17"/>
          <p:cNvSpPr/>
          <p:nvPr/>
        </p:nvSpPr>
        <p:spPr>
          <a:xfrm>
            <a:off x="960120" y="5806440"/>
            <a:ext cx="3474720" cy="182880"/>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Our software ranks and explains patient variants in just 4.2 seconds.</a:t>
            </a:r>
            <a:endParaRPr lang="en-US" sz="1150" dirty="0"/>
          </a:p>
        </p:txBody>
      </p:sp>
      <p:sp>
        <p:nvSpPr>
          <p:cNvPr id="20" name="Shape 18"/>
          <p:cNvSpPr/>
          <p:nvPr/>
        </p:nvSpPr>
        <p:spPr>
          <a:xfrm>
            <a:off x="4937760" y="1691640"/>
            <a:ext cx="6522415" cy="4389120"/>
          </a:xfrm>
          <a:prstGeom prst="roundRect">
            <a:avLst>
              <a:gd name="adj" fmla="val 1667"/>
            </a:avLst>
          </a:prstGeom>
          <a:solidFill>
            <a:srgbClr val="FFFFFF"/>
          </a:solidFill>
          <a:ln w="12700">
            <a:solidFill>
              <a:srgbClr val="CBD5E1"/>
            </a:solidFill>
            <a:prstDash val="solid"/>
          </a:ln>
        </p:spPr>
      </p:sp>
      <p:sp>
        <p:nvSpPr>
          <p:cNvPr id="21" name="Text 19"/>
          <p:cNvSpPr/>
          <p:nvPr/>
        </p:nvSpPr>
        <p:spPr>
          <a:xfrm>
            <a:off x="5212080" y="1965960"/>
            <a:ext cx="5943600" cy="256032"/>
          </a:xfrm>
          <a:prstGeom prst="rect">
            <a:avLst/>
          </a:prstGeom>
          <a:noFill/>
          <a:ln/>
        </p:spPr>
        <p:txBody>
          <a:bodyPr wrap="square" rtlCol="0" anchor="ctr"/>
          <a:lstStyle/>
          <a:p>
            <a:pPr indent="0" marL="0">
              <a:buNone/>
            </a:pPr>
            <a:r>
              <a:rPr lang="en-US" sz="1200" b="1" dirty="0">
                <a:solidFill>
                  <a:srgbClr val="2563EB"/>
                </a:solidFill>
                <a:latin typeface="Calibri" pitchFamily="34" charset="0"/>
                <a:ea typeface="Calibri" pitchFamily="34" charset="-122"/>
                <a:cs typeface="Calibri" pitchFamily="34" charset="-120"/>
              </a:rPr>
              <a:t>REAL-WORLD CLINICAL IMPACT</a:t>
            </a:r>
            <a:endParaRPr lang="en-US" sz="1200" dirty="0"/>
          </a:p>
        </p:txBody>
      </p:sp>
      <p:sp>
        <p:nvSpPr>
          <p:cNvPr id="22" name="Text 20"/>
          <p:cNvSpPr/>
          <p:nvPr/>
        </p:nvSpPr>
        <p:spPr>
          <a:xfrm>
            <a:off x="5212080" y="2267712"/>
            <a:ext cx="5943600" cy="365760"/>
          </a:xfrm>
          <a:prstGeom prst="rect">
            <a:avLst/>
          </a:prstGeom>
          <a:noFill/>
          <a:ln/>
        </p:spPr>
        <p:txBody>
          <a:bodyPr wrap="square" lIns="0" tIns="0" rIns="0" bIns="0" rtlCol="0" anchor="ctr"/>
          <a:lstStyle/>
          <a:p>
            <a:pPr indent="0" marL="0">
              <a:buNone/>
            </a:pPr>
            <a:r>
              <a:rPr lang="en-US" sz="1900" b="1" dirty="0">
                <a:solidFill>
                  <a:srgbClr val="0F172A"/>
                </a:solidFill>
                <a:latin typeface="Calibri" pitchFamily="34" charset="0"/>
                <a:ea typeface="Calibri" pitchFamily="34" charset="-122"/>
                <a:cs typeface="Calibri" pitchFamily="34" charset="-120"/>
              </a:rPr>
              <a:t>Why Automating Variant Triage Saves Lives</a:t>
            </a:r>
            <a:endParaRPr lang="en-US" sz="1900" dirty="0"/>
          </a:p>
        </p:txBody>
      </p:sp>
      <p:sp>
        <p:nvSpPr>
          <p:cNvPr id="23" name="Shape 21"/>
          <p:cNvSpPr/>
          <p:nvPr/>
        </p:nvSpPr>
        <p:spPr>
          <a:xfrm>
            <a:off x="5212080" y="2697480"/>
            <a:ext cx="5943600" cy="0"/>
          </a:xfrm>
          <a:prstGeom prst="line">
            <a:avLst/>
          </a:prstGeom>
          <a:noFill/>
          <a:ln w="12700">
            <a:solidFill>
              <a:srgbClr val="CBD5E1"/>
            </a:solidFill>
            <a:prstDash val="solid"/>
          </a:ln>
        </p:spPr>
      </p:sp>
      <p:sp>
        <p:nvSpPr>
          <p:cNvPr id="24" name="Text 22"/>
          <p:cNvSpPr/>
          <p:nvPr/>
        </p:nvSpPr>
        <p:spPr>
          <a:xfrm>
            <a:off x="5212080" y="2880360"/>
            <a:ext cx="5943600" cy="914400"/>
          </a:xfrm>
          <a:prstGeom prst="rect">
            <a:avLst/>
          </a:prstGeom>
          <a:noFill/>
          <a:ln/>
        </p:spPr>
        <p:txBody>
          <a:bodyPr wrap="square" lIns="0" tIns="0" rIns="0" bIns="0" rtlCol="0" anchor="ctr"/>
          <a:lstStyle/>
          <a:p>
            <a:pPr indent="0" marL="0">
              <a:lnSpc>
                <a:spcPct val="120000"/>
              </a:lnSpc>
              <a:buNone/>
            </a:pPr>
            <a:r>
              <a:rPr lang="en-US" sz="1350" b="1" dirty="0">
                <a:solidFill>
                  <a:srgbClr val="0F172A"/>
                </a:solidFill>
              </a:rPr>
              <a:t>Ending Patient Delays: </a:t>
            </a:r>
            <a:pPr indent="0" marL="0">
              <a:lnSpc>
                <a:spcPct val="120000"/>
              </a:lnSpc>
              <a:buNone/>
            </a:pPr>
            <a:r>
              <a:rPr lang="en-US" sz="1300" dirty="0">
                <a:solidFill>
                  <a:srgbClr val="334155"/>
                </a:solidFill>
              </a:rPr>
              <a:t>When a mutation is labeled "Uncertain", doctors cannot legally prescribe targeted cancer drugs or genetic treatments. Patients are stuck waiting for months.</a:t>
            </a:r>
            <a:endParaRPr lang="en-US" sz="1350" dirty="0"/>
          </a:p>
        </p:txBody>
      </p:sp>
      <p:sp>
        <p:nvSpPr>
          <p:cNvPr id="25" name="Text 23"/>
          <p:cNvSpPr/>
          <p:nvPr/>
        </p:nvSpPr>
        <p:spPr>
          <a:xfrm>
            <a:off x="5212080" y="3931920"/>
            <a:ext cx="5943600" cy="914400"/>
          </a:xfrm>
          <a:prstGeom prst="rect">
            <a:avLst/>
          </a:prstGeom>
          <a:noFill/>
          <a:ln/>
        </p:spPr>
        <p:txBody>
          <a:bodyPr wrap="square" lIns="0" tIns="0" rIns="0" bIns="0" rtlCol="0" anchor="ctr"/>
          <a:lstStyle/>
          <a:p>
            <a:pPr indent="0" marL="0">
              <a:lnSpc>
                <a:spcPct val="120000"/>
              </a:lnSpc>
              <a:buNone/>
            </a:pPr>
            <a:r>
              <a:rPr lang="en-US" sz="1350" b="1" dirty="0">
                <a:solidFill>
                  <a:srgbClr val="0F172A"/>
                </a:solidFill>
              </a:rPr>
              <a:t>Clearing Hospital Backlogs: </a:t>
            </a:r>
            <a:pPr indent="0" marL="0">
              <a:lnSpc>
                <a:spcPct val="120000"/>
              </a:lnSpc>
              <a:buNone/>
            </a:pPr>
            <a:r>
              <a:rPr lang="en-US" sz="1300" dirty="0">
                <a:solidFill>
                  <a:srgbClr val="334155"/>
                </a:solidFill>
              </a:rPr>
              <a:t>Geneticists must manually cross-check population databases, gene lists, and papers for dozens of candidate mutations per patient.</a:t>
            </a:r>
            <a:endParaRPr lang="en-US" sz="1350" dirty="0"/>
          </a:p>
        </p:txBody>
      </p:sp>
      <p:sp>
        <p:nvSpPr>
          <p:cNvPr id="26" name="Text 24"/>
          <p:cNvSpPr/>
          <p:nvPr/>
        </p:nvSpPr>
        <p:spPr>
          <a:xfrm>
            <a:off x="5212080" y="4983480"/>
            <a:ext cx="5943600" cy="914400"/>
          </a:xfrm>
          <a:prstGeom prst="rect">
            <a:avLst/>
          </a:prstGeom>
          <a:noFill/>
          <a:ln/>
        </p:spPr>
        <p:txBody>
          <a:bodyPr wrap="square" lIns="0" tIns="0" rIns="0" bIns="0" rtlCol="0" anchor="ctr"/>
          <a:lstStyle/>
          <a:p>
            <a:pPr indent="0" marL="0">
              <a:lnSpc>
                <a:spcPct val="120000"/>
              </a:lnSpc>
              <a:buNone/>
            </a:pPr>
            <a:r>
              <a:rPr lang="en-US" sz="1350" b="1" dirty="0">
                <a:solidFill>
                  <a:srgbClr val="0F172A"/>
                </a:solidFill>
              </a:rPr>
              <a:t>Doctors Need Explanations: </a:t>
            </a:r>
            <a:pPr indent="0" marL="0">
              <a:lnSpc>
                <a:spcPct val="120000"/>
              </a:lnSpc>
              <a:buNone/>
            </a:pPr>
            <a:r>
              <a:rPr lang="en-US" sz="1300" dirty="0">
                <a:solidFill>
                  <a:srgbClr val="334155"/>
                </a:solidFill>
              </a:rPr>
              <a:t>Doctors will not trust a black-box AI score. Our system gives clear visual explanations showing exactly which biological features caused the high risk score.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47472"/>
            <a:ext cx="10728655" cy="256032"/>
          </a:xfrm>
          <a:prstGeom prst="rect">
            <a:avLst/>
          </a:prstGeom>
          <a:noFill/>
          <a:ln/>
        </p:spPr>
        <p:txBody>
          <a:bodyPr wrap="square" rtlCol="0" anchor="ctr"/>
          <a:lstStyle/>
          <a:p>
            <a:pPr indent="0" marL="0">
              <a:buNone/>
            </a:pPr>
            <a:r>
              <a:rPr lang="en-US" sz="1200" b="1" dirty="0">
                <a:solidFill>
                  <a:srgbClr val="2563EB"/>
                </a:solidFill>
                <a:latin typeface="Calibri" pitchFamily="34" charset="0"/>
                <a:ea typeface="Calibri" pitchFamily="34" charset="-122"/>
                <a:cs typeface="Calibri" pitchFamily="34" charset="-120"/>
              </a:rPr>
              <a:t>STATE OF THE ART</a:t>
            </a:r>
            <a:endParaRPr lang="en-US" sz="1200" dirty="0"/>
          </a:p>
        </p:txBody>
      </p:sp>
      <p:sp>
        <p:nvSpPr>
          <p:cNvPr id="3" name="Text 1"/>
          <p:cNvSpPr/>
          <p:nvPr/>
        </p:nvSpPr>
        <p:spPr>
          <a:xfrm>
            <a:off x="731520" y="621792"/>
            <a:ext cx="10728655" cy="45720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Literature Review: Key Milestones in Variant Analysis</a:t>
            </a:r>
            <a:endParaRPr lang="en-US" sz="2200" dirty="0"/>
          </a:p>
        </p:txBody>
      </p:sp>
      <p:sp>
        <p:nvSpPr>
          <p:cNvPr id="4" name="Text 2"/>
          <p:cNvSpPr/>
          <p:nvPr/>
        </p:nvSpPr>
        <p:spPr>
          <a:xfrm>
            <a:off x="731520" y="1097280"/>
            <a:ext cx="10728655" cy="292608"/>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Foundational databases and previous scoring attempts in genomics</a:t>
            </a:r>
            <a:endParaRPr lang="en-US" sz="1400" dirty="0"/>
          </a:p>
        </p:txBody>
      </p:sp>
      <p:sp>
        <p:nvSpPr>
          <p:cNvPr id="5" name="Shape 3"/>
          <p:cNvSpPr/>
          <p:nvPr/>
        </p:nvSpPr>
        <p:spPr>
          <a:xfrm>
            <a:off x="731520" y="1426464"/>
            <a:ext cx="10728655" cy="0"/>
          </a:xfrm>
          <a:prstGeom prst="line">
            <a:avLst/>
          </a:prstGeom>
          <a:noFill/>
          <a:ln w="12700">
            <a:solidFill>
              <a:srgbClr val="CBD5E1"/>
            </a:solidFill>
            <a:prstDash val="solid"/>
          </a:ln>
        </p:spPr>
      </p:sp>
      <p:sp>
        <p:nvSpPr>
          <p:cNvPr id="6" name="Text 4"/>
          <p:cNvSpPr/>
          <p:nvPr/>
        </p:nvSpPr>
        <p:spPr>
          <a:xfrm>
            <a:off x="731520" y="6355080"/>
            <a:ext cx="7772400" cy="29260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Department of Artificial Intelligence  |  Final Project Review  |  Amrita Vishwa Vidyapeetham</a:t>
            </a:r>
            <a:endParaRPr lang="en-US" sz="1100" dirty="0"/>
          </a:p>
        </p:txBody>
      </p:sp>
      <p:sp>
        <p:nvSpPr>
          <p:cNvPr id="7" name="Text 5"/>
          <p:cNvSpPr/>
          <p:nvPr/>
        </p:nvSpPr>
        <p:spPr>
          <a:xfrm>
            <a:off x="9448495" y="6355080"/>
            <a:ext cx="2011680" cy="292608"/>
          </a:xfrm>
          <a:prstGeom prst="rect">
            <a:avLst/>
          </a:prstGeom>
          <a:noFill/>
          <a:ln/>
        </p:spPr>
        <p:txBody>
          <a:bodyPr wrap="square" rtlCol="0" anchor="ctr"/>
          <a:lstStyle/>
          <a:p>
            <a:pPr algn="r" indent="0" marL="0">
              <a:buNone/>
            </a:pPr>
            <a:r>
              <a:rPr lang="en-US" sz="1100" dirty="0">
                <a:solidFill>
                  <a:srgbClr val="64748B"/>
                </a:solidFill>
                <a:latin typeface="Calibri" pitchFamily="34" charset="0"/>
                <a:ea typeface="Calibri" pitchFamily="34" charset="-122"/>
                <a:cs typeface="Calibri" pitchFamily="34" charset="-120"/>
              </a:rPr>
              <a:t>Slide 5 of 24</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31520" y="1691640"/>
          <a:ext cx="10728655" cy="4389120"/>
        </p:xfrm>
        <a:graphic>
          <a:graphicData uri="http://schemas.openxmlformats.org/drawingml/2006/table">
            <a:tbl>
              <a:tblPr/>
              <a:tblGrid>
                <a:gridCol w="2011680"/>
                <a:gridCol w="2286000"/>
                <a:gridCol w="3474720"/>
                <a:gridCol w="2956255"/>
              </a:tblGrid>
              <a:tr h="877824">
                <a:tc>
                  <a:txBody>
                    <a:bodyPr/>
                    <a:lstStyle/>
                    <a:p>
                      <a:pPr algn="l" indent="0" marL="0">
                        <a:buNone/>
                      </a:pPr>
                      <a:r>
                        <a:rPr lang="en-US" sz="1200" b="1" dirty="0">
                          <a:solidFill>
                            <a:srgbClr val="FFFFFF"/>
                          </a:solidFill>
                        </a:rPr>
                        <a:t>Milestone Study</a:t>
                      </a:r>
                      <a:endParaRPr lang="en-US" sz="12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293B"/>
                    </a:solidFill>
                  </a:tcPr>
                </a:tc>
                <a:tc>
                  <a:txBody>
                    <a:bodyPr/>
                    <a:lstStyle/>
                    <a:p>
                      <a:pPr algn="l" indent="0" marL="0">
                        <a:buNone/>
                      </a:pPr>
                      <a:r>
                        <a:rPr lang="en-US" sz="1200" b="1" dirty="0">
                          <a:solidFill>
                            <a:srgbClr val="FFFFFF"/>
                          </a:solidFill>
                        </a:rPr>
                        <a:t>Core Contribution</a:t>
                      </a:r>
                      <a:endParaRPr lang="en-US" sz="12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293B"/>
                    </a:solidFill>
                  </a:tcPr>
                </a:tc>
                <a:tc>
                  <a:txBody>
                    <a:bodyPr/>
                    <a:lstStyle/>
                    <a:p>
                      <a:pPr algn="l" indent="0" marL="0">
                        <a:buNone/>
                      </a:pPr>
                      <a:r>
                        <a:rPr lang="en-US" sz="1200" b="1" dirty="0">
                          <a:solidFill>
                            <a:srgbClr val="FFFFFF"/>
                          </a:solidFill>
                        </a:rPr>
                        <a:t>What It Provided to Our Project</a:t>
                      </a:r>
                      <a:endParaRPr lang="en-US" sz="12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293B"/>
                    </a:solidFill>
                  </a:tcPr>
                </a:tc>
                <a:tc>
                  <a:txBody>
                    <a:bodyPr/>
                    <a:lstStyle/>
                    <a:p>
                      <a:pPr algn="l" indent="0" marL="0">
                        <a:buNone/>
                      </a:pPr>
                      <a:r>
                        <a:rPr lang="en-US" sz="1200" b="1" dirty="0">
                          <a:solidFill>
                            <a:srgbClr val="FFFFFF"/>
                          </a:solidFill>
                        </a:rPr>
                        <a:t>Remaining Limitation</a:t>
                      </a:r>
                      <a:endParaRPr lang="en-US" sz="12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293B"/>
                    </a:solidFill>
                  </a:tcPr>
                </a:tc>
              </a:tr>
              <a:tr h="877824">
                <a:tc>
                  <a:txBody>
                    <a:bodyPr/>
                    <a:lstStyle/>
                    <a:p>
                      <a:pPr algn="l" indent="0" marL="0">
                        <a:buNone/>
                      </a:pPr>
                      <a:r>
                        <a:rPr lang="en-US" sz="1150" b="1" dirty="0">
                          <a:solidFill>
                            <a:srgbClr val="0F172A"/>
                          </a:solidFill>
                        </a:rPr>
                        <a:t>Collins et al.</a:t>
                      </a:r>
                      <a:endParaRPr lang="en-US" sz="1150" dirty="0"/>
                    </a:p>
                    <a:p>
                      <a:pPr algn="l" indent="0" marL="0">
                        <a:buNone/>
                      </a:pPr>
                      <a:r>
                        <a:rPr lang="en-US" sz="1150" b="1" dirty="0">
                          <a:solidFill>
                            <a:srgbClr val="0F172A"/>
                          </a:solidFill>
                        </a:rPr>
                        <a:t>(Nature 2020)</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l" indent="0" marL="0">
                        <a:buNone/>
                      </a:pPr>
                      <a:r>
                        <a:rPr lang="en-US" sz="1150" dirty="0">
                          <a:solidFill>
                            <a:srgbClr val="334155"/>
                          </a:solidFill>
                        </a:rPr>
                        <a:t>gnomAD SV Population Catalog</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l" indent="0" marL="0">
                        <a:buNone/>
                      </a:pPr>
                      <a:r>
                        <a:rPr lang="en-US" sz="1100" dirty="0">
                          <a:solidFill>
                            <a:srgbClr val="334155"/>
                          </a:solidFill>
                        </a:rPr>
                        <a:t>Cataloged 387,700 variants across 15,000 healthy genomes; established frequency baselines.</a:t>
                      </a:r>
                      <a:endParaRPr lang="en-US" sz="11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l" indent="0" marL="0">
                        <a:buNone/>
                      </a:pPr>
                      <a:r>
                        <a:rPr lang="en-US" sz="1100" dirty="0">
                          <a:solidFill>
                            <a:srgbClr val="334155"/>
                          </a:solidFill>
                        </a:rPr>
                        <a:t>Only a reference catalog; does not predict whether a variant causes disease.</a:t>
                      </a:r>
                      <a:endParaRPr lang="en-US" sz="11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877824">
                <a:tc>
                  <a:txBody>
                    <a:bodyPr/>
                    <a:lstStyle/>
                    <a:p>
                      <a:pPr algn="l" indent="0" marL="0">
                        <a:buNone/>
                      </a:pPr>
                      <a:r>
                        <a:rPr lang="en-US" sz="1150" b="1" dirty="0">
                          <a:solidFill>
                            <a:srgbClr val="0F172A"/>
                          </a:solidFill>
                        </a:rPr>
                        <a:t>Rentzsch et al.</a:t>
                      </a:r>
                      <a:endParaRPr lang="en-US" sz="1150" dirty="0"/>
                    </a:p>
                    <a:p>
                      <a:pPr algn="l" indent="0" marL="0">
                        <a:buNone/>
                      </a:pPr>
                      <a:r>
                        <a:rPr lang="en-US" sz="1150" b="1" dirty="0">
                          <a:solidFill>
                            <a:srgbClr val="0F172A"/>
                          </a:solidFill>
                        </a:rPr>
                        <a:t>(Genome Bio 2020)</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l" indent="0" marL="0">
                        <a:buNone/>
                      </a:pPr>
                      <a:r>
                        <a:rPr lang="en-US" sz="1150" dirty="0">
                          <a:solidFill>
                            <a:srgbClr val="334155"/>
                          </a:solidFill>
                        </a:rPr>
                        <a:t>CADD-SV Regional Scorer</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l" indent="0" marL="0">
                        <a:buNone/>
                      </a:pPr>
                      <a:r>
                        <a:rPr lang="en-US" sz="1100" dirty="0">
                          <a:solidFill>
                            <a:srgbClr val="334155"/>
                          </a:solidFill>
                        </a:rPr>
                        <a:t>Combined conservation and gene tracks to score large DNA deletions.</a:t>
                      </a:r>
                      <a:endParaRPr lang="en-US" sz="11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l" indent="0" marL="0">
                        <a:buNone/>
                      </a:pPr>
                      <a:r>
                        <a:rPr lang="en-US" sz="1100" dirty="0">
                          <a:solidFill>
                            <a:srgbClr val="334155"/>
                          </a:solidFill>
                        </a:rPr>
                        <a:t>Linear model; struggles on complex rearrangements and other variant types.</a:t>
                      </a:r>
                      <a:endParaRPr lang="en-US" sz="11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877824">
                <a:tc>
                  <a:txBody>
                    <a:bodyPr/>
                    <a:lstStyle/>
                    <a:p>
                      <a:pPr algn="l" indent="0" marL="0">
                        <a:buNone/>
                      </a:pPr>
                      <a:r>
                        <a:rPr lang="en-US" sz="1150" b="1" dirty="0">
                          <a:solidFill>
                            <a:srgbClr val="0F172A"/>
                          </a:solidFill>
                        </a:rPr>
                        <a:t>Landrum et al.</a:t>
                      </a:r>
                      <a:endParaRPr lang="en-US" sz="1150" dirty="0"/>
                    </a:p>
                    <a:p>
                      <a:pPr algn="l" indent="0" marL="0">
                        <a:buNone/>
                      </a:pPr>
                      <a:r>
                        <a:rPr lang="en-US" sz="1150" b="1" dirty="0">
                          <a:solidFill>
                            <a:srgbClr val="0F172A"/>
                          </a:solidFill>
                        </a:rPr>
                        <a:t>(NAR 2024)</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l" indent="0" marL="0">
                        <a:buNone/>
                      </a:pPr>
                      <a:r>
                        <a:rPr lang="en-US" sz="1150" dirty="0">
                          <a:solidFill>
                            <a:srgbClr val="334155"/>
                          </a:solidFill>
                        </a:rPr>
                        <a:t>NCBI ClinVar Database</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l" indent="0" marL="0">
                        <a:buNone/>
                      </a:pPr>
                      <a:r>
                        <a:rPr lang="en-US" sz="1100" dirty="0">
                          <a:solidFill>
                            <a:srgbClr val="334155"/>
                          </a:solidFill>
                        </a:rPr>
                        <a:t>Gold-standard library of doctor-verified variant classifications (Harmful vs Benign).</a:t>
                      </a:r>
                      <a:endParaRPr lang="en-US" sz="11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l" indent="0" marL="0">
                        <a:buNone/>
                      </a:pPr>
                      <a:r>
                        <a:rPr lang="en-US" sz="1100" dirty="0">
                          <a:solidFill>
                            <a:srgbClr val="334155"/>
                          </a:solidFill>
                        </a:rPr>
                        <a:t>Contains a huge backlog of unclassified "Uncertain" variants needing triage.</a:t>
                      </a:r>
                      <a:endParaRPr lang="en-US" sz="11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877824">
                <a:tc>
                  <a:txBody>
                    <a:bodyPr/>
                    <a:lstStyle/>
                    <a:p>
                      <a:pPr algn="l" indent="0" marL="0">
                        <a:buNone/>
                      </a:pPr>
                      <a:r>
                        <a:rPr lang="en-US" sz="1150" b="1" dirty="0">
                          <a:solidFill>
                            <a:srgbClr val="0F172A"/>
                          </a:solidFill>
                        </a:rPr>
                        <a:t>Lundberg et al.</a:t>
                      </a:r>
                      <a:endParaRPr lang="en-US" sz="1150" dirty="0"/>
                    </a:p>
                    <a:p>
                      <a:pPr algn="l" indent="0" marL="0">
                        <a:buNone/>
                      </a:pPr>
                      <a:r>
                        <a:rPr lang="en-US" sz="1150" b="1" dirty="0">
                          <a:solidFill>
                            <a:srgbClr val="0F172A"/>
                          </a:solidFill>
                        </a:rPr>
                        <a:t>(Nat MI 2020)</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l" indent="0" marL="0">
                        <a:buNone/>
                      </a:pPr>
                      <a:r>
                        <a:rPr lang="en-US" sz="1150" dirty="0">
                          <a:solidFill>
                            <a:srgbClr val="334155"/>
                          </a:solidFill>
                        </a:rPr>
                        <a:t>TreeSHAP Framework</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l" indent="0" marL="0">
                        <a:buNone/>
                      </a:pPr>
                      <a:r>
                        <a:rPr lang="en-US" sz="1100" dirty="0">
                          <a:solidFill>
                            <a:srgbClr val="334155"/>
                          </a:solidFill>
                        </a:rPr>
                        <a:t>Game-theory method to calculate exactly how much each feature contributed to a prediction.</a:t>
                      </a:r>
                      <a:endParaRPr lang="en-US" sz="11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l" indent="0" marL="0">
                        <a:buNone/>
                      </a:pPr>
                      <a:r>
                        <a:rPr lang="en-US" sz="1100" dirty="0">
                          <a:solidFill>
                            <a:srgbClr val="334155"/>
                          </a:solidFill>
                        </a:rPr>
                        <a:t>Explainability tool only; must be integrated into an active end-to-end clinical app.</a:t>
                      </a:r>
                      <a:endParaRPr lang="en-US" sz="11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47472"/>
            <a:ext cx="10728655" cy="256032"/>
          </a:xfrm>
          <a:prstGeom prst="rect">
            <a:avLst/>
          </a:prstGeom>
          <a:noFill/>
          <a:ln/>
        </p:spPr>
        <p:txBody>
          <a:bodyPr wrap="square" rtlCol="0" anchor="ctr"/>
          <a:lstStyle/>
          <a:p>
            <a:pPr indent="0" marL="0">
              <a:buNone/>
            </a:pPr>
            <a:r>
              <a:rPr lang="en-US" sz="1200" b="1" dirty="0">
                <a:solidFill>
                  <a:srgbClr val="2563EB"/>
                </a:solidFill>
                <a:latin typeface="Calibri" pitchFamily="34" charset="0"/>
                <a:ea typeface="Calibri" pitchFamily="34" charset="-122"/>
                <a:cs typeface="Calibri" pitchFamily="34" charset="-120"/>
              </a:rPr>
              <a:t>RESEARCH MOTIVATION</a:t>
            </a:r>
            <a:endParaRPr lang="en-US" sz="1200" dirty="0"/>
          </a:p>
        </p:txBody>
      </p:sp>
      <p:sp>
        <p:nvSpPr>
          <p:cNvPr id="3" name="Text 1"/>
          <p:cNvSpPr/>
          <p:nvPr/>
        </p:nvSpPr>
        <p:spPr>
          <a:xfrm>
            <a:off x="731520" y="621792"/>
            <a:ext cx="10728655" cy="45720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Research Gap: Three Unresolved Limitations</a:t>
            </a:r>
            <a:endParaRPr lang="en-US" sz="2200" dirty="0"/>
          </a:p>
        </p:txBody>
      </p:sp>
      <p:sp>
        <p:nvSpPr>
          <p:cNvPr id="4" name="Text 2"/>
          <p:cNvSpPr/>
          <p:nvPr/>
        </p:nvSpPr>
        <p:spPr>
          <a:xfrm>
            <a:off x="731520" y="1097280"/>
            <a:ext cx="10728655" cy="292608"/>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The three major technical flaws in existing machine learning papers</a:t>
            </a:r>
            <a:endParaRPr lang="en-US" sz="1400" dirty="0"/>
          </a:p>
        </p:txBody>
      </p:sp>
      <p:sp>
        <p:nvSpPr>
          <p:cNvPr id="5" name="Shape 3"/>
          <p:cNvSpPr/>
          <p:nvPr/>
        </p:nvSpPr>
        <p:spPr>
          <a:xfrm>
            <a:off x="731520" y="1426464"/>
            <a:ext cx="10728655" cy="0"/>
          </a:xfrm>
          <a:prstGeom prst="line">
            <a:avLst/>
          </a:prstGeom>
          <a:noFill/>
          <a:ln w="12700">
            <a:solidFill>
              <a:srgbClr val="CBD5E1"/>
            </a:solidFill>
            <a:prstDash val="solid"/>
          </a:ln>
        </p:spPr>
      </p:sp>
      <p:sp>
        <p:nvSpPr>
          <p:cNvPr id="6" name="Text 4"/>
          <p:cNvSpPr/>
          <p:nvPr/>
        </p:nvSpPr>
        <p:spPr>
          <a:xfrm>
            <a:off x="731520" y="6355080"/>
            <a:ext cx="7772400" cy="29260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Department of Artificial Intelligence  |  Final Project Review  |  Amrita Vishwa Vidyapeetham</a:t>
            </a:r>
            <a:endParaRPr lang="en-US" sz="1100" dirty="0"/>
          </a:p>
        </p:txBody>
      </p:sp>
      <p:sp>
        <p:nvSpPr>
          <p:cNvPr id="7" name="Text 5"/>
          <p:cNvSpPr/>
          <p:nvPr/>
        </p:nvSpPr>
        <p:spPr>
          <a:xfrm>
            <a:off x="9448495" y="6355080"/>
            <a:ext cx="2011680" cy="292608"/>
          </a:xfrm>
          <a:prstGeom prst="rect">
            <a:avLst/>
          </a:prstGeom>
          <a:noFill/>
          <a:ln/>
        </p:spPr>
        <p:txBody>
          <a:bodyPr wrap="square" rtlCol="0" anchor="ctr"/>
          <a:lstStyle/>
          <a:p>
            <a:pPr algn="r" indent="0" marL="0">
              <a:buNone/>
            </a:pPr>
            <a:r>
              <a:rPr lang="en-US" sz="1100" dirty="0">
                <a:solidFill>
                  <a:srgbClr val="64748B"/>
                </a:solidFill>
                <a:latin typeface="Calibri" pitchFamily="34" charset="0"/>
                <a:ea typeface="Calibri" pitchFamily="34" charset="-122"/>
                <a:cs typeface="Calibri" pitchFamily="34" charset="-120"/>
              </a:rPr>
              <a:t>Slide 6 of 24</a:t>
            </a:r>
            <a:endParaRPr lang="en-US" sz="1100" dirty="0"/>
          </a:p>
        </p:txBody>
      </p:sp>
      <p:sp>
        <p:nvSpPr>
          <p:cNvPr id="8" name="Shape 6"/>
          <p:cNvSpPr/>
          <p:nvPr/>
        </p:nvSpPr>
        <p:spPr>
          <a:xfrm>
            <a:off x="731520" y="1691640"/>
            <a:ext cx="3393338" cy="4389120"/>
          </a:xfrm>
          <a:prstGeom prst="roundRect">
            <a:avLst>
              <a:gd name="adj" fmla="val 2156"/>
            </a:avLst>
          </a:prstGeom>
          <a:solidFill>
            <a:srgbClr val="FFFFFF"/>
          </a:solidFill>
          <a:ln w="12700">
            <a:solidFill>
              <a:srgbClr val="CBD5E1"/>
            </a:solidFill>
            <a:prstDash val="solid"/>
          </a:ln>
        </p:spPr>
      </p:sp>
      <p:sp>
        <p:nvSpPr>
          <p:cNvPr id="9" name="Text 7"/>
          <p:cNvSpPr/>
          <p:nvPr/>
        </p:nvSpPr>
        <p:spPr>
          <a:xfrm>
            <a:off x="1005840" y="1920240"/>
            <a:ext cx="2844698" cy="256032"/>
          </a:xfrm>
          <a:prstGeom prst="rect">
            <a:avLst/>
          </a:prstGeom>
          <a:noFill/>
          <a:ln/>
        </p:spPr>
        <p:txBody>
          <a:bodyPr wrap="square"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GAP 1: FAKE ACCURACY</a:t>
            </a:r>
            <a:endParaRPr lang="en-US" sz="1050" dirty="0"/>
          </a:p>
        </p:txBody>
      </p:sp>
      <p:sp>
        <p:nvSpPr>
          <p:cNvPr id="10" name="Text 8"/>
          <p:cNvSpPr/>
          <p:nvPr/>
        </p:nvSpPr>
        <p:spPr>
          <a:xfrm>
            <a:off x="1005840" y="2212848"/>
            <a:ext cx="2844698" cy="5943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Data Leakage in Cross-Validation</a:t>
            </a:r>
            <a:endParaRPr lang="en-US" sz="1800" dirty="0"/>
          </a:p>
        </p:txBody>
      </p:sp>
      <p:sp>
        <p:nvSpPr>
          <p:cNvPr id="11" name="Shape 9"/>
          <p:cNvSpPr/>
          <p:nvPr/>
        </p:nvSpPr>
        <p:spPr>
          <a:xfrm>
            <a:off x="1005840" y="2880360"/>
            <a:ext cx="2844698" cy="0"/>
          </a:xfrm>
          <a:prstGeom prst="line">
            <a:avLst/>
          </a:prstGeom>
          <a:noFill/>
          <a:ln w="12700">
            <a:solidFill>
              <a:srgbClr val="CBD5E1"/>
            </a:solidFill>
            <a:prstDash val="solid"/>
          </a:ln>
        </p:spPr>
      </p:sp>
      <p:sp>
        <p:nvSpPr>
          <p:cNvPr id="12" name="Text 10"/>
          <p:cNvSpPr/>
          <p:nvPr/>
        </p:nvSpPr>
        <p:spPr>
          <a:xfrm>
            <a:off x="1005840" y="3063240"/>
            <a:ext cx="2844698" cy="2743200"/>
          </a:xfrm>
          <a:prstGeom prst="rect">
            <a:avLst/>
          </a:prstGeom>
          <a:noFill/>
          <a:ln/>
        </p:spPr>
        <p:txBody>
          <a:bodyPr wrap="square" lIns="0" tIns="0" rIns="0" bIns="0" rtlCol="0" anchor="ctr"/>
          <a:lstStyle/>
          <a:p>
            <a:pPr indent="0" marL="0">
              <a:lnSpc>
                <a:spcPct val="125000"/>
              </a:lnSpc>
              <a:buNone/>
            </a:pPr>
            <a:r>
              <a:rPr lang="en-US" sz="1300" dirty="0">
                <a:solidFill>
                  <a:srgbClr val="334155"/>
                </a:solidFill>
                <a:latin typeface="Calibri" pitchFamily="34" charset="0"/>
                <a:ea typeface="Calibri" pitchFamily="34" charset="-122"/>
                <a:cs typeface="Calibri" pitchFamily="34" charset="-120"/>
              </a:rPr>
              <a:t>Most published models split data randomly. Because related mutations share the same chromosome or gene, training data leaks into test sets. Models simply memorize the gene name instead of learning true mutation biology, giving false high scores.</a:t>
            </a:r>
            <a:endParaRPr lang="en-US" sz="1300" dirty="0"/>
          </a:p>
        </p:txBody>
      </p:sp>
      <p:sp>
        <p:nvSpPr>
          <p:cNvPr id="13" name="Shape 11"/>
          <p:cNvSpPr/>
          <p:nvPr/>
        </p:nvSpPr>
        <p:spPr>
          <a:xfrm>
            <a:off x="4399178" y="1691640"/>
            <a:ext cx="3393338" cy="4389120"/>
          </a:xfrm>
          <a:prstGeom prst="roundRect">
            <a:avLst>
              <a:gd name="adj" fmla="val 2156"/>
            </a:avLst>
          </a:prstGeom>
          <a:solidFill>
            <a:srgbClr val="FFFFFF"/>
          </a:solidFill>
          <a:ln w="12700">
            <a:solidFill>
              <a:srgbClr val="CBD5E1"/>
            </a:solidFill>
            <a:prstDash val="solid"/>
          </a:ln>
        </p:spPr>
      </p:sp>
      <p:sp>
        <p:nvSpPr>
          <p:cNvPr id="14" name="Text 12"/>
          <p:cNvSpPr/>
          <p:nvPr/>
        </p:nvSpPr>
        <p:spPr>
          <a:xfrm>
            <a:off x="4673498" y="1920240"/>
            <a:ext cx="2844698" cy="256032"/>
          </a:xfrm>
          <a:prstGeom prst="rect">
            <a:avLst/>
          </a:prstGeom>
          <a:noFill/>
          <a:ln/>
        </p:spPr>
        <p:txBody>
          <a:bodyPr wrap="square" rtlCol="0" anchor="ctr"/>
          <a:lstStyle/>
          <a:p>
            <a:pPr indent="0" marL="0">
              <a:buNone/>
            </a:pPr>
            <a:r>
              <a:rPr lang="en-US" sz="1050" b="1" dirty="0">
                <a:solidFill>
                  <a:srgbClr val="7C3AED"/>
                </a:solidFill>
                <a:latin typeface="Calibri" pitchFamily="34" charset="0"/>
                <a:ea typeface="Calibri" pitchFamily="34" charset="-122"/>
                <a:cs typeface="Calibri" pitchFamily="34" charset="-120"/>
              </a:rPr>
              <a:t>GAP 2: RIGID DECISION TREES</a:t>
            </a:r>
            <a:endParaRPr lang="en-US" sz="1050" dirty="0"/>
          </a:p>
        </p:txBody>
      </p:sp>
      <p:sp>
        <p:nvSpPr>
          <p:cNvPr id="15" name="Text 13"/>
          <p:cNvSpPr/>
          <p:nvPr/>
        </p:nvSpPr>
        <p:spPr>
          <a:xfrm>
            <a:off x="4673498" y="2212848"/>
            <a:ext cx="2844698" cy="5943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Tree Models Miss Continuous Rarity</a:t>
            </a:r>
            <a:endParaRPr lang="en-US" sz="1800" dirty="0"/>
          </a:p>
        </p:txBody>
      </p:sp>
      <p:sp>
        <p:nvSpPr>
          <p:cNvPr id="16" name="Shape 14"/>
          <p:cNvSpPr/>
          <p:nvPr/>
        </p:nvSpPr>
        <p:spPr>
          <a:xfrm>
            <a:off x="4673498" y="2880360"/>
            <a:ext cx="2844698" cy="0"/>
          </a:xfrm>
          <a:prstGeom prst="line">
            <a:avLst/>
          </a:prstGeom>
          <a:noFill/>
          <a:ln w="12700">
            <a:solidFill>
              <a:srgbClr val="CBD5E1"/>
            </a:solidFill>
            <a:prstDash val="solid"/>
          </a:ln>
        </p:spPr>
      </p:sp>
      <p:sp>
        <p:nvSpPr>
          <p:cNvPr id="17" name="Text 15"/>
          <p:cNvSpPr/>
          <p:nvPr/>
        </p:nvSpPr>
        <p:spPr>
          <a:xfrm>
            <a:off x="4673498" y="3063240"/>
            <a:ext cx="2844698" cy="2743200"/>
          </a:xfrm>
          <a:prstGeom prst="rect">
            <a:avLst/>
          </a:prstGeom>
          <a:noFill/>
          <a:ln/>
        </p:spPr>
        <p:txBody>
          <a:bodyPr wrap="square" lIns="0" tIns="0" rIns="0" bIns="0" rtlCol="0" anchor="ctr"/>
          <a:lstStyle/>
          <a:p>
            <a:pPr indent="0" marL="0">
              <a:lnSpc>
                <a:spcPct val="125000"/>
              </a:lnSpc>
              <a:buNone/>
            </a:pPr>
            <a:r>
              <a:rPr lang="en-US" sz="1300" dirty="0">
                <a:solidFill>
                  <a:srgbClr val="334155"/>
                </a:solidFill>
                <a:latin typeface="Calibri" pitchFamily="34" charset="0"/>
                <a:ea typeface="Calibri" pitchFamily="34" charset="-122"/>
                <a:cs typeface="Calibri" pitchFamily="34" charset="-120"/>
              </a:rPr>
              <a:t>Popular tree models (XGBoost, LightGBM) make rigid step-cuts across features. But genetic rarity in human populations follows smooth, continuous curves. Decision trees fail to model these curves properly, missing over 1,700 disease mutations.</a:t>
            </a:r>
            <a:endParaRPr lang="en-US" sz="1300" dirty="0"/>
          </a:p>
        </p:txBody>
      </p:sp>
      <p:sp>
        <p:nvSpPr>
          <p:cNvPr id="18" name="Shape 16"/>
          <p:cNvSpPr/>
          <p:nvPr/>
        </p:nvSpPr>
        <p:spPr>
          <a:xfrm>
            <a:off x="8066837" y="1691640"/>
            <a:ext cx="3393338" cy="4389120"/>
          </a:xfrm>
          <a:prstGeom prst="roundRect">
            <a:avLst>
              <a:gd name="adj" fmla="val 2156"/>
            </a:avLst>
          </a:prstGeom>
          <a:solidFill>
            <a:srgbClr val="FFFFFF"/>
          </a:solidFill>
          <a:ln w="12700">
            <a:solidFill>
              <a:srgbClr val="CBD5E1"/>
            </a:solidFill>
            <a:prstDash val="solid"/>
          </a:ln>
        </p:spPr>
      </p:sp>
      <p:sp>
        <p:nvSpPr>
          <p:cNvPr id="19" name="Text 17"/>
          <p:cNvSpPr/>
          <p:nvPr/>
        </p:nvSpPr>
        <p:spPr>
          <a:xfrm>
            <a:off x="8341157" y="1920240"/>
            <a:ext cx="2844698" cy="256032"/>
          </a:xfrm>
          <a:prstGeom prst="rect">
            <a:avLst/>
          </a:prstGeom>
          <a:noFill/>
          <a:ln/>
        </p:spPr>
        <p:txBody>
          <a:bodyPr wrap="square" rtlCol="0" anchor="ctr"/>
          <a:lstStyle/>
          <a:p>
            <a:pPr indent="0" marL="0">
              <a:buNone/>
            </a:pPr>
            <a:r>
              <a:rPr lang="en-US" sz="1050" b="1" dirty="0">
                <a:solidFill>
                  <a:srgbClr val="2563EB"/>
                </a:solidFill>
                <a:latin typeface="Calibri" pitchFamily="34" charset="0"/>
                <a:ea typeface="Calibri" pitchFamily="34" charset="-122"/>
                <a:cs typeface="Calibri" pitchFamily="34" charset="-120"/>
              </a:rPr>
              <a:t>GAP 3: GUESSING WITHOUT CONFIDENCE</a:t>
            </a:r>
            <a:endParaRPr lang="en-US" sz="1050" dirty="0"/>
          </a:p>
        </p:txBody>
      </p:sp>
      <p:sp>
        <p:nvSpPr>
          <p:cNvPr id="20" name="Text 18"/>
          <p:cNvSpPr/>
          <p:nvPr/>
        </p:nvSpPr>
        <p:spPr>
          <a:xfrm>
            <a:off x="8341157" y="2212848"/>
            <a:ext cx="2844698" cy="5943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No Mathematical Safety Guarantees</a:t>
            </a:r>
            <a:endParaRPr lang="en-US" sz="1800" dirty="0"/>
          </a:p>
        </p:txBody>
      </p:sp>
      <p:sp>
        <p:nvSpPr>
          <p:cNvPr id="21" name="Shape 19"/>
          <p:cNvSpPr/>
          <p:nvPr/>
        </p:nvSpPr>
        <p:spPr>
          <a:xfrm>
            <a:off x="8341157" y="2880360"/>
            <a:ext cx="2844698" cy="0"/>
          </a:xfrm>
          <a:prstGeom prst="line">
            <a:avLst/>
          </a:prstGeom>
          <a:noFill/>
          <a:ln w="12700">
            <a:solidFill>
              <a:srgbClr val="CBD5E1"/>
            </a:solidFill>
            <a:prstDash val="solid"/>
          </a:ln>
        </p:spPr>
      </p:sp>
      <p:sp>
        <p:nvSpPr>
          <p:cNvPr id="22" name="Text 20"/>
          <p:cNvSpPr/>
          <p:nvPr/>
        </p:nvSpPr>
        <p:spPr>
          <a:xfrm>
            <a:off x="8341157" y="3063240"/>
            <a:ext cx="2844698" cy="2743200"/>
          </a:xfrm>
          <a:prstGeom prst="rect">
            <a:avLst/>
          </a:prstGeom>
          <a:noFill/>
          <a:ln/>
        </p:spPr>
        <p:txBody>
          <a:bodyPr wrap="square" lIns="0" tIns="0" rIns="0" bIns="0" rtlCol="0" anchor="ctr"/>
          <a:lstStyle/>
          <a:p>
            <a:pPr indent="0" marL="0">
              <a:lnSpc>
                <a:spcPct val="125000"/>
              </a:lnSpc>
              <a:buNone/>
            </a:pPr>
            <a:r>
              <a:rPr lang="en-US" sz="1300" dirty="0">
                <a:solidFill>
                  <a:srgbClr val="334155"/>
                </a:solidFill>
                <a:latin typeface="Calibri" pitchFamily="34" charset="0"/>
                <a:ea typeface="Calibri" pitchFamily="34" charset="-122"/>
                <a:cs typeface="Calibri" pitchFamily="34" charset="-120"/>
              </a:rPr>
              <a:t>Existing software gives a single number and picks an arbitrary cutoff (like 0.5). In medical diagnostics, an arbitrary cutoff cannot tell doctors how confident the model is, risking dangerous false alarms and missed diagnoses.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47472"/>
            <a:ext cx="10728655" cy="256032"/>
          </a:xfrm>
          <a:prstGeom prst="rect">
            <a:avLst/>
          </a:prstGeom>
          <a:noFill/>
          <a:ln/>
        </p:spPr>
        <p:txBody>
          <a:bodyPr wrap="square" rtlCol="0" anchor="ctr"/>
          <a:lstStyle/>
          <a:p>
            <a:pPr indent="0" marL="0">
              <a:buNone/>
            </a:pPr>
            <a:r>
              <a:rPr lang="en-US" sz="1200" b="1" dirty="0">
                <a:solidFill>
                  <a:srgbClr val="2563EB"/>
                </a:solidFill>
                <a:latin typeface="Calibri" pitchFamily="34" charset="0"/>
                <a:ea typeface="Calibri" pitchFamily="34" charset="-122"/>
                <a:cs typeface="Calibri" pitchFamily="34" charset="-120"/>
              </a:rPr>
              <a:t>PROJECT SCOPE</a:t>
            </a:r>
            <a:endParaRPr lang="en-US" sz="1200" dirty="0"/>
          </a:p>
        </p:txBody>
      </p:sp>
      <p:sp>
        <p:nvSpPr>
          <p:cNvPr id="3" name="Text 1"/>
          <p:cNvSpPr/>
          <p:nvPr/>
        </p:nvSpPr>
        <p:spPr>
          <a:xfrm>
            <a:off x="731520" y="621792"/>
            <a:ext cx="10728655" cy="45720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Aim, Objectives and Contributions</a:t>
            </a:r>
            <a:endParaRPr lang="en-US" sz="2200" dirty="0"/>
          </a:p>
        </p:txBody>
      </p:sp>
      <p:sp>
        <p:nvSpPr>
          <p:cNvPr id="4" name="Text 2"/>
          <p:cNvSpPr/>
          <p:nvPr/>
        </p:nvSpPr>
        <p:spPr>
          <a:xfrm>
            <a:off x="731520" y="1097280"/>
            <a:ext cx="10728655" cy="292608"/>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Our concrete engineering goals and the verified experimental results achieved</a:t>
            </a:r>
            <a:endParaRPr lang="en-US" sz="1400" dirty="0"/>
          </a:p>
        </p:txBody>
      </p:sp>
      <p:sp>
        <p:nvSpPr>
          <p:cNvPr id="5" name="Shape 3"/>
          <p:cNvSpPr/>
          <p:nvPr/>
        </p:nvSpPr>
        <p:spPr>
          <a:xfrm>
            <a:off x="731520" y="1426464"/>
            <a:ext cx="10728655" cy="0"/>
          </a:xfrm>
          <a:prstGeom prst="line">
            <a:avLst/>
          </a:prstGeom>
          <a:noFill/>
          <a:ln w="12700">
            <a:solidFill>
              <a:srgbClr val="CBD5E1"/>
            </a:solidFill>
            <a:prstDash val="solid"/>
          </a:ln>
        </p:spPr>
      </p:sp>
      <p:sp>
        <p:nvSpPr>
          <p:cNvPr id="6" name="Text 4"/>
          <p:cNvSpPr/>
          <p:nvPr/>
        </p:nvSpPr>
        <p:spPr>
          <a:xfrm>
            <a:off x="731520" y="6355080"/>
            <a:ext cx="7772400" cy="29260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Department of Artificial Intelligence  |  Final Project Review  |  Amrita Vishwa Vidyapeetham</a:t>
            </a:r>
            <a:endParaRPr lang="en-US" sz="1100" dirty="0"/>
          </a:p>
        </p:txBody>
      </p:sp>
      <p:sp>
        <p:nvSpPr>
          <p:cNvPr id="7" name="Text 5"/>
          <p:cNvSpPr/>
          <p:nvPr/>
        </p:nvSpPr>
        <p:spPr>
          <a:xfrm>
            <a:off x="9448495" y="6355080"/>
            <a:ext cx="2011680" cy="292608"/>
          </a:xfrm>
          <a:prstGeom prst="rect">
            <a:avLst/>
          </a:prstGeom>
          <a:noFill/>
          <a:ln/>
        </p:spPr>
        <p:txBody>
          <a:bodyPr wrap="square" rtlCol="0" anchor="ctr"/>
          <a:lstStyle/>
          <a:p>
            <a:pPr algn="r" indent="0" marL="0">
              <a:buNone/>
            </a:pPr>
            <a:r>
              <a:rPr lang="en-US" sz="1100" dirty="0">
                <a:solidFill>
                  <a:srgbClr val="64748B"/>
                </a:solidFill>
                <a:latin typeface="Calibri" pitchFamily="34" charset="0"/>
                <a:ea typeface="Calibri" pitchFamily="34" charset="-122"/>
                <a:cs typeface="Calibri" pitchFamily="34" charset="-120"/>
              </a:rPr>
              <a:t>Slide 7 of 24</a:t>
            </a:r>
            <a:endParaRPr lang="en-US" sz="1100" dirty="0"/>
          </a:p>
        </p:txBody>
      </p:sp>
      <p:sp>
        <p:nvSpPr>
          <p:cNvPr id="8" name="Shape 6"/>
          <p:cNvSpPr/>
          <p:nvPr/>
        </p:nvSpPr>
        <p:spPr>
          <a:xfrm>
            <a:off x="731520" y="1691640"/>
            <a:ext cx="5166360" cy="4389120"/>
          </a:xfrm>
          <a:prstGeom prst="roundRect">
            <a:avLst>
              <a:gd name="adj" fmla="val 1667"/>
            </a:avLst>
          </a:prstGeom>
          <a:solidFill>
            <a:srgbClr val="FFFFFF"/>
          </a:solidFill>
          <a:ln w="12700">
            <a:solidFill>
              <a:srgbClr val="CBD5E1"/>
            </a:solidFill>
            <a:prstDash val="solid"/>
          </a:ln>
        </p:spPr>
      </p:sp>
      <p:sp>
        <p:nvSpPr>
          <p:cNvPr id="9" name="Text 7"/>
          <p:cNvSpPr/>
          <p:nvPr/>
        </p:nvSpPr>
        <p:spPr>
          <a:xfrm>
            <a:off x="1005840" y="1920240"/>
            <a:ext cx="4617720" cy="256032"/>
          </a:xfrm>
          <a:prstGeom prst="rect">
            <a:avLst/>
          </a:prstGeom>
          <a:noFill/>
          <a:ln/>
        </p:spPr>
        <p:txBody>
          <a:bodyPr wrap="square" rtlCol="0" anchor="ctr"/>
          <a:lstStyle/>
          <a:p>
            <a:pPr indent="0" marL="0">
              <a:buNone/>
            </a:pPr>
            <a:r>
              <a:rPr lang="en-US" sz="1150" b="1" dirty="0">
                <a:solidFill>
                  <a:srgbClr val="2563EB"/>
                </a:solidFill>
                <a:latin typeface="Calibri" pitchFamily="34" charset="0"/>
                <a:ea typeface="Calibri" pitchFamily="34" charset="-122"/>
                <a:cs typeface="Calibri" pitchFamily="34" charset="-120"/>
              </a:rPr>
              <a:t>PRIMARY AIM &amp; OBJECTIVES</a:t>
            </a:r>
            <a:endParaRPr lang="en-US" sz="1150" dirty="0"/>
          </a:p>
        </p:txBody>
      </p:sp>
      <p:sp>
        <p:nvSpPr>
          <p:cNvPr id="10" name="Text 8"/>
          <p:cNvSpPr/>
          <p:nvPr/>
        </p:nvSpPr>
        <p:spPr>
          <a:xfrm>
            <a:off x="1005840" y="2194560"/>
            <a:ext cx="4617720" cy="3657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Engineering Goals</a:t>
            </a:r>
            <a:endParaRPr lang="en-US" sz="1800" dirty="0"/>
          </a:p>
        </p:txBody>
      </p:sp>
      <p:sp>
        <p:nvSpPr>
          <p:cNvPr id="11" name="Shape 9"/>
          <p:cNvSpPr/>
          <p:nvPr/>
        </p:nvSpPr>
        <p:spPr>
          <a:xfrm>
            <a:off x="1005840" y="2606040"/>
            <a:ext cx="4617720" cy="0"/>
          </a:xfrm>
          <a:prstGeom prst="line">
            <a:avLst/>
          </a:prstGeom>
          <a:noFill/>
          <a:ln w="12700">
            <a:solidFill>
              <a:srgbClr val="CBD5E1"/>
            </a:solidFill>
            <a:prstDash val="solid"/>
          </a:ln>
        </p:spPr>
      </p:sp>
      <p:sp>
        <p:nvSpPr>
          <p:cNvPr id="12" name="Text 10"/>
          <p:cNvSpPr/>
          <p:nvPr/>
        </p:nvSpPr>
        <p:spPr>
          <a:xfrm>
            <a:off x="1005840" y="2788920"/>
            <a:ext cx="4617720" cy="3063240"/>
          </a:xfrm>
          <a:prstGeom prst="rect">
            <a:avLst/>
          </a:prstGeom>
          <a:noFill/>
          <a:ln/>
        </p:spPr>
        <p:txBody>
          <a:bodyPr wrap="square" lIns="0" tIns="0" rIns="0" bIns="0" rtlCol="0" anchor="ctr"/>
          <a:lstStyle/>
          <a:p>
            <a:pPr marL="342900" indent="-342900">
              <a:spcAft>
                <a:spcPts val="1200"/>
              </a:spcAft>
              <a:buSzPct val="100000"/>
              <a:buChar char="•"/>
            </a:pPr>
            <a:r>
              <a:rPr lang="en-US" sz="1300" dirty="0">
                <a:solidFill>
                  <a:srgbClr val="334155"/>
                </a:solidFill>
                <a:latin typeface="Calibri" pitchFamily="34" charset="0"/>
                <a:ea typeface="Calibri" pitchFamily="34" charset="-122"/>
                <a:cs typeface="Calibri" pitchFamily="34" charset="-120"/>
              </a:rPr>
              <a:t>Combine multi-source DNA databases (ClinVar, gnomAD) using a strict 50% length overlap rule.</a:t>
            </a:r>
            <a:endParaRPr lang="en-US" sz="1300" dirty="0"/>
          </a:p>
          <a:p>
            <a:pPr marL="342900" indent="-342900">
              <a:spcAft>
                <a:spcPts val="1200"/>
              </a:spcAft>
              <a:buSzPct val="100000"/>
              <a:buChar char="•"/>
            </a:pPr>
            <a:r>
              <a:rPr lang="en-US" sz="1300" dirty="0">
                <a:solidFill>
                  <a:srgbClr val="334155"/>
                </a:solidFill>
                <a:latin typeface="Calibri" pitchFamily="34" charset="0"/>
                <a:ea typeface="Calibri" pitchFamily="34" charset="-122"/>
                <a:cs typeface="Calibri" pitchFamily="34" charset="-120"/>
              </a:rPr>
              <a:t>Engineer 24 leak-free features and evaluate on completely unseen holdout chromosomes.</a:t>
            </a:r>
            <a:endParaRPr lang="en-US" sz="1300" dirty="0"/>
          </a:p>
          <a:p>
            <a:pPr marL="342900" indent="-342900">
              <a:spcAft>
                <a:spcPts val="1200"/>
              </a:spcAft>
              <a:buSzPct val="100000"/>
              <a:buChar char="•"/>
            </a:pPr>
            <a:r>
              <a:rPr lang="en-US" sz="1300" dirty="0">
                <a:solidFill>
                  <a:srgbClr val="334155"/>
                </a:solidFill>
                <a:latin typeface="Calibri" pitchFamily="34" charset="0"/>
                <a:ea typeface="Calibri" pitchFamily="34" charset="-122"/>
                <a:cs typeface="Calibri" pitchFamily="34" charset="-120"/>
              </a:rPr>
              <a:t>Build Deep Tabular ResNet and Multimodal sequence models to outperform classical tree models.</a:t>
            </a:r>
            <a:endParaRPr lang="en-US" sz="1300" dirty="0"/>
          </a:p>
          <a:p>
            <a:pPr marL="342900" indent="-342900">
              <a:spcAft>
                <a:spcPts val="1200"/>
              </a:spcAft>
              <a:buSzPct val="100000"/>
              <a:buChar char="•"/>
            </a:pPr>
            <a:r>
              <a:rPr lang="en-US" sz="1300" dirty="0">
                <a:solidFill>
                  <a:srgbClr val="334155"/>
                </a:solidFill>
                <a:latin typeface="Calibri" pitchFamily="34" charset="0"/>
                <a:ea typeface="Calibri" pitchFamily="34" charset="-122"/>
                <a:cs typeface="Calibri" pitchFamily="34" charset="-120"/>
              </a:rPr>
              <a:t>Deploy 95% mathematical confidence bounds and TreeSHAP visual explanations into a fast CLI tool.</a:t>
            </a:r>
            <a:endParaRPr lang="en-US" sz="1300" dirty="0"/>
          </a:p>
        </p:txBody>
      </p:sp>
      <p:sp>
        <p:nvSpPr>
          <p:cNvPr id="13" name="Shape 11"/>
          <p:cNvSpPr/>
          <p:nvPr/>
        </p:nvSpPr>
        <p:spPr>
          <a:xfrm>
            <a:off x="6293815" y="1691640"/>
            <a:ext cx="5166360" cy="4389120"/>
          </a:xfrm>
          <a:prstGeom prst="roundRect">
            <a:avLst>
              <a:gd name="adj" fmla="val 1667"/>
            </a:avLst>
          </a:prstGeom>
          <a:solidFill>
            <a:srgbClr val="FFFFFF"/>
          </a:solidFill>
          <a:ln w="12700">
            <a:solidFill>
              <a:srgbClr val="CBD5E1"/>
            </a:solidFill>
            <a:prstDash val="solid"/>
          </a:ln>
        </p:spPr>
      </p:sp>
      <p:sp>
        <p:nvSpPr>
          <p:cNvPr id="14" name="Text 12"/>
          <p:cNvSpPr/>
          <p:nvPr/>
        </p:nvSpPr>
        <p:spPr>
          <a:xfrm>
            <a:off x="6568135" y="1920240"/>
            <a:ext cx="4617720" cy="256032"/>
          </a:xfrm>
          <a:prstGeom prst="rect">
            <a:avLst/>
          </a:prstGeom>
          <a:noFill/>
          <a:ln/>
        </p:spPr>
        <p:txBody>
          <a:bodyPr wrap="square" rtlCol="0" anchor="ctr"/>
          <a:lstStyle/>
          <a:p>
            <a:pPr indent="0" marL="0">
              <a:buNone/>
            </a:pPr>
            <a:r>
              <a:rPr lang="en-US" sz="1150" b="1" dirty="0">
                <a:solidFill>
                  <a:srgbClr val="059669"/>
                </a:solidFill>
                <a:latin typeface="Calibri" pitchFamily="34" charset="0"/>
                <a:ea typeface="Calibri" pitchFamily="34" charset="-122"/>
                <a:cs typeface="Calibri" pitchFamily="34" charset="-120"/>
              </a:rPr>
              <a:t>KEY DEMONSTRATED OUTCOMES</a:t>
            </a:r>
            <a:endParaRPr lang="en-US" sz="1150" dirty="0"/>
          </a:p>
        </p:txBody>
      </p:sp>
      <p:sp>
        <p:nvSpPr>
          <p:cNvPr id="15" name="Text 13"/>
          <p:cNvSpPr/>
          <p:nvPr/>
        </p:nvSpPr>
        <p:spPr>
          <a:xfrm>
            <a:off x="6568135" y="2194560"/>
            <a:ext cx="4617720" cy="3657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What We Actually Delivered</a:t>
            </a:r>
            <a:endParaRPr lang="en-US" sz="1800" dirty="0"/>
          </a:p>
        </p:txBody>
      </p:sp>
      <p:sp>
        <p:nvSpPr>
          <p:cNvPr id="16" name="Shape 14"/>
          <p:cNvSpPr/>
          <p:nvPr/>
        </p:nvSpPr>
        <p:spPr>
          <a:xfrm>
            <a:off x="6568135" y="2606040"/>
            <a:ext cx="4617720" cy="0"/>
          </a:xfrm>
          <a:prstGeom prst="line">
            <a:avLst/>
          </a:prstGeom>
          <a:noFill/>
          <a:ln w="12700">
            <a:solidFill>
              <a:srgbClr val="CBD5E1"/>
            </a:solidFill>
            <a:prstDash val="solid"/>
          </a:ln>
        </p:spPr>
      </p:sp>
      <p:sp>
        <p:nvSpPr>
          <p:cNvPr id="17" name="Text 15"/>
          <p:cNvSpPr/>
          <p:nvPr/>
        </p:nvSpPr>
        <p:spPr>
          <a:xfrm>
            <a:off x="6568135" y="2788920"/>
            <a:ext cx="4617720" cy="3063240"/>
          </a:xfrm>
          <a:prstGeom prst="rect">
            <a:avLst/>
          </a:prstGeom>
          <a:noFill/>
          <a:ln/>
        </p:spPr>
        <p:txBody>
          <a:bodyPr wrap="square" lIns="0" tIns="0" rIns="0" bIns="0" rtlCol="0" anchor="ctr"/>
          <a:lstStyle/>
          <a:p>
            <a:pPr marL="342900" indent="-342900">
              <a:spcAft>
                <a:spcPts val="1200"/>
              </a:spcAft>
              <a:buSzPct val="100000"/>
              <a:buChar char="•"/>
            </a:pPr>
            <a:r>
              <a:rPr lang="en-US" sz="1300" dirty="0">
                <a:solidFill>
                  <a:srgbClr val="334155"/>
                </a:solidFill>
                <a:latin typeface="Calibri" pitchFamily="34" charset="0"/>
                <a:ea typeface="Calibri" pitchFamily="34" charset="-122"/>
                <a:cs typeface="Calibri" pitchFamily="34" charset="-120"/>
              </a:rPr>
              <a:t>Zero-Leakage Benchmark: Tested strictly on unseen Chromosomes 19–22, X, Y (0% data leakage).</a:t>
            </a:r>
            <a:endParaRPr lang="en-US" sz="1300" dirty="0"/>
          </a:p>
          <a:p>
            <a:pPr marL="342900" indent="-342900">
              <a:spcAft>
                <a:spcPts val="1200"/>
              </a:spcAft>
              <a:buSzPct val="100000"/>
              <a:buChar char="•"/>
            </a:pPr>
            <a:r>
              <a:rPr lang="en-US" sz="1300" dirty="0">
                <a:solidFill>
                  <a:srgbClr val="334155"/>
                </a:solidFill>
                <a:latin typeface="Calibri" pitchFamily="34" charset="0"/>
                <a:ea typeface="Calibri" pitchFamily="34" charset="-122"/>
                <a:cs typeface="Calibri" pitchFamily="34" charset="-120"/>
              </a:rPr>
              <a:t>State-of-the-Art Detection: 0.9705 PR-AUC and 94.4% clinical sensitivity on unseen test chromosomes.</a:t>
            </a:r>
            <a:endParaRPr lang="en-US" sz="1300" dirty="0"/>
          </a:p>
          <a:p>
            <a:pPr marL="342900" indent="-342900">
              <a:spcAft>
                <a:spcPts val="1200"/>
              </a:spcAft>
              <a:buSzPct val="100000"/>
              <a:buChar char="•"/>
            </a:pPr>
            <a:r>
              <a:rPr lang="en-US" sz="1300" dirty="0">
                <a:solidFill>
                  <a:srgbClr val="334155"/>
                </a:solidFill>
                <a:latin typeface="Calibri" pitchFamily="34" charset="0"/>
                <a:ea typeface="Calibri" pitchFamily="34" charset="-122"/>
                <a:cs typeface="Calibri" pitchFamily="34" charset="-120"/>
              </a:rPr>
              <a:t>Slashed Missed Diseases: Cut false negatives from 1,745 down to 414 (over 60% reduction vs XGBoost).</a:t>
            </a:r>
            <a:endParaRPr lang="en-US" sz="1300" dirty="0"/>
          </a:p>
          <a:p>
            <a:pPr marL="342900" indent="-342900">
              <a:spcAft>
                <a:spcPts val="1200"/>
              </a:spcAft>
              <a:buSzPct val="100000"/>
              <a:buChar char="•"/>
            </a:pPr>
            <a:r>
              <a:rPr lang="en-US" sz="1300" dirty="0">
                <a:solidFill>
                  <a:srgbClr val="334155"/>
                </a:solidFill>
                <a:latin typeface="Calibri" pitchFamily="34" charset="0"/>
                <a:ea typeface="Calibri" pitchFamily="34" charset="-122"/>
                <a:cs typeface="Calibri" pitchFamily="34" charset="-120"/>
              </a:rPr>
              <a:t>Solved 48.8% of Uncertain Variants: Successfully triaged 16,801 of 34,466 unreviewed ClinVar VUS.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47472"/>
            <a:ext cx="10728655" cy="256032"/>
          </a:xfrm>
          <a:prstGeom prst="rect">
            <a:avLst/>
          </a:prstGeom>
          <a:noFill/>
          <a:ln/>
        </p:spPr>
        <p:txBody>
          <a:bodyPr wrap="square" rtlCol="0" anchor="ctr"/>
          <a:lstStyle/>
          <a:p>
            <a:pPr indent="0" marL="0">
              <a:buNone/>
            </a:pPr>
            <a:r>
              <a:rPr lang="en-US" sz="1200" b="1" dirty="0">
                <a:solidFill>
                  <a:srgbClr val="2563EB"/>
                </a:solidFill>
                <a:latin typeface="Calibri" pitchFamily="34" charset="0"/>
                <a:ea typeface="Calibri" pitchFamily="34" charset="-122"/>
                <a:cs typeface="Calibri" pitchFamily="34" charset="-120"/>
              </a:rPr>
              <a:t>SYSTEM ARCHITECTURE</a:t>
            </a:r>
            <a:endParaRPr lang="en-US" sz="1200" dirty="0"/>
          </a:p>
        </p:txBody>
      </p:sp>
      <p:sp>
        <p:nvSpPr>
          <p:cNvPr id="3" name="Text 1"/>
          <p:cNvSpPr/>
          <p:nvPr/>
        </p:nvSpPr>
        <p:spPr>
          <a:xfrm>
            <a:off x="731520" y="621792"/>
            <a:ext cx="10728655" cy="45720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Proposed System Architecture</a:t>
            </a:r>
            <a:endParaRPr lang="en-US" sz="2200" dirty="0"/>
          </a:p>
        </p:txBody>
      </p:sp>
      <p:sp>
        <p:nvSpPr>
          <p:cNvPr id="4" name="Text 2"/>
          <p:cNvSpPr/>
          <p:nvPr/>
        </p:nvSpPr>
        <p:spPr>
          <a:xfrm>
            <a:off x="731520" y="1097280"/>
            <a:ext cx="10728655" cy="292608"/>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A modular end-to-end pipeline turning raw patient sequencing files into fast clinical decisions</a:t>
            </a:r>
            <a:endParaRPr lang="en-US" sz="1400" dirty="0"/>
          </a:p>
        </p:txBody>
      </p:sp>
      <p:sp>
        <p:nvSpPr>
          <p:cNvPr id="5" name="Shape 3"/>
          <p:cNvSpPr/>
          <p:nvPr/>
        </p:nvSpPr>
        <p:spPr>
          <a:xfrm>
            <a:off x="731520" y="1426464"/>
            <a:ext cx="10728655" cy="0"/>
          </a:xfrm>
          <a:prstGeom prst="line">
            <a:avLst/>
          </a:prstGeom>
          <a:noFill/>
          <a:ln w="12700">
            <a:solidFill>
              <a:srgbClr val="CBD5E1"/>
            </a:solidFill>
            <a:prstDash val="solid"/>
          </a:ln>
        </p:spPr>
      </p:sp>
      <p:sp>
        <p:nvSpPr>
          <p:cNvPr id="6" name="Text 4"/>
          <p:cNvSpPr/>
          <p:nvPr/>
        </p:nvSpPr>
        <p:spPr>
          <a:xfrm>
            <a:off x="731520" y="6355080"/>
            <a:ext cx="7772400" cy="29260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Department of Artificial Intelligence  |  Final Project Review  |  Amrita Vishwa Vidyapeetham</a:t>
            </a:r>
            <a:endParaRPr lang="en-US" sz="1100" dirty="0"/>
          </a:p>
        </p:txBody>
      </p:sp>
      <p:sp>
        <p:nvSpPr>
          <p:cNvPr id="7" name="Text 5"/>
          <p:cNvSpPr/>
          <p:nvPr/>
        </p:nvSpPr>
        <p:spPr>
          <a:xfrm>
            <a:off x="9448495" y="6355080"/>
            <a:ext cx="2011680" cy="292608"/>
          </a:xfrm>
          <a:prstGeom prst="rect">
            <a:avLst/>
          </a:prstGeom>
          <a:noFill/>
          <a:ln/>
        </p:spPr>
        <p:txBody>
          <a:bodyPr wrap="square" rtlCol="0" anchor="ctr"/>
          <a:lstStyle/>
          <a:p>
            <a:pPr algn="r" indent="0" marL="0">
              <a:buNone/>
            </a:pPr>
            <a:r>
              <a:rPr lang="en-US" sz="1100" dirty="0">
                <a:solidFill>
                  <a:srgbClr val="64748B"/>
                </a:solidFill>
                <a:latin typeface="Calibri" pitchFamily="34" charset="0"/>
                <a:ea typeface="Calibri" pitchFamily="34" charset="-122"/>
                <a:cs typeface="Calibri" pitchFamily="34" charset="-120"/>
              </a:rPr>
              <a:t>Slide 8 of 24</a:t>
            </a:r>
            <a:endParaRPr lang="en-US" sz="1100" dirty="0"/>
          </a:p>
        </p:txBody>
      </p:sp>
      <p:sp>
        <p:nvSpPr>
          <p:cNvPr id="8" name="Shape 6"/>
          <p:cNvSpPr/>
          <p:nvPr/>
        </p:nvSpPr>
        <p:spPr>
          <a:xfrm>
            <a:off x="731520" y="1691640"/>
            <a:ext cx="2476424" cy="4389120"/>
          </a:xfrm>
          <a:prstGeom prst="roundRect">
            <a:avLst>
              <a:gd name="adj" fmla="val 2954"/>
            </a:avLst>
          </a:prstGeom>
          <a:solidFill>
            <a:srgbClr val="FFFFFF"/>
          </a:solidFill>
          <a:ln w="12700">
            <a:solidFill>
              <a:srgbClr val="CBD5E1"/>
            </a:solidFill>
            <a:prstDash val="solid"/>
          </a:ln>
        </p:spPr>
      </p:sp>
      <p:sp>
        <p:nvSpPr>
          <p:cNvPr id="9" name="Shape 7"/>
          <p:cNvSpPr/>
          <p:nvPr/>
        </p:nvSpPr>
        <p:spPr>
          <a:xfrm>
            <a:off x="960120" y="1920240"/>
            <a:ext cx="640080" cy="365760"/>
          </a:xfrm>
          <a:prstGeom prst="roundRect">
            <a:avLst>
              <a:gd name="adj" fmla="val 15000"/>
            </a:avLst>
          </a:prstGeom>
          <a:solidFill>
            <a:srgbClr val="EFF6FF"/>
          </a:solidFill>
          <a:ln w="12700">
            <a:solidFill>
              <a:srgbClr val="2563EB"/>
            </a:solidFill>
            <a:prstDash val="solid"/>
          </a:ln>
        </p:spPr>
      </p:sp>
      <p:sp>
        <p:nvSpPr>
          <p:cNvPr id="10" name="Text 8"/>
          <p:cNvSpPr/>
          <p:nvPr/>
        </p:nvSpPr>
        <p:spPr>
          <a:xfrm>
            <a:off x="960120" y="1920240"/>
            <a:ext cx="640080" cy="365760"/>
          </a:xfrm>
          <a:prstGeom prst="rect">
            <a:avLst/>
          </a:prstGeom>
          <a:noFill/>
          <a:ln/>
        </p:spPr>
        <p:txBody>
          <a:bodyPr wrap="square" lIns="0" tIns="0" rIns="0" bIns="0" rtlCol="0" anchor="ctr"/>
          <a:lstStyle/>
          <a:p>
            <a:pPr algn="ctr" indent="0" marL="0">
              <a:buNone/>
            </a:pPr>
            <a:r>
              <a:rPr lang="en-US" sz="1400" b="1" dirty="0">
                <a:solidFill>
                  <a:srgbClr val="2563EB"/>
                </a:solidFill>
                <a:latin typeface="Calibri" pitchFamily="34" charset="0"/>
                <a:ea typeface="Calibri" pitchFamily="34" charset="-122"/>
                <a:cs typeface="Calibri" pitchFamily="34" charset="-120"/>
              </a:rPr>
              <a:t>01</a:t>
            </a:r>
            <a:endParaRPr lang="en-US" sz="1400" dirty="0"/>
          </a:p>
        </p:txBody>
      </p:sp>
      <p:sp>
        <p:nvSpPr>
          <p:cNvPr id="11" name="Text 9"/>
          <p:cNvSpPr/>
          <p:nvPr/>
        </p:nvSpPr>
        <p:spPr>
          <a:xfrm>
            <a:off x="960120" y="2423160"/>
            <a:ext cx="2019224" cy="36576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Data Ingestion</a:t>
            </a:r>
            <a:endParaRPr lang="en-US" sz="1700" dirty="0"/>
          </a:p>
        </p:txBody>
      </p:sp>
      <p:sp>
        <p:nvSpPr>
          <p:cNvPr id="12" name="Text 10"/>
          <p:cNvSpPr/>
          <p:nvPr/>
        </p:nvSpPr>
        <p:spPr>
          <a:xfrm>
            <a:off x="960120" y="2788920"/>
            <a:ext cx="2019224" cy="256032"/>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Read Patient Files</a:t>
            </a:r>
            <a:endParaRPr lang="en-US" sz="1200" dirty="0"/>
          </a:p>
        </p:txBody>
      </p:sp>
      <p:sp>
        <p:nvSpPr>
          <p:cNvPr id="13" name="Shape 11"/>
          <p:cNvSpPr/>
          <p:nvPr/>
        </p:nvSpPr>
        <p:spPr>
          <a:xfrm>
            <a:off x="960120" y="3127248"/>
            <a:ext cx="2019224" cy="0"/>
          </a:xfrm>
          <a:prstGeom prst="line">
            <a:avLst/>
          </a:prstGeom>
          <a:noFill/>
          <a:ln w="12700">
            <a:solidFill>
              <a:srgbClr val="CBD5E1"/>
            </a:solidFill>
            <a:prstDash val="solid"/>
          </a:ln>
        </p:spPr>
      </p:sp>
      <p:sp>
        <p:nvSpPr>
          <p:cNvPr id="14" name="Text 12"/>
          <p:cNvSpPr/>
          <p:nvPr/>
        </p:nvSpPr>
        <p:spPr>
          <a:xfrm>
            <a:off x="960120" y="3291840"/>
            <a:ext cx="2019224" cy="260604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334155"/>
                </a:solidFill>
                <a:latin typeface="Calibri" pitchFamily="34" charset="0"/>
                <a:ea typeface="Calibri" pitchFamily="34" charset="-122"/>
                <a:cs typeface="Calibri" pitchFamily="34" charset="-120"/>
              </a:rPr>
              <a:t>Parse patient sequencing files (VCF)</a:t>
            </a:r>
            <a:endParaRPr lang="en-US" sz="1250" dirty="0"/>
          </a:p>
          <a:p>
            <a:pPr marL="342900" indent="-342900">
              <a:spcAft>
                <a:spcPts val="1000"/>
              </a:spcAft>
              <a:buSzPct val="100000"/>
              <a:buChar char="•"/>
            </a:pPr>
            <a:r>
              <a:rPr lang="en-US" sz="1250" dirty="0">
                <a:solidFill>
                  <a:srgbClr val="334155"/>
                </a:solidFill>
                <a:latin typeface="Calibri" pitchFamily="34" charset="0"/>
                <a:ea typeface="Calibri" pitchFamily="34" charset="-122"/>
                <a:cs typeface="Calibri" pitchFamily="34" charset="-120"/>
              </a:rPr>
              <a:t>Filter large variants (&gt;= 50 base pairs)</a:t>
            </a:r>
            <a:endParaRPr lang="en-US" sz="1250" dirty="0"/>
          </a:p>
          <a:p>
            <a:pPr marL="342900" indent="-342900">
              <a:spcAft>
                <a:spcPts val="1000"/>
              </a:spcAft>
              <a:buSzPct val="100000"/>
              <a:buChar char="•"/>
            </a:pPr>
            <a:r>
              <a:rPr lang="en-US" sz="1250" dirty="0">
                <a:solidFill>
                  <a:srgbClr val="334155"/>
                </a:solidFill>
                <a:latin typeface="Calibri" pitchFamily="34" charset="0"/>
                <a:ea typeface="Calibri" pitchFamily="34" charset="-122"/>
                <a:cs typeface="Calibri" pitchFamily="34" charset="-120"/>
              </a:rPr>
              <a:t>Match with reference databases</a:t>
            </a:r>
            <a:endParaRPr lang="en-US" sz="1250" dirty="0"/>
          </a:p>
          <a:p>
            <a:pPr marL="342900" indent="-342900">
              <a:spcAft>
                <a:spcPts val="1000"/>
              </a:spcAft>
              <a:buSzPct val="100000"/>
              <a:buChar char="•"/>
            </a:pPr>
            <a:r>
              <a:rPr lang="en-US" sz="1250" dirty="0">
                <a:solidFill>
                  <a:srgbClr val="334155"/>
                </a:solidFill>
                <a:latin typeface="Calibri" pitchFamily="34" charset="0"/>
                <a:ea typeface="Calibri" pitchFamily="34" charset="-122"/>
                <a:cs typeface="Calibri" pitchFamily="34" charset="-120"/>
              </a:rPr>
              <a:t>Use 50% length overlap rule</a:t>
            </a:r>
            <a:endParaRPr lang="en-US" sz="1250" dirty="0"/>
          </a:p>
        </p:txBody>
      </p:sp>
      <p:sp>
        <p:nvSpPr>
          <p:cNvPr id="15" name="Shape 13"/>
          <p:cNvSpPr/>
          <p:nvPr/>
        </p:nvSpPr>
        <p:spPr>
          <a:xfrm>
            <a:off x="3482264" y="1691640"/>
            <a:ext cx="2476424" cy="4389120"/>
          </a:xfrm>
          <a:prstGeom prst="roundRect">
            <a:avLst>
              <a:gd name="adj" fmla="val 2954"/>
            </a:avLst>
          </a:prstGeom>
          <a:solidFill>
            <a:srgbClr val="FFFFFF"/>
          </a:solidFill>
          <a:ln w="12700">
            <a:solidFill>
              <a:srgbClr val="CBD5E1"/>
            </a:solidFill>
            <a:prstDash val="solid"/>
          </a:ln>
        </p:spPr>
      </p:sp>
      <p:sp>
        <p:nvSpPr>
          <p:cNvPr id="16" name="Shape 14"/>
          <p:cNvSpPr/>
          <p:nvPr/>
        </p:nvSpPr>
        <p:spPr>
          <a:xfrm>
            <a:off x="3710864" y="1920240"/>
            <a:ext cx="640080" cy="365760"/>
          </a:xfrm>
          <a:prstGeom prst="roundRect">
            <a:avLst>
              <a:gd name="adj" fmla="val 15000"/>
            </a:avLst>
          </a:prstGeom>
          <a:solidFill>
            <a:srgbClr val="F1F5F9"/>
          </a:solidFill>
          <a:ln w="12700">
            <a:solidFill>
              <a:srgbClr val="0F172A"/>
            </a:solidFill>
            <a:prstDash val="solid"/>
          </a:ln>
        </p:spPr>
      </p:sp>
      <p:sp>
        <p:nvSpPr>
          <p:cNvPr id="17" name="Text 15"/>
          <p:cNvSpPr/>
          <p:nvPr/>
        </p:nvSpPr>
        <p:spPr>
          <a:xfrm>
            <a:off x="3710864" y="1920240"/>
            <a:ext cx="640080" cy="365760"/>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02</a:t>
            </a:r>
            <a:endParaRPr lang="en-US" sz="1400" dirty="0"/>
          </a:p>
        </p:txBody>
      </p:sp>
      <p:sp>
        <p:nvSpPr>
          <p:cNvPr id="18" name="Text 16"/>
          <p:cNvSpPr/>
          <p:nvPr/>
        </p:nvSpPr>
        <p:spPr>
          <a:xfrm>
            <a:off x="3710864" y="2423160"/>
            <a:ext cx="2019224" cy="36576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Feature Vector</a:t>
            </a:r>
            <a:endParaRPr lang="en-US" sz="1700" dirty="0"/>
          </a:p>
        </p:txBody>
      </p:sp>
      <p:sp>
        <p:nvSpPr>
          <p:cNvPr id="19" name="Text 17"/>
          <p:cNvSpPr/>
          <p:nvPr/>
        </p:nvSpPr>
        <p:spPr>
          <a:xfrm>
            <a:off x="3710864" y="2788920"/>
            <a:ext cx="2019224" cy="256032"/>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Calculate 24 Signals</a:t>
            </a:r>
            <a:endParaRPr lang="en-US" sz="1200" dirty="0"/>
          </a:p>
        </p:txBody>
      </p:sp>
      <p:sp>
        <p:nvSpPr>
          <p:cNvPr id="20" name="Shape 18"/>
          <p:cNvSpPr/>
          <p:nvPr/>
        </p:nvSpPr>
        <p:spPr>
          <a:xfrm>
            <a:off x="3710864" y="3127248"/>
            <a:ext cx="2019224" cy="0"/>
          </a:xfrm>
          <a:prstGeom prst="line">
            <a:avLst/>
          </a:prstGeom>
          <a:noFill/>
          <a:ln w="12700">
            <a:solidFill>
              <a:srgbClr val="CBD5E1"/>
            </a:solidFill>
            <a:prstDash val="solid"/>
          </a:ln>
        </p:spPr>
      </p:sp>
      <p:sp>
        <p:nvSpPr>
          <p:cNvPr id="21" name="Text 19"/>
          <p:cNvSpPr/>
          <p:nvPr/>
        </p:nvSpPr>
        <p:spPr>
          <a:xfrm>
            <a:off x="3710864" y="3291840"/>
            <a:ext cx="2019224" cy="260604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334155"/>
                </a:solidFill>
                <a:latin typeface="Calibri" pitchFamily="34" charset="0"/>
                <a:ea typeface="Calibri" pitchFamily="34" charset="-122"/>
                <a:cs typeface="Calibri" pitchFamily="34" charset="-120"/>
              </a:rPr>
              <a:t>Compute population rarity in humans</a:t>
            </a:r>
            <a:endParaRPr lang="en-US" sz="1250" dirty="0"/>
          </a:p>
          <a:p>
            <a:pPr marL="342900" indent="-342900">
              <a:spcAft>
                <a:spcPts val="1000"/>
              </a:spcAft>
              <a:buSzPct val="100000"/>
              <a:buChar char="•"/>
            </a:pPr>
            <a:r>
              <a:rPr lang="en-US" sz="1250" dirty="0">
                <a:solidFill>
                  <a:srgbClr val="334155"/>
                </a:solidFill>
                <a:latin typeface="Calibri" pitchFamily="34" charset="0"/>
                <a:ea typeface="Calibri" pitchFamily="34" charset="-122"/>
                <a:cs typeface="Calibri" pitchFamily="34" charset="-120"/>
              </a:rPr>
              <a:t>Score gene importance to survival</a:t>
            </a:r>
            <a:endParaRPr lang="en-US" sz="1250" dirty="0"/>
          </a:p>
          <a:p>
            <a:pPr marL="342900" indent="-342900">
              <a:spcAft>
                <a:spcPts val="1000"/>
              </a:spcAft>
              <a:buSzPct val="100000"/>
              <a:buChar char="•"/>
            </a:pPr>
            <a:r>
              <a:rPr lang="en-US" sz="1250" dirty="0">
                <a:solidFill>
                  <a:srgbClr val="334155"/>
                </a:solidFill>
                <a:latin typeface="Calibri" pitchFamily="34" charset="0"/>
                <a:ea typeface="Calibri" pitchFamily="34" charset="-122"/>
                <a:cs typeface="Calibri" pitchFamily="34" charset="-120"/>
              </a:rPr>
              <a:t>Extract mutation length &amp; type</a:t>
            </a:r>
            <a:endParaRPr lang="en-US" sz="1250" dirty="0"/>
          </a:p>
          <a:p>
            <a:pPr marL="342900" indent="-342900">
              <a:spcAft>
                <a:spcPts val="1000"/>
              </a:spcAft>
              <a:buSzPct val="100000"/>
              <a:buChar char="•"/>
            </a:pPr>
            <a:r>
              <a:rPr lang="en-US" sz="1250" dirty="0">
                <a:solidFill>
                  <a:srgbClr val="334155"/>
                </a:solidFill>
                <a:latin typeface="Calibri" pitchFamily="34" charset="0"/>
                <a:ea typeface="Calibri" pitchFamily="34" charset="-122"/>
                <a:cs typeface="Calibri" pitchFamily="34" charset="-120"/>
              </a:rPr>
              <a:t>Split chromosomes to prevent leakage</a:t>
            </a:r>
            <a:endParaRPr lang="en-US" sz="1250" dirty="0"/>
          </a:p>
        </p:txBody>
      </p:sp>
      <p:sp>
        <p:nvSpPr>
          <p:cNvPr id="22" name="Shape 20"/>
          <p:cNvSpPr/>
          <p:nvPr/>
        </p:nvSpPr>
        <p:spPr>
          <a:xfrm>
            <a:off x="6233008" y="1691640"/>
            <a:ext cx="2476424" cy="4389120"/>
          </a:xfrm>
          <a:prstGeom prst="roundRect">
            <a:avLst>
              <a:gd name="adj" fmla="val 2954"/>
            </a:avLst>
          </a:prstGeom>
          <a:solidFill>
            <a:srgbClr val="FFFFFF"/>
          </a:solidFill>
          <a:ln w="12700">
            <a:solidFill>
              <a:srgbClr val="CBD5E1"/>
            </a:solidFill>
            <a:prstDash val="solid"/>
          </a:ln>
        </p:spPr>
      </p:sp>
      <p:sp>
        <p:nvSpPr>
          <p:cNvPr id="23" name="Shape 21"/>
          <p:cNvSpPr/>
          <p:nvPr/>
        </p:nvSpPr>
        <p:spPr>
          <a:xfrm>
            <a:off x="6461608" y="1920240"/>
            <a:ext cx="640080" cy="365760"/>
          </a:xfrm>
          <a:prstGeom prst="roundRect">
            <a:avLst>
              <a:gd name="adj" fmla="val 15000"/>
            </a:avLst>
          </a:prstGeom>
          <a:solidFill>
            <a:srgbClr val="F5F3FF"/>
          </a:solidFill>
          <a:ln w="12700">
            <a:solidFill>
              <a:srgbClr val="7C3AED"/>
            </a:solidFill>
            <a:prstDash val="solid"/>
          </a:ln>
        </p:spPr>
      </p:sp>
      <p:sp>
        <p:nvSpPr>
          <p:cNvPr id="24" name="Text 22"/>
          <p:cNvSpPr/>
          <p:nvPr/>
        </p:nvSpPr>
        <p:spPr>
          <a:xfrm>
            <a:off x="6461608" y="1920240"/>
            <a:ext cx="640080" cy="365760"/>
          </a:xfrm>
          <a:prstGeom prst="rect">
            <a:avLst/>
          </a:prstGeom>
          <a:noFill/>
          <a:ln/>
        </p:spPr>
        <p:txBody>
          <a:bodyPr wrap="square" lIns="0" tIns="0" rIns="0" bIns="0" rtlCol="0" anchor="ctr"/>
          <a:lstStyle/>
          <a:p>
            <a:pPr algn="ctr" indent="0" marL="0">
              <a:buNone/>
            </a:pPr>
            <a:r>
              <a:rPr lang="en-US" sz="1400" b="1" dirty="0">
                <a:solidFill>
                  <a:srgbClr val="7C3AED"/>
                </a:solidFill>
                <a:latin typeface="Calibri" pitchFamily="34" charset="0"/>
                <a:ea typeface="Calibri" pitchFamily="34" charset="-122"/>
                <a:cs typeface="Calibri" pitchFamily="34" charset="-120"/>
              </a:rPr>
              <a:t>03</a:t>
            </a:r>
            <a:endParaRPr lang="en-US" sz="1400" dirty="0"/>
          </a:p>
        </p:txBody>
      </p:sp>
      <p:sp>
        <p:nvSpPr>
          <p:cNvPr id="25" name="Text 23"/>
          <p:cNvSpPr/>
          <p:nvPr/>
        </p:nvSpPr>
        <p:spPr>
          <a:xfrm>
            <a:off x="6461608" y="2423160"/>
            <a:ext cx="2019224" cy="36576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Dual-Paradigm AI</a:t>
            </a:r>
            <a:endParaRPr lang="en-US" sz="1700" dirty="0"/>
          </a:p>
        </p:txBody>
      </p:sp>
      <p:sp>
        <p:nvSpPr>
          <p:cNvPr id="26" name="Text 24"/>
          <p:cNvSpPr/>
          <p:nvPr/>
        </p:nvSpPr>
        <p:spPr>
          <a:xfrm>
            <a:off x="6461608" y="2788920"/>
            <a:ext cx="2019224" cy="256032"/>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Run Neural Models</a:t>
            </a:r>
            <a:endParaRPr lang="en-US" sz="1200" dirty="0"/>
          </a:p>
        </p:txBody>
      </p:sp>
      <p:sp>
        <p:nvSpPr>
          <p:cNvPr id="27" name="Shape 25"/>
          <p:cNvSpPr/>
          <p:nvPr/>
        </p:nvSpPr>
        <p:spPr>
          <a:xfrm>
            <a:off x="6461608" y="3127248"/>
            <a:ext cx="2019224" cy="0"/>
          </a:xfrm>
          <a:prstGeom prst="line">
            <a:avLst/>
          </a:prstGeom>
          <a:noFill/>
          <a:ln w="12700">
            <a:solidFill>
              <a:srgbClr val="CBD5E1"/>
            </a:solidFill>
            <a:prstDash val="solid"/>
          </a:ln>
        </p:spPr>
      </p:sp>
      <p:sp>
        <p:nvSpPr>
          <p:cNvPr id="28" name="Text 26"/>
          <p:cNvSpPr/>
          <p:nvPr/>
        </p:nvSpPr>
        <p:spPr>
          <a:xfrm>
            <a:off x="6461608" y="3291840"/>
            <a:ext cx="2019224" cy="260604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334155"/>
                </a:solidFill>
                <a:latin typeface="Calibri" pitchFamily="34" charset="0"/>
                <a:ea typeface="Calibri" pitchFamily="34" charset="-122"/>
                <a:cs typeface="Calibri" pitchFamily="34" charset="-120"/>
              </a:rPr>
              <a:t>Tabular ResNet with skip connections</a:t>
            </a:r>
            <a:endParaRPr lang="en-US" sz="1250" dirty="0"/>
          </a:p>
          <a:p>
            <a:pPr marL="342900" indent="-342900">
              <a:spcAft>
                <a:spcPts val="1000"/>
              </a:spcAft>
              <a:buSzPct val="100000"/>
              <a:buChar char="•"/>
            </a:pPr>
            <a:r>
              <a:rPr lang="en-US" sz="1250" dirty="0">
                <a:solidFill>
                  <a:srgbClr val="334155"/>
                </a:solidFill>
                <a:latin typeface="Calibri" pitchFamily="34" charset="0"/>
                <a:ea typeface="Calibri" pitchFamily="34" charset="-122"/>
                <a:cs typeface="Calibri" pitchFamily="34" charset="-120"/>
              </a:rPr>
              <a:t>Multimodal net with DNA sequence context</a:t>
            </a:r>
            <a:endParaRPr lang="en-US" sz="1250" dirty="0"/>
          </a:p>
          <a:p>
            <a:pPr marL="342900" indent="-342900">
              <a:spcAft>
                <a:spcPts val="1000"/>
              </a:spcAft>
              <a:buSzPct val="100000"/>
              <a:buChar char="•"/>
            </a:pPr>
            <a:r>
              <a:rPr lang="en-US" sz="1250" dirty="0">
                <a:solidFill>
                  <a:srgbClr val="334155"/>
                </a:solidFill>
                <a:latin typeface="Calibri" pitchFamily="34" charset="0"/>
                <a:ea typeface="Calibri" pitchFamily="34" charset="-122"/>
                <a:cs typeface="Calibri" pitchFamily="34" charset="-120"/>
              </a:rPr>
              <a:t>Outputs calibrated risk score (0 to 1)</a:t>
            </a:r>
            <a:endParaRPr lang="en-US" sz="1250" dirty="0"/>
          </a:p>
          <a:p>
            <a:pPr marL="342900" indent="-342900">
              <a:spcAft>
                <a:spcPts val="1000"/>
              </a:spcAft>
              <a:buSzPct val="100000"/>
              <a:buChar char="•"/>
            </a:pPr>
            <a:r>
              <a:rPr lang="en-US" sz="1250" dirty="0">
                <a:solidFill>
                  <a:srgbClr val="334155"/>
                </a:solidFill>
                <a:latin typeface="Calibri" pitchFamily="34" charset="0"/>
                <a:ea typeface="Calibri" pitchFamily="34" charset="-122"/>
                <a:cs typeface="Calibri" pitchFamily="34" charset="-120"/>
              </a:rPr>
              <a:t>Reaches 94.4% disease detection rate</a:t>
            </a:r>
            <a:endParaRPr lang="en-US" sz="1250" dirty="0"/>
          </a:p>
        </p:txBody>
      </p:sp>
      <p:sp>
        <p:nvSpPr>
          <p:cNvPr id="29" name="Shape 27"/>
          <p:cNvSpPr/>
          <p:nvPr/>
        </p:nvSpPr>
        <p:spPr>
          <a:xfrm>
            <a:off x="8983751" y="1691640"/>
            <a:ext cx="2476424" cy="4389120"/>
          </a:xfrm>
          <a:prstGeom prst="roundRect">
            <a:avLst>
              <a:gd name="adj" fmla="val 2954"/>
            </a:avLst>
          </a:prstGeom>
          <a:solidFill>
            <a:srgbClr val="FFFFFF"/>
          </a:solidFill>
          <a:ln w="12700">
            <a:solidFill>
              <a:srgbClr val="CBD5E1"/>
            </a:solidFill>
            <a:prstDash val="solid"/>
          </a:ln>
        </p:spPr>
      </p:sp>
      <p:sp>
        <p:nvSpPr>
          <p:cNvPr id="30" name="Shape 28"/>
          <p:cNvSpPr/>
          <p:nvPr/>
        </p:nvSpPr>
        <p:spPr>
          <a:xfrm>
            <a:off x="9212351" y="1920240"/>
            <a:ext cx="640080" cy="365760"/>
          </a:xfrm>
          <a:prstGeom prst="roundRect">
            <a:avLst>
              <a:gd name="adj" fmla="val 15000"/>
            </a:avLst>
          </a:prstGeom>
          <a:solidFill>
            <a:srgbClr val="ECFDF5"/>
          </a:solidFill>
          <a:ln w="12700">
            <a:solidFill>
              <a:srgbClr val="059669"/>
            </a:solidFill>
            <a:prstDash val="solid"/>
          </a:ln>
        </p:spPr>
      </p:sp>
      <p:sp>
        <p:nvSpPr>
          <p:cNvPr id="31" name="Text 29"/>
          <p:cNvSpPr/>
          <p:nvPr/>
        </p:nvSpPr>
        <p:spPr>
          <a:xfrm>
            <a:off x="9212351" y="1920240"/>
            <a:ext cx="640080" cy="365760"/>
          </a:xfrm>
          <a:prstGeom prst="rect">
            <a:avLst/>
          </a:prstGeom>
          <a:noFill/>
          <a:ln/>
        </p:spPr>
        <p:txBody>
          <a:bodyPr wrap="square" lIns="0" tIns="0" rIns="0" bIns="0" rtlCol="0" anchor="ctr"/>
          <a:lstStyle/>
          <a:p>
            <a:pPr algn="ctr" indent="0" marL="0">
              <a:buNone/>
            </a:pPr>
            <a:r>
              <a:rPr lang="en-US" sz="1400" b="1" dirty="0">
                <a:solidFill>
                  <a:srgbClr val="059669"/>
                </a:solidFill>
                <a:latin typeface="Calibri" pitchFamily="34" charset="0"/>
                <a:ea typeface="Calibri" pitchFamily="34" charset="-122"/>
                <a:cs typeface="Calibri" pitchFamily="34" charset="-120"/>
              </a:rPr>
              <a:t>04</a:t>
            </a:r>
            <a:endParaRPr lang="en-US" sz="1400" dirty="0"/>
          </a:p>
        </p:txBody>
      </p:sp>
      <p:sp>
        <p:nvSpPr>
          <p:cNvPr id="32" name="Text 30"/>
          <p:cNvSpPr/>
          <p:nvPr/>
        </p:nvSpPr>
        <p:spPr>
          <a:xfrm>
            <a:off x="9212351" y="2423160"/>
            <a:ext cx="2019224" cy="36576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Clinical Safety</a:t>
            </a:r>
            <a:endParaRPr lang="en-US" sz="1700" dirty="0"/>
          </a:p>
        </p:txBody>
      </p:sp>
      <p:sp>
        <p:nvSpPr>
          <p:cNvPr id="33" name="Text 31"/>
          <p:cNvSpPr/>
          <p:nvPr/>
        </p:nvSpPr>
        <p:spPr>
          <a:xfrm>
            <a:off x="9212351" y="2788920"/>
            <a:ext cx="2019224" cy="256032"/>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Explain &amp; Guarantee</a:t>
            </a:r>
            <a:endParaRPr lang="en-US" sz="1200" dirty="0"/>
          </a:p>
        </p:txBody>
      </p:sp>
      <p:sp>
        <p:nvSpPr>
          <p:cNvPr id="34" name="Shape 32"/>
          <p:cNvSpPr/>
          <p:nvPr/>
        </p:nvSpPr>
        <p:spPr>
          <a:xfrm>
            <a:off x="9212351" y="3127248"/>
            <a:ext cx="2019224" cy="0"/>
          </a:xfrm>
          <a:prstGeom prst="line">
            <a:avLst/>
          </a:prstGeom>
          <a:noFill/>
          <a:ln w="12700">
            <a:solidFill>
              <a:srgbClr val="CBD5E1"/>
            </a:solidFill>
            <a:prstDash val="solid"/>
          </a:ln>
        </p:spPr>
      </p:sp>
      <p:sp>
        <p:nvSpPr>
          <p:cNvPr id="35" name="Text 33"/>
          <p:cNvSpPr/>
          <p:nvPr/>
        </p:nvSpPr>
        <p:spPr>
          <a:xfrm>
            <a:off x="9212351" y="3291840"/>
            <a:ext cx="2019224" cy="260604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334155"/>
                </a:solidFill>
                <a:latin typeface="Calibri" pitchFamily="34" charset="0"/>
                <a:ea typeface="Calibri" pitchFamily="34" charset="-122"/>
                <a:cs typeface="Calibri" pitchFamily="34" charset="-120"/>
              </a:rPr>
              <a:t>95% mathematical confidence intervals</a:t>
            </a:r>
            <a:endParaRPr lang="en-US" sz="1250" dirty="0"/>
          </a:p>
          <a:p>
            <a:pPr marL="342900" indent="-342900">
              <a:spcAft>
                <a:spcPts val="1000"/>
              </a:spcAft>
              <a:buSzPct val="100000"/>
              <a:buChar char="•"/>
            </a:pPr>
            <a:r>
              <a:rPr lang="en-US" sz="1250" dirty="0">
                <a:solidFill>
                  <a:srgbClr val="334155"/>
                </a:solidFill>
                <a:latin typeface="Calibri" pitchFamily="34" charset="0"/>
                <a:ea typeface="Calibri" pitchFamily="34" charset="-122"/>
                <a:cs typeface="Calibri" pitchFamily="34" charset="-120"/>
              </a:rPr>
              <a:t>TreeSHAP visual feature explanations</a:t>
            </a:r>
            <a:endParaRPr lang="en-US" sz="1250" dirty="0"/>
          </a:p>
          <a:p>
            <a:pPr marL="342900" indent="-342900">
              <a:spcAft>
                <a:spcPts val="1000"/>
              </a:spcAft>
              <a:buSzPct val="100000"/>
              <a:buChar char="•"/>
            </a:pPr>
            <a:r>
              <a:rPr lang="en-US" sz="1250" dirty="0">
                <a:solidFill>
                  <a:srgbClr val="334155"/>
                </a:solidFill>
                <a:latin typeface="Calibri" pitchFamily="34" charset="0"/>
                <a:ea typeface="Calibri" pitchFamily="34" charset="-122"/>
                <a:cs typeface="Calibri" pitchFamily="34" charset="-120"/>
              </a:rPr>
              <a:t>Fast CLI tool (prioritize_sv.py)</a:t>
            </a:r>
            <a:endParaRPr lang="en-US" sz="1250" dirty="0"/>
          </a:p>
          <a:p>
            <a:pPr marL="342900" indent="-342900">
              <a:spcAft>
                <a:spcPts val="1000"/>
              </a:spcAft>
              <a:buSzPct val="100000"/>
              <a:buChar char="•"/>
            </a:pPr>
            <a:r>
              <a:rPr lang="en-US" sz="1250" dirty="0">
                <a:solidFill>
                  <a:srgbClr val="334155"/>
                </a:solidFill>
                <a:latin typeface="Calibri" pitchFamily="34" charset="0"/>
                <a:ea typeface="Calibri" pitchFamily="34" charset="-122"/>
                <a:cs typeface="Calibri" pitchFamily="34" charset="-120"/>
              </a:rPr>
              <a:t>Generates interactive HTML doctor report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47472"/>
            <a:ext cx="10728655" cy="256032"/>
          </a:xfrm>
          <a:prstGeom prst="rect">
            <a:avLst/>
          </a:prstGeom>
          <a:noFill/>
          <a:ln/>
        </p:spPr>
        <p:txBody>
          <a:bodyPr wrap="square" rtlCol="0" anchor="ctr"/>
          <a:lstStyle/>
          <a:p>
            <a:pPr indent="0" marL="0">
              <a:buNone/>
            </a:pPr>
            <a:r>
              <a:rPr lang="en-US" sz="1200" b="1" dirty="0">
                <a:solidFill>
                  <a:srgbClr val="2563EB"/>
                </a:solidFill>
                <a:latin typeface="Calibri" pitchFamily="34" charset="0"/>
                <a:ea typeface="Calibri" pitchFamily="34" charset="-122"/>
                <a:cs typeface="Calibri" pitchFamily="34" charset="-120"/>
              </a:rPr>
              <a:t>GENOMIC REPOSITORIES</a:t>
            </a:r>
            <a:endParaRPr lang="en-US" sz="1200" dirty="0"/>
          </a:p>
        </p:txBody>
      </p:sp>
      <p:sp>
        <p:nvSpPr>
          <p:cNvPr id="3" name="Text 1"/>
          <p:cNvSpPr/>
          <p:nvPr/>
        </p:nvSpPr>
        <p:spPr>
          <a:xfrm>
            <a:off x="731520" y="621792"/>
            <a:ext cx="10728655" cy="45720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Dataset Description and Sources</a:t>
            </a:r>
            <a:endParaRPr lang="en-US" sz="2200" dirty="0"/>
          </a:p>
        </p:txBody>
      </p:sp>
      <p:sp>
        <p:nvSpPr>
          <p:cNvPr id="4" name="Text 2"/>
          <p:cNvSpPr/>
          <p:nvPr/>
        </p:nvSpPr>
        <p:spPr>
          <a:xfrm>
            <a:off x="731520" y="1097280"/>
            <a:ext cx="10728655" cy="292608"/>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The verified gold-standard databases used for model training and test validation</a:t>
            </a:r>
            <a:endParaRPr lang="en-US" sz="1400" dirty="0"/>
          </a:p>
        </p:txBody>
      </p:sp>
      <p:sp>
        <p:nvSpPr>
          <p:cNvPr id="5" name="Shape 3"/>
          <p:cNvSpPr/>
          <p:nvPr/>
        </p:nvSpPr>
        <p:spPr>
          <a:xfrm>
            <a:off x="731520" y="1426464"/>
            <a:ext cx="10728655" cy="0"/>
          </a:xfrm>
          <a:prstGeom prst="line">
            <a:avLst/>
          </a:prstGeom>
          <a:noFill/>
          <a:ln w="12700">
            <a:solidFill>
              <a:srgbClr val="CBD5E1"/>
            </a:solidFill>
            <a:prstDash val="solid"/>
          </a:ln>
        </p:spPr>
      </p:sp>
      <p:sp>
        <p:nvSpPr>
          <p:cNvPr id="6" name="Text 4"/>
          <p:cNvSpPr/>
          <p:nvPr/>
        </p:nvSpPr>
        <p:spPr>
          <a:xfrm>
            <a:off x="731520" y="6355080"/>
            <a:ext cx="7772400" cy="29260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Department of Artificial Intelligence  |  Final Project Review  |  Amrita Vishwa Vidyapeetham</a:t>
            </a:r>
            <a:endParaRPr lang="en-US" sz="1100" dirty="0"/>
          </a:p>
        </p:txBody>
      </p:sp>
      <p:sp>
        <p:nvSpPr>
          <p:cNvPr id="7" name="Text 5"/>
          <p:cNvSpPr/>
          <p:nvPr/>
        </p:nvSpPr>
        <p:spPr>
          <a:xfrm>
            <a:off x="9448495" y="6355080"/>
            <a:ext cx="2011680" cy="292608"/>
          </a:xfrm>
          <a:prstGeom prst="rect">
            <a:avLst/>
          </a:prstGeom>
          <a:noFill/>
          <a:ln/>
        </p:spPr>
        <p:txBody>
          <a:bodyPr wrap="square" rtlCol="0" anchor="ctr"/>
          <a:lstStyle/>
          <a:p>
            <a:pPr algn="r" indent="0" marL="0">
              <a:buNone/>
            </a:pPr>
            <a:r>
              <a:rPr lang="en-US" sz="1100" dirty="0">
                <a:solidFill>
                  <a:srgbClr val="64748B"/>
                </a:solidFill>
                <a:latin typeface="Calibri" pitchFamily="34" charset="0"/>
                <a:ea typeface="Calibri" pitchFamily="34" charset="-122"/>
                <a:cs typeface="Calibri" pitchFamily="34" charset="-120"/>
              </a:rPr>
              <a:t>Slide 9 of 24</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31520" y="1691640"/>
          <a:ext cx="10728655" cy="4389120"/>
        </p:xfrm>
        <a:graphic>
          <a:graphicData uri="http://schemas.openxmlformats.org/drawingml/2006/table">
            <a:tbl>
              <a:tblPr/>
              <a:tblGrid>
                <a:gridCol w="2286000"/>
                <a:gridCol w="1645920"/>
                <a:gridCol w="3474720"/>
                <a:gridCol w="3322015"/>
              </a:tblGrid>
              <a:tr h="877824">
                <a:tc>
                  <a:txBody>
                    <a:bodyPr/>
                    <a:lstStyle/>
                    <a:p>
                      <a:pPr algn="l" indent="0" marL="0">
                        <a:buNone/>
                      </a:pPr>
                      <a:r>
                        <a:rPr lang="en-US" sz="1200" b="1" dirty="0">
                          <a:solidFill>
                            <a:srgbClr val="FFFFFF"/>
                          </a:solidFill>
                        </a:rPr>
                        <a:t>Source Database</a:t>
                      </a:r>
                      <a:endParaRPr lang="en-US" sz="12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293B"/>
                    </a:solidFill>
                  </a:tcPr>
                </a:tc>
                <a:tc>
                  <a:txBody>
                    <a:bodyPr/>
                    <a:lstStyle/>
                    <a:p>
                      <a:pPr algn="l" indent="0" marL="0">
                        <a:buNone/>
                      </a:pPr>
                      <a:r>
                        <a:rPr lang="en-US" sz="1200" b="1" dirty="0">
                          <a:solidFill>
                            <a:srgbClr val="FFFFFF"/>
                          </a:solidFill>
                        </a:rPr>
                        <a:t>Total Variants</a:t>
                      </a:r>
                      <a:endParaRPr lang="en-US" sz="12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293B"/>
                    </a:solidFill>
                  </a:tcPr>
                </a:tc>
                <a:tc>
                  <a:txBody>
                    <a:bodyPr/>
                    <a:lstStyle/>
                    <a:p>
                      <a:pPr algn="l" indent="0" marL="0">
                        <a:buNone/>
                      </a:pPr>
                      <a:r>
                        <a:rPr lang="en-US" sz="1200" b="1" dirty="0">
                          <a:solidFill>
                            <a:srgbClr val="FFFFFF"/>
                          </a:solidFill>
                        </a:rPr>
                        <a:t>Variant Types Included</a:t>
                      </a:r>
                      <a:endParaRPr lang="en-US" sz="12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293B"/>
                    </a:solidFill>
                  </a:tcPr>
                </a:tc>
                <a:tc>
                  <a:txBody>
                    <a:bodyPr/>
                    <a:lstStyle/>
                    <a:p>
                      <a:pPr algn="l" indent="0" marL="0">
                        <a:buNone/>
                      </a:pPr>
                      <a:r>
                        <a:rPr lang="en-US" sz="1200" b="1" dirty="0">
                          <a:solidFill>
                            <a:srgbClr val="FFFFFF"/>
                          </a:solidFill>
                        </a:rPr>
                        <a:t>What We Used It For</a:t>
                      </a:r>
                      <a:endParaRPr lang="en-US" sz="12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293B"/>
                    </a:solidFill>
                  </a:tcPr>
                </a:tc>
              </a:tr>
              <a:tr h="877824">
                <a:tc>
                  <a:txBody>
                    <a:bodyPr/>
                    <a:lstStyle/>
                    <a:p>
                      <a:pPr algn="l" indent="0" marL="0">
                        <a:buNone/>
                      </a:pPr>
                      <a:r>
                        <a:rPr lang="en-US" sz="1150" b="1" dirty="0">
                          <a:solidFill>
                            <a:srgbClr val="0F172A"/>
                          </a:solidFill>
                        </a:rPr>
                        <a:t>NCBI ClinVar (2024)</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l" indent="0" marL="0">
                        <a:buNone/>
                      </a:pPr>
                      <a:r>
                        <a:rPr lang="en-US" sz="1150" b="1" dirty="0">
                          <a:solidFill>
                            <a:srgbClr val="334155"/>
                          </a:solidFill>
                        </a:rPr>
                        <a:t>101,232 SVs</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l" indent="0" marL="0">
                        <a:buNone/>
                      </a:pPr>
                      <a:r>
                        <a:rPr lang="en-US" sz="1100" dirty="0">
                          <a:solidFill>
                            <a:srgbClr val="334155"/>
                          </a:solidFill>
                        </a:rPr>
                        <a:t>Deletions, Duplications, Inversions, Insertions</a:t>
                      </a:r>
                      <a:endParaRPr lang="en-US" sz="11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l" indent="0" marL="0">
                        <a:buNone/>
                      </a:pPr>
                      <a:r>
                        <a:rPr lang="en-US" sz="1100" dirty="0">
                          <a:solidFill>
                            <a:srgbClr val="334155"/>
                          </a:solidFill>
                        </a:rPr>
                        <a:t>Doctor-verified labels (1 = Disease-causing, 0 = Harmless).</a:t>
                      </a:r>
                      <a:endParaRPr lang="en-US" sz="11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877824">
                <a:tc>
                  <a:txBody>
                    <a:bodyPr/>
                    <a:lstStyle/>
                    <a:p>
                      <a:pPr algn="l" indent="0" marL="0">
                        <a:buNone/>
                      </a:pPr>
                      <a:r>
                        <a:rPr lang="en-US" sz="1150" b="1" dirty="0">
                          <a:solidFill>
                            <a:srgbClr val="0F172A"/>
                          </a:solidFill>
                        </a:rPr>
                        <a:t>gnomAD SV v2.1</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l" indent="0" marL="0">
                        <a:buNone/>
                      </a:pPr>
                      <a:r>
                        <a:rPr lang="en-US" sz="1150" b="1" dirty="0">
                          <a:solidFill>
                            <a:srgbClr val="334155"/>
                          </a:solidFill>
                        </a:rPr>
                        <a:t>387,700 SVs</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l" indent="0" marL="0">
                        <a:buNone/>
                      </a:pPr>
                      <a:r>
                        <a:rPr lang="en-US" sz="1100" dirty="0">
                          <a:solidFill>
                            <a:srgbClr val="334155"/>
                          </a:solidFill>
                        </a:rPr>
                        <a:t>Sequenced from 15,000 healthy individuals worldwide</a:t>
                      </a:r>
                      <a:endParaRPr lang="en-US" sz="11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l" indent="0" marL="0">
                        <a:buNone/>
                      </a:pPr>
                      <a:r>
                        <a:rPr lang="en-US" sz="1100" dirty="0">
                          <a:solidFill>
                            <a:srgbClr val="334155"/>
                          </a:solidFill>
                        </a:rPr>
                        <a:t>Baseline population frequencies (to check how rare a variant is in healthy humans).</a:t>
                      </a:r>
                      <a:endParaRPr lang="en-US" sz="11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877824">
                <a:tc>
                  <a:txBody>
                    <a:bodyPr/>
                    <a:lstStyle/>
                    <a:p>
                      <a:pPr algn="l" indent="0" marL="0">
                        <a:buNone/>
                      </a:pPr>
                      <a:r>
                        <a:rPr lang="en-US" sz="1150" b="1" dirty="0">
                          <a:solidFill>
                            <a:srgbClr val="0F172A"/>
                          </a:solidFill>
                        </a:rPr>
                        <a:t>1000 Genomes Project</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l" indent="0" marL="0">
                        <a:buNone/>
                      </a:pPr>
                      <a:r>
                        <a:rPr lang="en-US" sz="1150" b="1" dirty="0">
                          <a:solidFill>
                            <a:srgbClr val="334155"/>
                          </a:solidFill>
                        </a:rPr>
                        <a:t>68,818 SVs</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l" indent="0" marL="0">
                        <a:buNone/>
                      </a:pPr>
                      <a:r>
                        <a:rPr lang="en-US" sz="1100" dirty="0">
                          <a:solidFill>
                            <a:srgbClr val="334155"/>
                          </a:solidFill>
                        </a:rPr>
                        <a:t>Diverse population samples from across the globe</a:t>
                      </a:r>
                      <a:endParaRPr lang="en-US" sz="11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l" indent="0" marL="0">
                        <a:buNone/>
                      </a:pPr>
                      <a:r>
                        <a:rPr lang="en-US" sz="1100" dirty="0">
                          <a:solidFill>
                            <a:srgbClr val="334155"/>
                          </a:solidFill>
                        </a:rPr>
                        <a:t>Independent cross-checking to confirm harmless common mutations.</a:t>
                      </a:r>
                      <a:endParaRPr lang="en-US" sz="11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877824">
                <a:tc>
                  <a:txBody>
                    <a:bodyPr/>
                    <a:lstStyle/>
                    <a:p>
                      <a:pPr algn="l" indent="0" marL="0">
                        <a:buNone/>
                      </a:pPr>
                      <a:r>
                        <a:rPr lang="en-US" sz="1200" b="1" dirty="0">
                          <a:solidFill>
                            <a:srgbClr val="2563EB"/>
                          </a:solidFill>
                        </a:rPr>
                        <a:t>Our Harmonized Dataset</a:t>
                      </a:r>
                      <a:endParaRPr lang="en-US" sz="12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EFF6FF"/>
                    </a:solidFill>
                  </a:tcPr>
                </a:tc>
                <a:tc>
                  <a:txBody>
                    <a:bodyPr/>
                    <a:lstStyle/>
                    <a:p>
                      <a:pPr algn="l" indent="0" marL="0">
                        <a:buNone/>
                      </a:pPr>
                      <a:r>
                        <a:rPr lang="en-US" sz="1200" b="1" dirty="0">
                          <a:solidFill>
                            <a:srgbClr val="2563EB"/>
                          </a:solidFill>
                        </a:rPr>
                        <a:t>44,268 SVs</a:t>
                      </a:r>
                      <a:endParaRPr lang="en-US" sz="12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EFF6FF"/>
                    </a:solidFill>
                  </a:tcPr>
                </a:tc>
                <a:tc>
                  <a:txBody>
                    <a:bodyPr/>
                    <a:lstStyle/>
                    <a:p>
                      <a:pPr algn="l" indent="0" marL="0">
                        <a:buNone/>
                      </a:pPr>
                      <a:r>
                        <a:rPr lang="en-US" sz="1150" dirty="0">
                          <a:solidFill>
                            <a:srgbClr val="2563EB"/>
                          </a:solidFill>
                        </a:rPr>
                        <a:t>High-confidence labeled mutations (&gt;= 50 bp)</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EFF6FF"/>
                    </a:solidFill>
                  </a:tcPr>
                </a:tc>
                <a:tc>
                  <a:txBody>
                    <a:bodyPr/>
                    <a:lstStyle/>
                    <a:p>
                      <a:pPr algn="l" indent="0" marL="0">
                        <a:buNone/>
                      </a:pPr>
                      <a:r>
                        <a:rPr lang="en-US" sz="1150" b="1" dirty="0">
                          <a:solidFill>
                            <a:srgbClr val="2563EB"/>
                          </a:solidFill>
                        </a:rPr>
                        <a:t>35,414 Training (Chr 1-18) / 8,854 Unseen Test (Chr 19-22, X, Y).</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EFF6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47472"/>
            <a:ext cx="10728655" cy="256032"/>
          </a:xfrm>
          <a:prstGeom prst="rect">
            <a:avLst/>
          </a:prstGeom>
          <a:noFill/>
          <a:ln/>
        </p:spPr>
        <p:txBody>
          <a:bodyPr wrap="square" rtlCol="0" anchor="ctr"/>
          <a:lstStyle/>
          <a:p>
            <a:pPr indent="0" marL="0">
              <a:buNone/>
            </a:pPr>
            <a:r>
              <a:rPr lang="en-US" sz="1200" b="1" dirty="0">
                <a:solidFill>
                  <a:srgbClr val="2563EB"/>
                </a:solidFill>
                <a:latin typeface="Calibri" pitchFamily="34" charset="0"/>
                <a:ea typeface="Calibri" pitchFamily="34" charset="-122"/>
                <a:cs typeface="Calibri" pitchFamily="34" charset="-120"/>
              </a:rPr>
              <a:t>DATA ENGINEERING</a:t>
            </a:r>
            <a:endParaRPr lang="en-US" sz="1200" dirty="0"/>
          </a:p>
        </p:txBody>
      </p:sp>
      <p:sp>
        <p:nvSpPr>
          <p:cNvPr id="3" name="Text 1"/>
          <p:cNvSpPr/>
          <p:nvPr/>
        </p:nvSpPr>
        <p:spPr>
          <a:xfrm>
            <a:off x="731520" y="621792"/>
            <a:ext cx="10728655" cy="45720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Data Preprocessing and Harmonization</a:t>
            </a:r>
            <a:endParaRPr lang="en-US" sz="2200" dirty="0"/>
          </a:p>
        </p:txBody>
      </p:sp>
      <p:sp>
        <p:nvSpPr>
          <p:cNvPr id="4" name="Text 2"/>
          <p:cNvSpPr/>
          <p:nvPr/>
        </p:nvSpPr>
        <p:spPr>
          <a:xfrm>
            <a:off x="731520" y="1097280"/>
            <a:ext cx="10728655" cy="292608"/>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Standardizing different database coordinates and matching overlapping genomic regions</a:t>
            </a:r>
            <a:endParaRPr lang="en-US" sz="1400" dirty="0"/>
          </a:p>
        </p:txBody>
      </p:sp>
      <p:sp>
        <p:nvSpPr>
          <p:cNvPr id="5" name="Shape 3"/>
          <p:cNvSpPr/>
          <p:nvPr/>
        </p:nvSpPr>
        <p:spPr>
          <a:xfrm>
            <a:off x="731520" y="1426464"/>
            <a:ext cx="10728655" cy="0"/>
          </a:xfrm>
          <a:prstGeom prst="line">
            <a:avLst/>
          </a:prstGeom>
          <a:noFill/>
          <a:ln w="12700">
            <a:solidFill>
              <a:srgbClr val="CBD5E1"/>
            </a:solidFill>
            <a:prstDash val="solid"/>
          </a:ln>
        </p:spPr>
      </p:sp>
      <p:sp>
        <p:nvSpPr>
          <p:cNvPr id="6" name="Text 4"/>
          <p:cNvSpPr/>
          <p:nvPr/>
        </p:nvSpPr>
        <p:spPr>
          <a:xfrm>
            <a:off x="731520" y="6355080"/>
            <a:ext cx="7772400" cy="29260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Department of Artificial Intelligence  |  Final Project Review  |  Amrita Vishwa Vidyapeetham</a:t>
            </a:r>
            <a:endParaRPr lang="en-US" sz="1100" dirty="0"/>
          </a:p>
        </p:txBody>
      </p:sp>
      <p:sp>
        <p:nvSpPr>
          <p:cNvPr id="7" name="Text 5"/>
          <p:cNvSpPr/>
          <p:nvPr/>
        </p:nvSpPr>
        <p:spPr>
          <a:xfrm>
            <a:off x="9448495" y="6355080"/>
            <a:ext cx="2011680" cy="292608"/>
          </a:xfrm>
          <a:prstGeom prst="rect">
            <a:avLst/>
          </a:prstGeom>
          <a:noFill/>
          <a:ln/>
        </p:spPr>
        <p:txBody>
          <a:bodyPr wrap="square" rtlCol="0" anchor="ctr"/>
          <a:lstStyle/>
          <a:p>
            <a:pPr algn="r" indent="0" marL="0">
              <a:buNone/>
            </a:pPr>
            <a:r>
              <a:rPr lang="en-US" sz="1100" dirty="0">
                <a:solidFill>
                  <a:srgbClr val="64748B"/>
                </a:solidFill>
                <a:latin typeface="Calibri" pitchFamily="34" charset="0"/>
                <a:ea typeface="Calibri" pitchFamily="34" charset="-122"/>
                <a:cs typeface="Calibri" pitchFamily="34" charset="-120"/>
              </a:rPr>
              <a:t>Slide 10 of 24</a:t>
            </a:r>
            <a:endParaRPr lang="en-US" sz="1100" dirty="0"/>
          </a:p>
        </p:txBody>
      </p:sp>
      <p:sp>
        <p:nvSpPr>
          <p:cNvPr id="8" name="Shape 6"/>
          <p:cNvSpPr/>
          <p:nvPr/>
        </p:nvSpPr>
        <p:spPr>
          <a:xfrm>
            <a:off x="731520" y="1691640"/>
            <a:ext cx="3393338" cy="4389120"/>
          </a:xfrm>
          <a:prstGeom prst="roundRect">
            <a:avLst>
              <a:gd name="adj" fmla="val 2156"/>
            </a:avLst>
          </a:prstGeom>
          <a:solidFill>
            <a:srgbClr val="FFFFFF"/>
          </a:solidFill>
          <a:ln w="12700">
            <a:solidFill>
              <a:srgbClr val="CBD5E1"/>
            </a:solidFill>
            <a:prstDash val="solid"/>
          </a:ln>
        </p:spPr>
      </p:sp>
      <p:sp>
        <p:nvSpPr>
          <p:cNvPr id="9" name="Text 7"/>
          <p:cNvSpPr/>
          <p:nvPr/>
        </p:nvSpPr>
        <p:spPr>
          <a:xfrm>
            <a:off x="1005840" y="1965960"/>
            <a:ext cx="2844698" cy="5943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Standardizing Coordinates</a:t>
            </a:r>
            <a:endParaRPr lang="en-US" sz="1800" dirty="0"/>
          </a:p>
        </p:txBody>
      </p:sp>
      <p:sp>
        <p:nvSpPr>
          <p:cNvPr id="10" name="Text 8"/>
          <p:cNvSpPr/>
          <p:nvPr/>
        </p:nvSpPr>
        <p:spPr>
          <a:xfrm>
            <a:off x="1005840" y="2560320"/>
            <a:ext cx="2844698" cy="256032"/>
          </a:xfrm>
          <a:prstGeom prst="rect">
            <a:avLst/>
          </a:prstGeom>
          <a:noFill/>
          <a:ln/>
        </p:spPr>
        <p:txBody>
          <a:bodyPr wrap="square" lIns="0" tIns="0" rIns="0" bIns="0" rtlCol="0" anchor="ctr"/>
          <a:lstStyle/>
          <a:p>
            <a:pPr indent="0" marL="0">
              <a:buNone/>
            </a:pPr>
            <a:r>
              <a:rPr lang="en-US" sz="1250" b="1" dirty="0">
                <a:solidFill>
                  <a:srgbClr val="2563EB"/>
                </a:solidFill>
                <a:latin typeface="Calibri" pitchFamily="34" charset="0"/>
                <a:ea typeface="Calibri" pitchFamily="34" charset="-122"/>
                <a:cs typeface="Calibri" pitchFamily="34" charset="-120"/>
              </a:rPr>
              <a:t>GRCh38 Reference Genome</a:t>
            </a:r>
            <a:endParaRPr lang="en-US" sz="1250" dirty="0"/>
          </a:p>
        </p:txBody>
      </p:sp>
      <p:sp>
        <p:nvSpPr>
          <p:cNvPr id="11" name="Shape 9"/>
          <p:cNvSpPr/>
          <p:nvPr/>
        </p:nvSpPr>
        <p:spPr>
          <a:xfrm>
            <a:off x="1005840" y="2880360"/>
            <a:ext cx="2844698" cy="0"/>
          </a:xfrm>
          <a:prstGeom prst="line">
            <a:avLst/>
          </a:prstGeom>
          <a:noFill/>
          <a:ln w="12700">
            <a:solidFill>
              <a:srgbClr val="CBD5E1"/>
            </a:solidFill>
            <a:prstDash val="solid"/>
          </a:ln>
        </p:spPr>
      </p:sp>
      <p:sp>
        <p:nvSpPr>
          <p:cNvPr id="12" name="Text 10"/>
          <p:cNvSpPr/>
          <p:nvPr/>
        </p:nvSpPr>
        <p:spPr>
          <a:xfrm>
            <a:off x="1005840" y="3063240"/>
            <a:ext cx="2844698" cy="2743200"/>
          </a:xfrm>
          <a:prstGeom prst="rect">
            <a:avLst/>
          </a:prstGeom>
          <a:noFill/>
          <a:ln/>
        </p:spPr>
        <p:txBody>
          <a:bodyPr wrap="square" lIns="0" tIns="0" rIns="0" bIns="0" rtlCol="0" anchor="ctr"/>
          <a:lstStyle/>
          <a:p>
            <a:pPr indent="0" marL="0">
              <a:lnSpc>
                <a:spcPct val="125000"/>
              </a:lnSpc>
              <a:buNone/>
            </a:pPr>
            <a:r>
              <a:rPr lang="en-US" sz="1350" dirty="0">
                <a:solidFill>
                  <a:srgbClr val="334155"/>
                </a:solidFill>
                <a:latin typeface="Calibri" pitchFamily="34" charset="0"/>
                <a:ea typeface="Calibri" pitchFamily="34" charset="-122"/>
                <a:cs typeface="Calibri" pitchFamily="34" charset="-120"/>
              </a:rPr>
              <a:t>All coordinates were converted to the latest human reference genome (GRCh38). Chromosome names were standardized (Chr 1 to 22, X, Y), and unplaced fragments were pruned.</a:t>
            </a:r>
            <a:endParaRPr lang="en-US" sz="1350" dirty="0"/>
          </a:p>
        </p:txBody>
      </p:sp>
      <p:sp>
        <p:nvSpPr>
          <p:cNvPr id="13" name="Shape 11"/>
          <p:cNvSpPr/>
          <p:nvPr/>
        </p:nvSpPr>
        <p:spPr>
          <a:xfrm>
            <a:off x="4399178" y="1691640"/>
            <a:ext cx="3393338" cy="4389120"/>
          </a:xfrm>
          <a:prstGeom prst="roundRect">
            <a:avLst>
              <a:gd name="adj" fmla="val 2156"/>
            </a:avLst>
          </a:prstGeom>
          <a:solidFill>
            <a:srgbClr val="FFFFFF"/>
          </a:solidFill>
          <a:ln w="12700">
            <a:solidFill>
              <a:srgbClr val="CBD5E1"/>
            </a:solidFill>
            <a:prstDash val="solid"/>
          </a:ln>
        </p:spPr>
      </p:sp>
      <p:sp>
        <p:nvSpPr>
          <p:cNvPr id="14" name="Text 12"/>
          <p:cNvSpPr/>
          <p:nvPr/>
        </p:nvSpPr>
        <p:spPr>
          <a:xfrm>
            <a:off x="4673498" y="1965960"/>
            <a:ext cx="2844698" cy="5943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50% Reciprocal Overlap</a:t>
            </a:r>
            <a:endParaRPr lang="en-US" sz="1800" dirty="0"/>
          </a:p>
        </p:txBody>
      </p:sp>
      <p:sp>
        <p:nvSpPr>
          <p:cNvPr id="15" name="Text 13"/>
          <p:cNvSpPr/>
          <p:nvPr/>
        </p:nvSpPr>
        <p:spPr>
          <a:xfrm>
            <a:off x="4673498" y="2560320"/>
            <a:ext cx="2844698" cy="256032"/>
          </a:xfrm>
          <a:prstGeom prst="rect">
            <a:avLst/>
          </a:prstGeom>
          <a:noFill/>
          <a:ln/>
        </p:spPr>
        <p:txBody>
          <a:bodyPr wrap="square" lIns="0" tIns="0" rIns="0" bIns="0" rtlCol="0" anchor="ctr"/>
          <a:lstStyle/>
          <a:p>
            <a:pPr indent="0" marL="0">
              <a:buNone/>
            </a:pPr>
            <a:r>
              <a:rPr lang="en-US" sz="1250" b="1" dirty="0">
                <a:solidFill>
                  <a:srgbClr val="7C3AED"/>
                </a:solidFill>
                <a:latin typeface="Calibri" pitchFamily="34" charset="0"/>
                <a:ea typeface="Calibri" pitchFamily="34" charset="-122"/>
                <a:cs typeface="Calibri" pitchFamily="34" charset="-120"/>
              </a:rPr>
              <a:t>Preventing False Matches</a:t>
            </a:r>
            <a:endParaRPr lang="en-US" sz="1250" dirty="0"/>
          </a:p>
        </p:txBody>
      </p:sp>
      <p:sp>
        <p:nvSpPr>
          <p:cNvPr id="16" name="Shape 14"/>
          <p:cNvSpPr/>
          <p:nvPr/>
        </p:nvSpPr>
        <p:spPr>
          <a:xfrm>
            <a:off x="4673498" y="2880360"/>
            <a:ext cx="2844698" cy="0"/>
          </a:xfrm>
          <a:prstGeom prst="line">
            <a:avLst/>
          </a:prstGeom>
          <a:noFill/>
          <a:ln w="12700">
            <a:solidFill>
              <a:srgbClr val="CBD5E1"/>
            </a:solidFill>
            <a:prstDash val="solid"/>
          </a:ln>
        </p:spPr>
      </p:sp>
      <p:sp>
        <p:nvSpPr>
          <p:cNvPr id="17" name="Text 15"/>
          <p:cNvSpPr/>
          <p:nvPr/>
        </p:nvSpPr>
        <p:spPr>
          <a:xfrm>
            <a:off x="4673498" y="3063240"/>
            <a:ext cx="2844698" cy="2743200"/>
          </a:xfrm>
          <a:prstGeom prst="rect">
            <a:avLst/>
          </a:prstGeom>
          <a:noFill/>
          <a:ln/>
        </p:spPr>
        <p:txBody>
          <a:bodyPr wrap="square" lIns="0" tIns="0" rIns="0" bIns="0" rtlCol="0" anchor="ctr"/>
          <a:lstStyle/>
          <a:p>
            <a:pPr indent="0" marL="0">
              <a:lnSpc>
                <a:spcPct val="125000"/>
              </a:lnSpc>
              <a:buNone/>
            </a:pPr>
            <a:r>
              <a:rPr lang="en-US" sz="1350" dirty="0">
                <a:solidFill>
                  <a:srgbClr val="334155"/>
                </a:solidFill>
                <a:latin typeface="Calibri" pitchFamily="34" charset="0"/>
                <a:ea typeface="Calibri" pitchFamily="34" charset="-122"/>
                <a:cs typeface="Calibri" pitchFamily="34" charset="-120"/>
              </a:rPr>
              <a:t>Variants from patient files and gnomAD are matched only if they share at least 50% of their DNA length. This prevents accidentally matching two different neighboring mutations.</a:t>
            </a:r>
            <a:endParaRPr lang="en-US" sz="1350" dirty="0"/>
          </a:p>
        </p:txBody>
      </p:sp>
      <p:sp>
        <p:nvSpPr>
          <p:cNvPr id="18" name="Shape 16"/>
          <p:cNvSpPr/>
          <p:nvPr/>
        </p:nvSpPr>
        <p:spPr>
          <a:xfrm>
            <a:off x="8066837" y="1691640"/>
            <a:ext cx="3393338" cy="4389120"/>
          </a:xfrm>
          <a:prstGeom prst="roundRect">
            <a:avLst>
              <a:gd name="adj" fmla="val 2156"/>
            </a:avLst>
          </a:prstGeom>
          <a:solidFill>
            <a:srgbClr val="FFFFFF"/>
          </a:solidFill>
          <a:ln w="12700">
            <a:solidFill>
              <a:srgbClr val="CBD5E1"/>
            </a:solidFill>
            <a:prstDash val="solid"/>
          </a:ln>
        </p:spPr>
      </p:sp>
      <p:sp>
        <p:nvSpPr>
          <p:cNvPr id="19" name="Text 17"/>
          <p:cNvSpPr/>
          <p:nvPr/>
        </p:nvSpPr>
        <p:spPr>
          <a:xfrm>
            <a:off x="8341157" y="1965960"/>
            <a:ext cx="2844698" cy="5943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Binary Label Mapping</a:t>
            </a:r>
            <a:endParaRPr lang="en-US" sz="1800" dirty="0"/>
          </a:p>
        </p:txBody>
      </p:sp>
      <p:sp>
        <p:nvSpPr>
          <p:cNvPr id="20" name="Text 18"/>
          <p:cNvSpPr/>
          <p:nvPr/>
        </p:nvSpPr>
        <p:spPr>
          <a:xfrm>
            <a:off x="8341157" y="2560320"/>
            <a:ext cx="2844698" cy="256032"/>
          </a:xfrm>
          <a:prstGeom prst="rect">
            <a:avLst/>
          </a:prstGeom>
          <a:noFill/>
          <a:ln/>
        </p:spPr>
        <p:txBody>
          <a:bodyPr wrap="square" lIns="0" tIns="0" rIns="0" bIns="0" rtlCol="0" anchor="ctr"/>
          <a:lstStyle/>
          <a:p>
            <a:pPr indent="0" marL="0">
              <a:buNone/>
            </a:pPr>
            <a:r>
              <a:rPr lang="en-US" sz="1250" b="1" dirty="0">
                <a:solidFill>
                  <a:srgbClr val="059669"/>
                </a:solidFill>
                <a:latin typeface="Calibri" pitchFamily="34" charset="0"/>
                <a:ea typeface="Calibri" pitchFamily="34" charset="-122"/>
                <a:cs typeface="Calibri" pitchFamily="34" charset="-120"/>
              </a:rPr>
              <a:t>Ground Truth Formulation</a:t>
            </a:r>
            <a:endParaRPr lang="en-US" sz="1250" dirty="0"/>
          </a:p>
        </p:txBody>
      </p:sp>
      <p:sp>
        <p:nvSpPr>
          <p:cNvPr id="21" name="Shape 19"/>
          <p:cNvSpPr/>
          <p:nvPr/>
        </p:nvSpPr>
        <p:spPr>
          <a:xfrm>
            <a:off x="8341157" y="2880360"/>
            <a:ext cx="2844698" cy="0"/>
          </a:xfrm>
          <a:prstGeom prst="line">
            <a:avLst/>
          </a:prstGeom>
          <a:noFill/>
          <a:ln w="12700">
            <a:solidFill>
              <a:srgbClr val="CBD5E1"/>
            </a:solidFill>
            <a:prstDash val="solid"/>
          </a:ln>
        </p:spPr>
      </p:sp>
      <p:sp>
        <p:nvSpPr>
          <p:cNvPr id="22" name="Text 20"/>
          <p:cNvSpPr/>
          <p:nvPr/>
        </p:nvSpPr>
        <p:spPr>
          <a:xfrm>
            <a:off x="8341157" y="3063240"/>
            <a:ext cx="2844698" cy="2743200"/>
          </a:xfrm>
          <a:prstGeom prst="rect">
            <a:avLst/>
          </a:prstGeom>
          <a:noFill/>
          <a:ln/>
        </p:spPr>
        <p:txBody>
          <a:bodyPr wrap="square" lIns="0" tIns="0" rIns="0" bIns="0" rtlCol="0" anchor="ctr"/>
          <a:lstStyle/>
          <a:p>
            <a:pPr indent="0" marL="0">
              <a:lnSpc>
                <a:spcPct val="125000"/>
              </a:lnSpc>
              <a:buNone/>
            </a:pPr>
            <a:r>
              <a:rPr lang="en-US" sz="1350" dirty="0">
                <a:solidFill>
                  <a:srgbClr val="334155"/>
                </a:solidFill>
                <a:latin typeface="Calibri" pitchFamily="34" charset="0"/>
                <a:ea typeface="Calibri" pitchFamily="34" charset="-122"/>
                <a:cs typeface="Calibri" pitchFamily="34" charset="-120"/>
              </a:rPr>
              <a:t>ClinVar labels were cleanly grouped into binary ground truth: 1 = Disease-Causing (Pathogenic), 0 = Harmless (Benign). 34,466 uncertain variants were saved for real-world testing.</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47472"/>
            <a:ext cx="10728655" cy="256032"/>
          </a:xfrm>
          <a:prstGeom prst="rect">
            <a:avLst/>
          </a:prstGeom>
          <a:noFill/>
          <a:ln/>
        </p:spPr>
        <p:txBody>
          <a:bodyPr wrap="square" rtlCol="0" anchor="ctr"/>
          <a:lstStyle/>
          <a:p>
            <a:pPr indent="0" marL="0">
              <a:buNone/>
            </a:pPr>
            <a:r>
              <a:rPr lang="en-US" sz="1200" b="1" dirty="0">
                <a:solidFill>
                  <a:srgbClr val="2563EB"/>
                </a:solidFill>
                <a:latin typeface="Calibri" pitchFamily="34" charset="0"/>
                <a:ea typeface="Calibri" pitchFamily="34" charset="-122"/>
                <a:cs typeface="Calibri" pitchFamily="34" charset="-120"/>
              </a:rPr>
              <a:t>GENOMIC ANALYSIS</a:t>
            </a:r>
            <a:endParaRPr lang="en-US" sz="1200" dirty="0"/>
          </a:p>
        </p:txBody>
      </p:sp>
      <p:sp>
        <p:nvSpPr>
          <p:cNvPr id="3" name="Text 1"/>
          <p:cNvSpPr/>
          <p:nvPr/>
        </p:nvSpPr>
        <p:spPr>
          <a:xfrm>
            <a:off x="731520" y="621792"/>
            <a:ext cx="10728655" cy="45720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Exploratory Genomic Data Analysis</a:t>
            </a:r>
            <a:endParaRPr lang="en-US" sz="2200" dirty="0"/>
          </a:p>
        </p:txBody>
      </p:sp>
      <p:sp>
        <p:nvSpPr>
          <p:cNvPr id="4" name="Text 2"/>
          <p:cNvSpPr/>
          <p:nvPr/>
        </p:nvSpPr>
        <p:spPr>
          <a:xfrm>
            <a:off x="731520" y="1097280"/>
            <a:ext cx="10728655" cy="292608"/>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Key biological patterns that give machine learning models a strong predictive signal</a:t>
            </a:r>
            <a:endParaRPr lang="en-US" sz="1400" dirty="0"/>
          </a:p>
        </p:txBody>
      </p:sp>
      <p:sp>
        <p:nvSpPr>
          <p:cNvPr id="5" name="Shape 3"/>
          <p:cNvSpPr/>
          <p:nvPr/>
        </p:nvSpPr>
        <p:spPr>
          <a:xfrm>
            <a:off x="731520" y="1426464"/>
            <a:ext cx="10728655" cy="0"/>
          </a:xfrm>
          <a:prstGeom prst="line">
            <a:avLst/>
          </a:prstGeom>
          <a:noFill/>
          <a:ln w="12700">
            <a:solidFill>
              <a:srgbClr val="CBD5E1"/>
            </a:solidFill>
            <a:prstDash val="solid"/>
          </a:ln>
        </p:spPr>
      </p:sp>
      <p:sp>
        <p:nvSpPr>
          <p:cNvPr id="6" name="Text 4"/>
          <p:cNvSpPr/>
          <p:nvPr/>
        </p:nvSpPr>
        <p:spPr>
          <a:xfrm>
            <a:off x="731520" y="6355080"/>
            <a:ext cx="7772400" cy="29260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Department of Artificial Intelligence  |  Final Project Review  |  Amrita Vishwa Vidyapeetham</a:t>
            </a:r>
            <a:endParaRPr lang="en-US" sz="1100" dirty="0"/>
          </a:p>
        </p:txBody>
      </p:sp>
      <p:sp>
        <p:nvSpPr>
          <p:cNvPr id="7" name="Text 5"/>
          <p:cNvSpPr/>
          <p:nvPr/>
        </p:nvSpPr>
        <p:spPr>
          <a:xfrm>
            <a:off x="9448495" y="6355080"/>
            <a:ext cx="2011680" cy="292608"/>
          </a:xfrm>
          <a:prstGeom prst="rect">
            <a:avLst/>
          </a:prstGeom>
          <a:noFill/>
          <a:ln/>
        </p:spPr>
        <p:txBody>
          <a:bodyPr wrap="square" rtlCol="0" anchor="ctr"/>
          <a:lstStyle/>
          <a:p>
            <a:pPr algn="r" indent="0" marL="0">
              <a:buNone/>
            </a:pPr>
            <a:r>
              <a:rPr lang="en-US" sz="1100" dirty="0">
                <a:solidFill>
                  <a:srgbClr val="64748B"/>
                </a:solidFill>
                <a:latin typeface="Calibri" pitchFamily="34" charset="0"/>
                <a:ea typeface="Calibri" pitchFamily="34" charset="-122"/>
                <a:cs typeface="Calibri" pitchFamily="34" charset="-120"/>
              </a:rPr>
              <a:t>Slide 11 of 24</a:t>
            </a:r>
            <a:endParaRPr lang="en-US" sz="1100" dirty="0"/>
          </a:p>
        </p:txBody>
      </p:sp>
      <p:sp>
        <p:nvSpPr>
          <p:cNvPr id="8" name="Shape 6"/>
          <p:cNvSpPr/>
          <p:nvPr/>
        </p:nvSpPr>
        <p:spPr>
          <a:xfrm>
            <a:off x="731520" y="1691640"/>
            <a:ext cx="3393338" cy="4389120"/>
          </a:xfrm>
          <a:prstGeom prst="roundRect">
            <a:avLst>
              <a:gd name="adj" fmla="val 2156"/>
            </a:avLst>
          </a:prstGeom>
          <a:solidFill>
            <a:srgbClr val="FFFFFF"/>
          </a:solidFill>
          <a:ln w="12700">
            <a:solidFill>
              <a:srgbClr val="CBD5E1"/>
            </a:solidFill>
            <a:prstDash val="solid"/>
          </a:ln>
        </p:spPr>
      </p:sp>
      <p:sp>
        <p:nvSpPr>
          <p:cNvPr id="9" name="Text 7"/>
          <p:cNvSpPr/>
          <p:nvPr/>
        </p:nvSpPr>
        <p:spPr>
          <a:xfrm>
            <a:off x="1005840" y="1920240"/>
            <a:ext cx="2844698" cy="347472"/>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Missing DNA is More Harmful</a:t>
            </a:r>
            <a:endParaRPr lang="en-US" sz="1800" dirty="0"/>
          </a:p>
        </p:txBody>
      </p:sp>
      <p:sp>
        <p:nvSpPr>
          <p:cNvPr id="10" name="Text 8"/>
          <p:cNvSpPr/>
          <p:nvPr/>
        </p:nvSpPr>
        <p:spPr>
          <a:xfrm>
            <a:off x="1005840" y="2267712"/>
            <a:ext cx="2844698" cy="256032"/>
          </a:xfrm>
          <a:prstGeom prst="rect">
            <a:avLst/>
          </a:prstGeom>
          <a:noFill/>
          <a:ln/>
        </p:spPr>
        <p:txBody>
          <a:bodyPr wrap="square" lIns="0" tIns="0" rIns="0" bIns="0" rtlCol="0" anchor="ctr"/>
          <a:lstStyle/>
          <a:p>
            <a:pPr indent="0" marL="0">
              <a:buNone/>
            </a:pPr>
            <a:r>
              <a:rPr lang="en-US" sz="1250" b="1" dirty="0">
                <a:solidFill>
                  <a:srgbClr val="2563EB"/>
                </a:solidFill>
                <a:latin typeface="Calibri" pitchFamily="34" charset="0"/>
                <a:ea typeface="Calibri" pitchFamily="34" charset="-122"/>
                <a:cs typeface="Calibri" pitchFamily="34" charset="-120"/>
              </a:rPr>
              <a:t>Deletions vs Duplications</a:t>
            </a:r>
            <a:endParaRPr lang="en-US" sz="1250" dirty="0"/>
          </a:p>
        </p:txBody>
      </p:sp>
      <p:sp>
        <p:nvSpPr>
          <p:cNvPr id="11" name="Shape 9"/>
          <p:cNvSpPr/>
          <p:nvPr/>
        </p:nvSpPr>
        <p:spPr>
          <a:xfrm>
            <a:off x="1005840" y="2606040"/>
            <a:ext cx="2844698" cy="0"/>
          </a:xfrm>
          <a:prstGeom prst="line">
            <a:avLst/>
          </a:prstGeom>
          <a:noFill/>
          <a:ln w="12700">
            <a:solidFill>
              <a:srgbClr val="CBD5E1"/>
            </a:solidFill>
            <a:prstDash val="solid"/>
          </a:ln>
        </p:spPr>
      </p:sp>
      <p:sp>
        <p:nvSpPr>
          <p:cNvPr id="12" name="Text 10"/>
          <p:cNvSpPr/>
          <p:nvPr/>
        </p:nvSpPr>
        <p:spPr>
          <a:xfrm>
            <a:off x="1005840" y="2788920"/>
            <a:ext cx="2844698" cy="502920"/>
          </a:xfrm>
          <a:prstGeom prst="rect">
            <a:avLst/>
          </a:prstGeom>
          <a:noFill/>
          <a:ln/>
        </p:spPr>
        <p:txBody>
          <a:bodyPr wrap="square" lIns="0" tIns="0" rIns="0" bIns="0" rtlCol="0" anchor="ctr"/>
          <a:lstStyle/>
          <a:p>
            <a:pPr indent="0" marL="0">
              <a:buNone/>
            </a:pPr>
            <a:r>
              <a:rPr lang="en-US" sz="2600" b="1" dirty="0">
                <a:solidFill>
                  <a:srgbClr val="2563EB"/>
                </a:solidFill>
                <a:latin typeface="Calibri" pitchFamily="34" charset="0"/>
                <a:ea typeface="Calibri" pitchFamily="34" charset="-122"/>
                <a:cs typeface="Calibri" pitchFamily="34" charset="-120"/>
              </a:rPr>
              <a:t>58.1%</a:t>
            </a:r>
            <a:endParaRPr lang="en-US" sz="2600" dirty="0"/>
          </a:p>
        </p:txBody>
      </p:sp>
      <p:sp>
        <p:nvSpPr>
          <p:cNvPr id="13" name="Text 11"/>
          <p:cNvSpPr/>
          <p:nvPr/>
        </p:nvSpPr>
        <p:spPr>
          <a:xfrm>
            <a:off x="1005840" y="3310128"/>
            <a:ext cx="2844698" cy="256032"/>
          </a:xfrm>
          <a:prstGeom prst="rect">
            <a:avLst/>
          </a:prstGeom>
          <a:noFill/>
          <a:ln/>
        </p:spPr>
        <p:txBody>
          <a:bodyPr wrap="square" lIns="0" tIns="0" rIns="0" bIns="0" rtlCol="0" anchor="ctr"/>
          <a:lstStyle/>
          <a:p>
            <a:pPr indent="0" marL="0">
              <a:buNone/>
            </a:pPr>
            <a:r>
              <a:rPr lang="en-US" sz="1150" b="1" dirty="0">
                <a:solidFill>
                  <a:srgbClr val="64748B"/>
                </a:solidFill>
                <a:latin typeface="Calibri" pitchFamily="34" charset="0"/>
                <a:ea typeface="Calibri" pitchFamily="34" charset="-122"/>
                <a:cs typeface="Calibri" pitchFamily="34" charset="-120"/>
              </a:rPr>
              <a:t>Deletions in Disease Variants</a:t>
            </a:r>
            <a:endParaRPr lang="en-US" sz="1150" dirty="0"/>
          </a:p>
        </p:txBody>
      </p:sp>
      <p:sp>
        <p:nvSpPr>
          <p:cNvPr id="14" name="Text 12"/>
          <p:cNvSpPr/>
          <p:nvPr/>
        </p:nvSpPr>
        <p:spPr>
          <a:xfrm>
            <a:off x="1005840" y="3703320"/>
            <a:ext cx="2844698" cy="2148840"/>
          </a:xfrm>
          <a:prstGeom prst="rect">
            <a:avLst/>
          </a:prstGeom>
          <a:noFill/>
          <a:ln/>
        </p:spPr>
        <p:txBody>
          <a:bodyPr wrap="square" lIns="0" tIns="0" rIns="0" bIns="0" rtlCol="0" anchor="ctr"/>
          <a:lstStyle/>
          <a:p>
            <a:pPr indent="0" marL="0">
              <a:lnSpc>
                <a:spcPct val="125000"/>
              </a:lnSpc>
              <a:buNone/>
            </a:pPr>
            <a:r>
              <a:rPr lang="en-US" sz="1300" dirty="0">
                <a:solidFill>
                  <a:srgbClr val="334155"/>
                </a:solidFill>
                <a:latin typeface="Calibri" pitchFamily="34" charset="0"/>
                <a:ea typeface="Calibri" pitchFamily="34" charset="-122"/>
                <a:cs typeface="Calibri" pitchFamily="34" charset="-120"/>
              </a:rPr>
              <a:t>Deletions make up 58.1% of disease-causing mutations because completely losing a DNA segment breaks essential genes. In contrast, duplications (extra copies) are often tolerated by the body and are much more likely to be harmless.</a:t>
            </a:r>
            <a:endParaRPr lang="en-US" sz="1300" dirty="0"/>
          </a:p>
        </p:txBody>
      </p:sp>
      <p:sp>
        <p:nvSpPr>
          <p:cNvPr id="15" name="Shape 13"/>
          <p:cNvSpPr/>
          <p:nvPr/>
        </p:nvSpPr>
        <p:spPr>
          <a:xfrm>
            <a:off x="4399178" y="1691640"/>
            <a:ext cx="3393338" cy="4389120"/>
          </a:xfrm>
          <a:prstGeom prst="roundRect">
            <a:avLst>
              <a:gd name="adj" fmla="val 2156"/>
            </a:avLst>
          </a:prstGeom>
          <a:solidFill>
            <a:srgbClr val="FFFFFF"/>
          </a:solidFill>
          <a:ln w="12700">
            <a:solidFill>
              <a:srgbClr val="CBD5E1"/>
            </a:solidFill>
            <a:prstDash val="solid"/>
          </a:ln>
        </p:spPr>
      </p:sp>
      <p:sp>
        <p:nvSpPr>
          <p:cNvPr id="16" name="Text 14"/>
          <p:cNvSpPr/>
          <p:nvPr/>
        </p:nvSpPr>
        <p:spPr>
          <a:xfrm>
            <a:off x="4673498" y="1920240"/>
            <a:ext cx="2844698" cy="347472"/>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Two Clear Mutation Sizes</a:t>
            </a:r>
            <a:endParaRPr lang="en-US" sz="1800" dirty="0"/>
          </a:p>
        </p:txBody>
      </p:sp>
      <p:sp>
        <p:nvSpPr>
          <p:cNvPr id="17" name="Text 15"/>
          <p:cNvSpPr/>
          <p:nvPr/>
        </p:nvSpPr>
        <p:spPr>
          <a:xfrm>
            <a:off x="4673498" y="2267712"/>
            <a:ext cx="2844698" cy="256032"/>
          </a:xfrm>
          <a:prstGeom prst="rect">
            <a:avLst/>
          </a:prstGeom>
          <a:noFill/>
          <a:ln/>
        </p:spPr>
        <p:txBody>
          <a:bodyPr wrap="square" lIns="0" tIns="0" rIns="0" bIns="0" rtlCol="0" anchor="ctr"/>
          <a:lstStyle/>
          <a:p>
            <a:pPr indent="0" marL="0">
              <a:buNone/>
            </a:pPr>
            <a:r>
              <a:rPr lang="en-US" sz="1250" b="1" dirty="0">
                <a:solidFill>
                  <a:srgbClr val="7C3AED"/>
                </a:solidFill>
                <a:latin typeface="Calibri" pitchFamily="34" charset="0"/>
                <a:ea typeface="Calibri" pitchFamily="34" charset="-122"/>
                <a:cs typeface="Calibri" pitchFamily="34" charset="-120"/>
              </a:rPr>
              <a:t>Distinct Structural Peaks</a:t>
            </a:r>
            <a:endParaRPr lang="en-US" sz="1250" dirty="0"/>
          </a:p>
        </p:txBody>
      </p:sp>
      <p:sp>
        <p:nvSpPr>
          <p:cNvPr id="18" name="Shape 16"/>
          <p:cNvSpPr/>
          <p:nvPr/>
        </p:nvSpPr>
        <p:spPr>
          <a:xfrm>
            <a:off x="4673498" y="2606040"/>
            <a:ext cx="2844698" cy="0"/>
          </a:xfrm>
          <a:prstGeom prst="line">
            <a:avLst/>
          </a:prstGeom>
          <a:noFill/>
          <a:ln w="12700">
            <a:solidFill>
              <a:srgbClr val="CBD5E1"/>
            </a:solidFill>
            <a:prstDash val="solid"/>
          </a:ln>
        </p:spPr>
      </p:sp>
      <p:sp>
        <p:nvSpPr>
          <p:cNvPr id="19" name="Text 17"/>
          <p:cNvSpPr/>
          <p:nvPr/>
        </p:nvSpPr>
        <p:spPr>
          <a:xfrm>
            <a:off x="4673498" y="2788920"/>
            <a:ext cx="2844698" cy="502920"/>
          </a:xfrm>
          <a:prstGeom prst="rect">
            <a:avLst/>
          </a:prstGeom>
          <a:noFill/>
          <a:ln/>
        </p:spPr>
        <p:txBody>
          <a:bodyPr wrap="square" lIns="0" tIns="0" rIns="0" bIns="0" rtlCol="0" anchor="ctr"/>
          <a:lstStyle/>
          <a:p>
            <a:pPr indent="0" marL="0">
              <a:buNone/>
            </a:pPr>
            <a:r>
              <a:rPr lang="en-US" sz="2600" b="1" dirty="0">
                <a:solidFill>
                  <a:srgbClr val="7C3AED"/>
                </a:solidFill>
                <a:latin typeface="Calibri" pitchFamily="34" charset="0"/>
                <a:ea typeface="Calibri" pitchFamily="34" charset="-122"/>
                <a:cs typeface="Calibri" pitchFamily="34" charset="-120"/>
              </a:rPr>
              <a:t>~300 bp &amp; ~6 kb</a:t>
            </a:r>
            <a:endParaRPr lang="en-US" sz="2600" dirty="0"/>
          </a:p>
        </p:txBody>
      </p:sp>
      <p:sp>
        <p:nvSpPr>
          <p:cNvPr id="20" name="Text 18"/>
          <p:cNvSpPr/>
          <p:nvPr/>
        </p:nvSpPr>
        <p:spPr>
          <a:xfrm>
            <a:off x="4673498" y="3310128"/>
            <a:ext cx="2844698" cy="256032"/>
          </a:xfrm>
          <a:prstGeom prst="rect">
            <a:avLst/>
          </a:prstGeom>
          <a:noFill/>
          <a:ln/>
        </p:spPr>
        <p:txBody>
          <a:bodyPr wrap="square" lIns="0" tIns="0" rIns="0" bIns="0" rtlCol="0" anchor="ctr"/>
          <a:lstStyle/>
          <a:p>
            <a:pPr indent="0" marL="0">
              <a:buNone/>
            </a:pPr>
            <a:r>
              <a:rPr lang="en-US" sz="1150" b="1" dirty="0">
                <a:solidFill>
                  <a:srgbClr val="64748B"/>
                </a:solidFill>
                <a:latin typeface="Calibri" pitchFamily="34" charset="0"/>
                <a:ea typeface="Calibri" pitchFamily="34" charset="-122"/>
                <a:cs typeface="Calibri" pitchFamily="34" charset="-120"/>
              </a:rPr>
              <a:t>Clustered Length Peaks</a:t>
            </a:r>
            <a:endParaRPr lang="en-US" sz="1150" dirty="0"/>
          </a:p>
        </p:txBody>
      </p:sp>
      <p:sp>
        <p:nvSpPr>
          <p:cNvPr id="21" name="Text 19"/>
          <p:cNvSpPr/>
          <p:nvPr/>
        </p:nvSpPr>
        <p:spPr>
          <a:xfrm>
            <a:off x="4673498" y="3703320"/>
            <a:ext cx="2844698" cy="2148840"/>
          </a:xfrm>
          <a:prstGeom prst="rect">
            <a:avLst/>
          </a:prstGeom>
          <a:noFill/>
          <a:ln/>
        </p:spPr>
        <p:txBody>
          <a:bodyPr wrap="square" lIns="0" tIns="0" rIns="0" bIns="0" rtlCol="0" anchor="ctr"/>
          <a:lstStyle/>
          <a:p>
            <a:pPr indent="0" marL="0">
              <a:lnSpc>
                <a:spcPct val="125000"/>
              </a:lnSpc>
              <a:buNone/>
            </a:pPr>
            <a:r>
              <a:rPr lang="en-US" sz="1300" dirty="0">
                <a:solidFill>
                  <a:srgbClr val="334155"/>
                </a:solidFill>
                <a:latin typeface="Calibri" pitchFamily="34" charset="0"/>
                <a:ea typeface="Calibri" pitchFamily="34" charset="-122"/>
                <a:cs typeface="Calibri" pitchFamily="34" charset="-120"/>
              </a:rPr>
              <a:t>Mutations naturally cluster into two distinct sizes: smaller jumps (~300 base pairs) and larger genomic cuts (~6,000 base pairs). This clear bimodal pattern gives our machine learning models a strong numerical signal to separate different variant types.</a:t>
            </a:r>
            <a:endParaRPr lang="en-US" sz="1300" dirty="0"/>
          </a:p>
        </p:txBody>
      </p:sp>
      <p:sp>
        <p:nvSpPr>
          <p:cNvPr id="22" name="Shape 20"/>
          <p:cNvSpPr/>
          <p:nvPr/>
        </p:nvSpPr>
        <p:spPr>
          <a:xfrm>
            <a:off x="8066837" y="1691640"/>
            <a:ext cx="3393338" cy="4389120"/>
          </a:xfrm>
          <a:prstGeom prst="roundRect">
            <a:avLst>
              <a:gd name="adj" fmla="val 2156"/>
            </a:avLst>
          </a:prstGeom>
          <a:solidFill>
            <a:srgbClr val="FFFFFF"/>
          </a:solidFill>
          <a:ln w="12700">
            <a:solidFill>
              <a:srgbClr val="CBD5E1"/>
            </a:solidFill>
            <a:prstDash val="solid"/>
          </a:ln>
        </p:spPr>
      </p:sp>
      <p:sp>
        <p:nvSpPr>
          <p:cNvPr id="23" name="Text 21"/>
          <p:cNvSpPr/>
          <p:nvPr/>
        </p:nvSpPr>
        <p:spPr>
          <a:xfrm>
            <a:off x="8341157" y="1920240"/>
            <a:ext cx="2844698" cy="347472"/>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Rarity Identifies Disease</a:t>
            </a:r>
            <a:endParaRPr lang="en-US" sz="1800" dirty="0"/>
          </a:p>
        </p:txBody>
      </p:sp>
      <p:sp>
        <p:nvSpPr>
          <p:cNvPr id="24" name="Text 22"/>
          <p:cNvSpPr/>
          <p:nvPr/>
        </p:nvSpPr>
        <p:spPr>
          <a:xfrm>
            <a:off x="8341157" y="2267712"/>
            <a:ext cx="2844698" cy="256032"/>
          </a:xfrm>
          <a:prstGeom prst="rect">
            <a:avLst/>
          </a:prstGeom>
          <a:noFill/>
          <a:ln/>
        </p:spPr>
        <p:txBody>
          <a:bodyPr wrap="square" lIns="0" tIns="0" rIns="0" bIns="0" rtlCol="0" anchor="ctr"/>
          <a:lstStyle/>
          <a:p>
            <a:pPr indent="0" marL="0">
              <a:buNone/>
            </a:pPr>
            <a:r>
              <a:rPr lang="en-US" sz="1250" b="1" dirty="0">
                <a:solidFill>
                  <a:srgbClr val="059669"/>
                </a:solidFill>
                <a:latin typeface="Calibri" pitchFamily="34" charset="0"/>
                <a:ea typeface="Calibri" pitchFamily="34" charset="-122"/>
                <a:cs typeface="Calibri" pitchFamily="34" charset="-120"/>
              </a:rPr>
              <a:t>Population Frequency Contrast</a:t>
            </a:r>
            <a:endParaRPr lang="en-US" sz="1250" dirty="0"/>
          </a:p>
        </p:txBody>
      </p:sp>
      <p:sp>
        <p:nvSpPr>
          <p:cNvPr id="25" name="Shape 23"/>
          <p:cNvSpPr/>
          <p:nvPr/>
        </p:nvSpPr>
        <p:spPr>
          <a:xfrm>
            <a:off x="8341157" y="2606040"/>
            <a:ext cx="2844698" cy="0"/>
          </a:xfrm>
          <a:prstGeom prst="line">
            <a:avLst/>
          </a:prstGeom>
          <a:noFill/>
          <a:ln w="12700">
            <a:solidFill>
              <a:srgbClr val="CBD5E1"/>
            </a:solidFill>
            <a:prstDash val="solid"/>
          </a:ln>
        </p:spPr>
      </p:sp>
      <p:sp>
        <p:nvSpPr>
          <p:cNvPr id="26" name="Text 24"/>
          <p:cNvSpPr/>
          <p:nvPr/>
        </p:nvSpPr>
        <p:spPr>
          <a:xfrm>
            <a:off x="8341157" y="2788920"/>
            <a:ext cx="2844698" cy="50292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p &lt; 1e-300</a:t>
            </a:r>
            <a:endParaRPr lang="en-US" sz="2600" dirty="0"/>
          </a:p>
        </p:txBody>
      </p:sp>
      <p:sp>
        <p:nvSpPr>
          <p:cNvPr id="27" name="Text 25"/>
          <p:cNvSpPr/>
          <p:nvPr/>
        </p:nvSpPr>
        <p:spPr>
          <a:xfrm>
            <a:off x="8341157" y="3310128"/>
            <a:ext cx="2844698" cy="256032"/>
          </a:xfrm>
          <a:prstGeom prst="rect">
            <a:avLst/>
          </a:prstGeom>
          <a:noFill/>
          <a:ln/>
        </p:spPr>
        <p:txBody>
          <a:bodyPr wrap="square" lIns="0" tIns="0" rIns="0" bIns="0" rtlCol="0" anchor="ctr"/>
          <a:lstStyle/>
          <a:p>
            <a:pPr indent="0" marL="0">
              <a:buNone/>
            </a:pPr>
            <a:r>
              <a:rPr lang="en-US" sz="1150" b="1" dirty="0">
                <a:solidFill>
                  <a:srgbClr val="64748B"/>
                </a:solidFill>
                <a:latin typeface="Calibri" pitchFamily="34" charset="0"/>
                <a:ea typeface="Calibri" pitchFamily="34" charset="-122"/>
                <a:cs typeface="Calibri" pitchFamily="34" charset="-120"/>
              </a:rPr>
              <a:t>Statistical Separation</a:t>
            </a:r>
            <a:endParaRPr lang="en-US" sz="1150" dirty="0"/>
          </a:p>
        </p:txBody>
      </p:sp>
      <p:sp>
        <p:nvSpPr>
          <p:cNvPr id="28" name="Text 26"/>
          <p:cNvSpPr/>
          <p:nvPr/>
        </p:nvSpPr>
        <p:spPr>
          <a:xfrm>
            <a:off x="8341157" y="3703320"/>
            <a:ext cx="2844698" cy="2148840"/>
          </a:xfrm>
          <a:prstGeom prst="rect">
            <a:avLst/>
          </a:prstGeom>
          <a:noFill/>
          <a:ln/>
        </p:spPr>
        <p:txBody>
          <a:bodyPr wrap="square" lIns="0" tIns="0" rIns="0" bIns="0" rtlCol="0" anchor="ctr"/>
          <a:lstStyle/>
          <a:p>
            <a:pPr indent="0" marL="0">
              <a:lnSpc>
                <a:spcPct val="125000"/>
              </a:lnSpc>
              <a:buNone/>
            </a:pPr>
            <a:r>
              <a:rPr lang="en-US" sz="1300" dirty="0">
                <a:solidFill>
                  <a:srgbClr val="334155"/>
                </a:solidFill>
                <a:latin typeface="Calibri" pitchFamily="34" charset="0"/>
                <a:ea typeface="Calibri" pitchFamily="34" charset="-122"/>
                <a:cs typeface="Calibri" pitchFamily="34" charset="-120"/>
              </a:rPr>
              <a:t>Dangerous mutations are kept extremely rare in healthy humans (average frequency = 0.00012) because harmful variants get filtered out over generations. Harmless variants are common (frequency = 0.0418). This makes population rarity our #1 predictive feature.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47472"/>
            <a:ext cx="10728655" cy="256032"/>
          </a:xfrm>
          <a:prstGeom prst="rect">
            <a:avLst/>
          </a:prstGeom>
          <a:noFill/>
          <a:ln/>
        </p:spPr>
        <p:txBody>
          <a:bodyPr wrap="square" rtlCol="0" anchor="ctr"/>
          <a:lstStyle/>
          <a:p>
            <a:pPr indent="0" marL="0">
              <a:buNone/>
            </a:pPr>
            <a:r>
              <a:rPr lang="en-US" sz="1200" b="1" dirty="0">
                <a:solidFill>
                  <a:srgbClr val="2563EB"/>
                </a:solidFill>
                <a:latin typeface="Calibri" pitchFamily="34" charset="0"/>
                <a:ea typeface="Calibri" pitchFamily="34" charset="-122"/>
                <a:cs typeface="Calibri" pitchFamily="34" charset="-120"/>
              </a:rPr>
              <a:t>METHODOLOGICAL RIGOR</a:t>
            </a:r>
            <a:endParaRPr lang="en-US" sz="1200" dirty="0"/>
          </a:p>
        </p:txBody>
      </p:sp>
      <p:sp>
        <p:nvSpPr>
          <p:cNvPr id="3" name="Text 1"/>
          <p:cNvSpPr/>
          <p:nvPr/>
        </p:nvSpPr>
        <p:spPr>
          <a:xfrm>
            <a:off x="731520" y="621792"/>
            <a:ext cx="10728655" cy="45720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Feature Engineering and Data Leakage Prevention</a:t>
            </a:r>
            <a:endParaRPr lang="en-US" sz="2200" dirty="0"/>
          </a:p>
        </p:txBody>
      </p:sp>
      <p:sp>
        <p:nvSpPr>
          <p:cNvPr id="4" name="Text 2"/>
          <p:cNvSpPr/>
          <p:nvPr/>
        </p:nvSpPr>
        <p:spPr>
          <a:xfrm>
            <a:off x="731520" y="1097280"/>
            <a:ext cx="10728655" cy="292608"/>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Formulating 24 non-leaking biological features with strict chromosomal holdout validation</a:t>
            </a:r>
            <a:endParaRPr lang="en-US" sz="1400" dirty="0"/>
          </a:p>
        </p:txBody>
      </p:sp>
      <p:sp>
        <p:nvSpPr>
          <p:cNvPr id="5" name="Shape 3"/>
          <p:cNvSpPr/>
          <p:nvPr/>
        </p:nvSpPr>
        <p:spPr>
          <a:xfrm>
            <a:off x="731520" y="1426464"/>
            <a:ext cx="10728655" cy="0"/>
          </a:xfrm>
          <a:prstGeom prst="line">
            <a:avLst/>
          </a:prstGeom>
          <a:noFill/>
          <a:ln w="12700">
            <a:solidFill>
              <a:srgbClr val="CBD5E1"/>
            </a:solidFill>
            <a:prstDash val="solid"/>
          </a:ln>
        </p:spPr>
      </p:sp>
      <p:sp>
        <p:nvSpPr>
          <p:cNvPr id="6" name="Text 4"/>
          <p:cNvSpPr/>
          <p:nvPr/>
        </p:nvSpPr>
        <p:spPr>
          <a:xfrm>
            <a:off x="731520" y="6355080"/>
            <a:ext cx="7772400" cy="29260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Department of Artificial Intelligence  |  Final Project Review  |  Amrita Vishwa Vidyapeetham</a:t>
            </a:r>
            <a:endParaRPr lang="en-US" sz="1100" dirty="0"/>
          </a:p>
        </p:txBody>
      </p:sp>
      <p:sp>
        <p:nvSpPr>
          <p:cNvPr id="7" name="Text 5"/>
          <p:cNvSpPr/>
          <p:nvPr/>
        </p:nvSpPr>
        <p:spPr>
          <a:xfrm>
            <a:off x="9448495" y="6355080"/>
            <a:ext cx="2011680" cy="292608"/>
          </a:xfrm>
          <a:prstGeom prst="rect">
            <a:avLst/>
          </a:prstGeom>
          <a:noFill/>
          <a:ln/>
        </p:spPr>
        <p:txBody>
          <a:bodyPr wrap="square" rtlCol="0" anchor="ctr"/>
          <a:lstStyle/>
          <a:p>
            <a:pPr algn="r" indent="0" marL="0">
              <a:buNone/>
            </a:pPr>
            <a:r>
              <a:rPr lang="en-US" sz="1100" dirty="0">
                <a:solidFill>
                  <a:srgbClr val="64748B"/>
                </a:solidFill>
                <a:latin typeface="Calibri" pitchFamily="34" charset="0"/>
                <a:ea typeface="Calibri" pitchFamily="34" charset="-122"/>
                <a:cs typeface="Calibri" pitchFamily="34" charset="-120"/>
              </a:rPr>
              <a:t>Slide 12 of 24</a:t>
            </a:r>
            <a:endParaRPr lang="en-US" sz="1100" dirty="0"/>
          </a:p>
        </p:txBody>
      </p:sp>
      <p:sp>
        <p:nvSpPr>
          <p:cNvPr id="8" name="Shape 6"/>
          <p:cNvSpPr/>
          <p:nvPr/>
        </p:nvSpPr>
        <p:spPr>
          <a:xfrm>
            <a:off x="731520" y="1691640"/>
            <a:ext cx="5166360" cy="4389120"/>
          </a:xfrm>
          <a:prstGeom prst="roundRect">
            <a:avLst>
              <a:gd name="adj" fmla="val 1667"/>
            </a:avLst>
          </a:prstGeom>
          <a:solidFill>
            <a:srgbClr val="FFFFFF"/>
          </a:solidFill>
          <a:ln w="12700">
            <a:solidFill>
              <a:srgbClr val="CBD5E1"/>
            </a:solidFill>
            <a:prstDash val="solid"/>
          </a:ln>
        </p:spPr>
      </p:sp>
      <p:sp>
        <p:nvSpPr>
          <p:cNvPr id="9" name="Text 7"/>
          <p:cNvSpPr/>
          <p:nvPr/>
        </p:nvSpPr>
        <p:spPr>
          <a:xfrm>
            <a:off x="1005840" y="1920240"/>
            <a:ext cx="4617720" cy="256032"/>
          </a:xfrm>
          <a:prstGeom prst="rect">
            <a:avLst/>
          </a:prstGeom>
          <a:noFill/>
          <a:ln/>
        </p:spPr>
        <p:txBody>
          <a:bodyPr wrap="square" rtlCol="0" anchor="ctr"/>
          <a:lstStyle/>
          <a:p>
            <a:pPr indent="0" marL="0">
              <a:buNone/>
            </a:pPr>
            <a:r>
              <a:rPr lang="en-US" sz="1150" b="1" dirty="0">
                <a:solidFill>
                  <a:srgbClr val="2563EB"/>
                </a:solidFill>
                <a:latin typeface="Calibri" pitchFamily="34" charset="0"/>
                <a:ea typeface="Calibri" pitchFamily="34" charset="-122"/>
                <a:cs typeface="Calibri" pitchFamily="34" charset="-120"/>
              </a:rPr>
              <a:t>BIOLOGICALLY-GROUNDED FEATURE VECTOR</a:t>
            </a:r>
            <a:endParaRPr lang="en-US" sz="1150" dirty="0"/>
          </a:p>
        </p:txBody>
      </p:sp>
      <p:sp>
        <p:nvSpPr>
          <p:cNvPr id="10" name="Text 8"/>
          <p:cNvSpPr/>
          <p:nvPr/>
        </p:nvSpPr>
        <p:spPr>
          <a:xfrm>
            <a:off x="1005840" y="2194560"/>
            <a:ext cx="4617720" cy="3657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24 Clear Engineering Features</a:t>
            </a:r>
            <a:endParaRPr lang="en-US" sz="1800" dirty="0"/>
          </a:p>
        </p:txBody>
      </p:sp>
      <p:sp>
        <p:nvSpPr>
          <p:cNvPr id="11" name="Shape 9"/>
          <p:cNvSpPr/>
          <p:nvPr/>
        </p:nvSpPr>
        <p:spPr>
          <a:xfrm>
            <a:off x="1005840" y="2606040"/>
            <a:ext cx="4617720" cy="0"/>
          </a:xfrm>
          <a:prstGeom prst="line">
            <a:avLst/>
          </a:prstGeom>
          <a:noFill/>
          <a:ln w="12700">
            <a:solidFill>
              <a:srgbClr val="CBD5E1"/>
            </a:solidFill>
            <a:prstDash val="solid"/>
          </a:ln>
        </p:spPr>
      </p:sp>
      <p:sp>
        <p:nvSpPr>
          <p:cNvPr id="12" name="Text 10"/>
          <p:cNvSpPr/>
          <p:nvPr/>
        </p:nvSpPr>
        <p:spPr>
          <a:xfrm>
            <a:off x="1005840" y="2788920"/>
            <a:ext cx="4617720" cy="731520"/>
          </a:xfrm>
          <a:prstGeom prst="rect">
            <a:avLst/>
          </a:prstGeom>
          <a:noFill/>
          <a:ln/>
        </p:spPr>
        <p:txBody>
          <a:bodyPr wrap="square" lIns="0" tIns="0" rIns="0" bIns="0" rtlCol="0" anchor="ctr"/>
          <a:lstStyle/>
          <a:p>
            <a:pPr indent="0" marL="0">
              <a:lnSpc>
                <a:spcPct val="115000"/>
              </a:lnSpc>
              <a:buNone/>
            </a:pPr>
            <a:r>
              <a:rPr lang="en-US" sz="1250" b="1" dirty="0">
                <a:solidFill>
                  <a:srgbClr val="0F172A"/>
                </a:solidFill>
              </a:rPr>
              <a:t>Population Rarity (12 features): </a:t>
            </a:r>
            <a:pPr indent="0" marL="0">
              <a:lnSpc>
                <a:spcPct val="115000"/>
              </a:lnSpc>
              <a:buNone/>
            </a:pPr>
            <a:r>
              <a:rPr lang="en-US" sz="1200" dirty="0">
                <a:solidFill>
                  <a:srgbClr val="334155"/>
                </a:solidFill>
              </a:rPr>
              <a:t>How rare is the mutation in healthy people globally and across different ancestries (gnomAD AF, continental frequencies, homozygote counts).</a:t>
            </a:r>
            <a:endParaRPr lang="en-US" sz="1250" dirty="0"/>
          </a:p>
        </p:txBody>
      </p:sp>
      <p:sp>
        <p:nvSpPr>
          <p:cNvPr id="13" name="Text 11"/>
          <p:cNvSpPr/>
          <p:nvPr/>
        </p:nvSpPr>
        <p:spPr>
          <a:xfrm>
            <a:off x="1005840" y="3566160"/>
            <a:ext cx="4617720" cy="731520"/>
          </a:xfrm>
          <a:prstGeom prst="rect">
            <a:avLst/>
          </a:prstGeom>
          <a:noFill/>
          <a:ln/>
        </p:spPr>
        <p:txBody>
          <a:bodyPr wrap="square" lIns="0" tIns="0" rIns="0" bIns="0" rtlCol="0" anchor="ctr"/>
          <a:lstStyle/>
          <a:p>
            <a:pPr indent="0" marL="0">
              <a:lnSpc>
                <a:spcPct val="115000"/>
              </a:lnSpc>
              <a:buNone/>
            </a:pPr>
            <a:r>
              <a:rPr lang="en-US" sz="1250" b="1" dirty="0">
                <a:solidFill>
                  <a:srgbClr val="0F172A"/>
                </a:solidFill>
              </a:rPr>
              <a:t>Gene Importance (4 features): </a:t>
            </a:r>
            <a:pPr indent="0" marL="0">
              <a:lnSpc>
                <a:spcPct val="115000"/>
              </a:lnSpc>
              <a:buNone/>
            </a:pPr>
            <a:r>
              <a:rPr lang="en-US" sz="1200" dirty="0">
                <a:solidFill>
                  <a:srgbClr val="334155"/>
                </a:solidFill>
              </a:rPr>
              <a:t>Does the mutation hit a vital gene needed for human survival (gene overlap count, pLI constraint score, LOEUF loss-of-function score).</a:t>
            </a:r>
            <a:endParaRPr lang="en-US" sz="1250" dirty="0"/>
          </a:p>
        </p:txBody>
      </p:sp>
      <p:sp>
        <p:nvSpPr>
          <p:cNvPr id="14" name="Text 12"/>
          <p:cNvSpPr/>
          <p:nvPr/>
        </p:nvSpPr>
        <p:spPr>
          <a:xfrm>
            <a:off x="1005840" y="4343400"/>
            <a:ext cx="4617720" cy="731520"/>
          </a:xfrm>
          <a:prstGeom prst="rect">
            <a:avLst/>
          </a:prstGeom>
          <a:noFill/>
          <a:ln/>
        </p:spPr>
        <p:txBody>
          <a:bodyPr wrap="square" lIns="0" tIns="0" rIns="0" bIns="0" rtlCol="0" anchor="ctr"/>
          <a:lstStyle/>
          <a:p>
            <a:pPr indent="0" marL="0">
              <a:lnSpc>
                <a:spcPct val="115000"/>
              </a:lnSpc>
              <a:buNone/>
            </a:pPr>
            <a:r>
              <a:rPr lang="en-US" sz="1250" b="1" dirty="0">
                <a:solidFill>
                  <a:srgbClr val="0F172A"/>
                </a:solidFill>
              </a:rPr>
              <a:t>Mutation Geometry (4 features): </a:t>
            </a:r>
            <a:pPr indent="0" marL="0">
              <a:lnSpc>
                <a:spcPct val="115000"/>
              </a:lnSpc>
              <a:buNone/>
            </a:pPr>
            <a:r>
              <a:rPr lang="en-US" sz="1200" dirty="0">
                <a:solidFill>
                  <a:srgbClr val="334155"/>
                </a:solidFill>
              </a:rPr>
              <a:t>Length of the mutation in base pairs, log-scaled span, and type of variant (deletion, duplication, inversion, insertion).</a:t>
            </a:r>
            <a:endParaRPr lang="en-US" sz="1250" dirty="0"/>
          </a:p>
        </p:txBody>
      </p:sp>
      <p:sp>
        <p:nvSpPr>
          <p:cNvPr id="15" name="Text 13"/>
          <p:cNvSpPr/>
          <p:nvPr/>
        </p:nvSpPr>
        <p:spPr>
          <a:xfrm>
            <a:off x="1005840" y="5120640"/>
            <a:ext cx="4617720" cy="731520"/>
          </a:xfrm>
          <a:prstGeom prst="rect">
            <a:avLst/>
          </a:prstGeom>
          <a:noFill/>
          <a:ln/>
        </p:spPr>
        <p:txBody>
          <a:bodyPr wrap="square" lIns="0" tIns="0" rIns="0" bIns="0" rtlCol="0" anchor="ctr"/>
          <a:lstStyle/>
          <a:p>
            <a:pPr indent="0" marL="0">
              <a:lnSpc>
                <a:spcPct val="115000"/>
              </a:lnSpc>
              <a:buNone/>
            </a:pPr>
            <a:r>
              <a:rPr lang="en-US" sz="1250" b="1" dirty="0">
                <a:solidFill>
                  <a:srgbClr val="0F172A"/>
                </a:solidFill>
              </a:rPr>
              <a:t>DNA Sequence Context (4 features): </a:t>
            </a:r>
            <a:pPr indent="0" marL="0">
              <a:lnSpc>
                <a:spcPct val="115000"/>
              </a:lnSpc>
              <a:buNone/>
            </a:pPr>
            <a:r>
              <a:rPr lang="en-US" sz="1200" dirty="0">
                <a:solidFill>
                  <a:srgbClr val="334155"/>
                </a:solidFill>
              </a:rPr>
              <a:t>Surrounding DNA stability (GC content ratio, CpG islands, and sequence repeat patterns).</a:t>
            </a:r>
            <a:endParaRPr lang="en-US" sz="1250" dirty="0"/>
          </a:p>
        </p:txBody>
      </p:sp>
      <p:sp>
        <p:nvSpPr>
          <p:cNvPr id="16" name="Shape 14"/>
          <p:cNvSpPr/>
          <p:nvPr/>
        </p:nvSpPr>
        <p:spPr>
          <a:xfrm>
            <a:off x="6293815" y="1691640"/>
            <a:ext cx="5166360" cy="4389120"/>
          </a:xfrm>
          <a:prstGeom prst="roundRect">
            <a:avLst>
              <a:gd name="adj" fmla="val 1667"/>
            </a:avLst>
          </a:prstGeom>
          <a:solidFill>
            <a:srgbClr val="FFFFFF"/>
          </a:solidFill>
          <a:ln w="12700">
            <a:solidFill>
              <a:srgbClr val="CBD5E1"/>
            </a:solidFill>
            <a:prstDash val="solid"/>
          </a:ln>
        </p:spPr>
      </p:sp>
      <p:sp>
        <p:nvSpPr>
          <p:cNvPr id="17" name="Text 15"/>
          <p:cNvSpPr/>
          <p:nvPr/>
        </p:nvSpPr>
        <p:spPr>
          <a:xfrm>
            <a:off x="6568135" y="1920240"/>
            <a:ext cx="4617720" cy="256032"/>
          </a:xfrm>
          <a:prstGeom prst="rect">
            <a:avLst/>
          </a:prstGeom>
          <a:noFill/>
          <a:ln/>
        </p:spPr>
        <p:txBody>
          <a:bodyPr wrap="square" rtlCol="0" anchor="ctr"/>
          <a:lstStyle/>
          <a:p>
            <a:pPr indent="0" marL="0">
              <a:buNone/>
            </a:pPr>
            <a:r>
              <a:rPr lang="en-US" sz="1150" b="1" dirty="0">
                <a:solidFill>
                  <a:srgbClr val="059669"/>
                </a:solidFill>
                <a:latin typeface="Calibri" pitchFamily="34" charset="0"/>
                <a:ea typeface="Calibri" pitchFamily="34" charset="-122"/>
                <a:cs typeface="Calibri" pitchFamily="34" charset="-120"/>
              </a:rPr>
              <a:t>DATA LEAKAGE PREVENTION</a:t>
            </a:r>
            <a:endParaRPr lang="en-US" sz="1150" dirty="0"/>
          </a:p>
        </p:txBody>
      </p:sp>
      <p:sp>
        <p:nvSpPr>
          <p:cNvPr id="18" name="Text 16"/>
          <p:cNvSpPr/>
          <p:nvPr/>
        </p:nvSpPr>
        <p:spPr>
          <a:xfrm>
            <a:off x="6568135" y="2194560"/>
            <a:ext cx="4617720" cy="3657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Chromosomal Split (Zero Data Leakage)</a:t>
            </a:r>
            <a:endParaRPr lang="en-US" sz="1800" dirty="0"/>
          </a:p>
        </p:txBody>
      </p:sp>
      <p:sp>
        <p:nvSpPr>
          <p:cNvPr id="19" name="Shape 17"/>
          <p:cNvSpPr/>
          <p:nvPr/>
        </p:nvSpPr>
        <p:spPr>
          <a:xfrm>
            <a:off x="6568135" y="2606040"/>
            <a:ext cx="4617720" cy="0"/>
          </a:xfrm>
          <a:prstGeom prst="line">
            <a:avLst/>
          </a:prstGeom>
          <a:noFill/>
          <a:ln w="12700">
            <a:solidFill>
              <a:srgbClr val="CBD5E1"/>
            </a:solidFill>
            <a:prstDash val="solid"/>
          </a:ln>
        </p:spPr>
      </p:sp>
      <p:sp>
        <p:nvSpPr>
          <p:cNvPr id="20" name="Text 18"/>
          <p:cNvSpPr/>
          <p:nvPr/>
        </p:nvSpPr>
        <p:spPr>
          <a:xfrm>
            <a:off x="6568135" y="2788920"/>
            <a:ext cx="4617720" cy="3063240"/>
          </a:xfrm>
          <a:prstGeom prst="rect">
            <a:avLst/>
          </a:prstGeom>
          <a:noFill/>
          <a:ln/>
        </p:spPr>
        <p:txBody>
          <a:bodyPr wrap="square" lIns="0" tIns="0" rIns="0" bIns="0" rtlCol="0" anchor="ctr"/>
          <a:lstStyle/>
          <a:p>
            <a:pPr indent="0" marL="0">
              <a:lnSpc>
                <a:spcPct val="120000"/>
              </a:lnSpc>
              <a:buNone/>
            </a:pPr>
            <a:r>
              <a:rPr lang="en-US" sz="1300" b="1" dirty="0">
                <a:solidFill>
                  <a:srgbClr val="DC2626"/>
                </a:solidFill>
              </a:rPr>
              <a:t>The Flaw of Random Splitting:
</a:t>
            </a:r>
            <a:pPr indent="0" marL="0">
              <a:lnSpc>
                <a:spcPct val="120000"/>
              </a:lnSpc>
              <a:buNone/>
            </a:pPr>
            <a:r>
              <a:rPr lang="en-US" sz="1250" dirty="0">
                <a:solidFill>
                  <a:srgbClr val="334155"/>
                </a:solidFill>
              </a:rPr>
              <a:t>Standard 80/20 random splits place mutations from the same chromosome into both training and test sets. The model simply memorizes the chromosome location instead of learning biology, giving fake high scores that fail in real hospitals.
</a:t>
            </a:r>
            <a:pPr indent="0" marL="0">
              <a:lnSpc>
                <a:spcPct val="120000"/>
              </a:lnSpc>
              <a:buNone/>
            </a:pPr>
            <a:r>
              <a:rPr lang="en-US" sz="1300" b="1" dirty="0">
                <a:solidFill>
                  <a:srgbClr val="059669"/>
                </a:solidFill>
              </a:rPr>
              <a:t>Our Chromosomal Separation Solution:
</a:t>
            </a:r>
            <a:pPr indent="0" marL="0">
              <a:lnSpc>
                <a:spcPct val="120000"/>
              </a:lnSpc>
              <a:buNone/>
            </a:pPr>
            <a:r>
              <a:rPr lang="en-US" sz="1250" dirty="0">
                <a:solidFill>
                  <a:srgbClr val="334155"/>
                </a:solidFill>
              </a:rPr>
              <a:t>• Training Set: Chromosomes 1 through 18 (35,414 variants)
</a:t>
            </a:r>
            <a:pPr indent="0" marL="0">
              <a:lnSpc>
                <a:spcPct val="120000"/>
              </a:lnSpc>
              <a:buNone/>
            </a:pPr>
            <a:r>
              <a:rPr lang="en-US" sz="1250" b="1" dirty="0">
                <a:solidFill>
                  <a:srgbClr val="334155"/>
                </a:solidFill>
              </a:rPr>
              <a:t>• Test Set: Chromosomes 19, 20, 21, 22, X, Y (8,854 variants)
</a:t>
            </a:r>
            <a:pPr indent="0" marL="0">
              <a:lnSpc>
                <a:spcPct val="120000"/>
              </a:lnSpc>
              <a:buNone/>
            </a:pPr>
            <a:r>
              <a:rPr lang="en-US" sz="1250" b="1" dirty="0">
                <a:solidFill>
                  <a:srgbClr val="0F172A"/>
                </a:solidFill>
              </a:rPr>
              <a:t>Guarantees 100% zero overlap: the test set tests only completely unseen chromosomes.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47472"/>
            <a:ext cx="10728655" cy="256032"/>
          </a:xfrm>
          <a:prstGeom prst="rect">
            <a:avLst/>
          </a:prstGeom>
          <a:noFill/>
          <a:ln/>
        </p:spPr>
        <p:txBody>
          <a:bodyPr wrap="square" rtlCol="0" anchor="ctr"/>
          <a:lstStyle/>
          <a:p>
            <a:pPr indent="0" marL="0">
              <a:buNone/>
            </a:pPr>
            <a:r>
              <a:rPr lang="en-US" sz="1200" b="1" dirty="0">
                <a:solidFill>
                  <a:srgbClr val="2563EB"/>
                </a:solidFill>
                <a:latin typeface="Calibri" pitchFamily="34" charset="0"/>
                <a:ea typeface="Calibri" pitchFamily="34" charset="-122"/>
                <a:cs typeface="Calibri" pitchFamily="34" charset="-120"/>
              </a:rPr>
              <a:t>MODEL ZOO</a:t>
            </a:r>
            <a:endParaRPr lang="en-US" sz="1200" dirty="0"/>
          </a:p>
        </p:txBody>
      </p:sp>
      <p:sp>
        <p:nvSpPr>
          <p:cNvPr id="3" name="Text 1"/>
          <p:cNvSpPr/>
          <p:nvPr/>
        </p:nvSpPr>
        <p:spPr>
          <a:xfrm>
            <a:off x="731520" y="621792"/>
            <a:ext cx="10728655" cy="45720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Machine Learning and Deep Learning Models</a:t>
            </a:r>
            <a:endParaRPr lang="en-US" sz="2200" dirty="0"/>
          </a:p>
        </p:txBody>
      </p:sp>
      <p:sp>
        <p:nvSpPr>
          <p:cNvPr id="4" name="Text 2"/>
          <p:cNvSpPr/>
          <p:nvPr/>
        </p:nvSpPr>
        <p:spPr>
          <a:xfrm>
            <a:off x="731520" y="1097280"/>
            <a:ext cx="10728655" cy="292608"/>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Comparing classical tree algorithms with our custom continuous PyTorch Tabular ResNet</a:t>
            </a:r>
            <a:endParaRPr lang="en-US" sz="1400" dirty="0"/>
          </a:p>
        </p:txBody>
      </p:sp>
      <p:sp>
        <p:nvSpPr>
          <p:cNvPr id="5" name="Shape 3"/>
          <p:cNvSpPr/>
          <p:nvPr/>
        </p:nvSpPr>
        <p:spPr>
          <a:xfrm>
            <a:off x="731520" y="1426464"/>
            <a:ext cx="10728655" cy="0"/>
          </a:xfrm>
          <a:prstGeom prst="line">
            <a:avLst/>
          </a:prstGeom>
          <a:noFill/>
          <a:ln w="12700">
            <a:solidFill>
              <a:srgbClr val="CBD5E1"/>
            </a:solidFill>
            <a:prstDash val="solid"/>
          </a:ln>
        </p:spPr>
      </p:sp>
      <p:sp>
        <p:nvSpPr>
          <p:cNvPr id="6" name="Text 4"/>
          <p:cNvSpPr/>
          <p:nvPr/>
        </p:nvSpPr>
        <p:spPr>
          <a:xfrm>
            <a:off x="731520" y="6355080"/>
            <a:ext cx="7772400" cy="29260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Department of Artificial Intelligence  |  Final Project Review  |  Amrita Vishwa Vidyapeetham</a:t>
            </a:r>
            <a:endParaRPr lang="en-US" sz="1100" dirty="0"/>
          </a:p>
        </p:txBody>
      </p:sp>
      <p:sp>
        <p:nvSpPr>
          <p:cNvPr id="7" name="Text 5"/>
          <p:cNvSpPr/>
          <p:nvPr/>
        </p:nvSpPr>
        <p:spPr>
          <a:xfrm>
            <a:off x="9448495" y="6355080"/>
            <a:ext cx="2011680" cy="292608"/>
          </a:xfrm>
          <a:prstGeom prst="rect">
            <a:avLst/>
          </a:prstGeom>
          <a:noFill/>
          <a:ln/>
        </p:spPr>
        <p:txBody>
          <a:bodyPr wrap="square" rtlCol="0" anchor="ctr"/>
          <a:lstStyle/>
          <a:p>
            <a:pPr algn="r" indent="0" marL="0">
              <a:buNone/>
            </a:pPr>
            <a:r>
              <a:rPr lang="en-US" sz="1100" dirty="0">
                <a:solidFill>
                  <a:srgbClr val="64748B"/>
                </a:solidFill>
                <a:latin typeface="Calibri" pitchFamily="34" charset="0"/>
                <a:ea typeface="Calibri" pitchFamily="34" charset="-122"/>
                <a:cs typeface="Calibri" pitchFamily="34" charset="-120"/>
              </a:rPr>
              <a:t>Slide 13 of 24</a:t>
            </a:r>
            <a:endParaRPr lang="en-US" sz="1100" dirty="0"/>
          </a:p>
        </p:txBody>
      </p:sp>
      <p:sp>
        <p:nvSpPr>
          <p:cNvPr id="8" name="Shape 6"/>
          <p:cNvSpPr/>
          <p:nvPr/>
        </p:nvSpPr>
        <p:spPr>
          <a:xfrm>
            <a:off x="731520" y="1691640"/>
            <a:ext cx="5166360" cy="4389120"/>
          </a:xfrm>
          <a:prstGeom prst="roundRect">
            <a:avLst>
              <a:gd name="adj" fmla="val 1667"/>
            </a:avLst>
          </a:prstGeom>
          <a:solidFill>
            <a:srgbClr val="FFFFFF"/>
          </a:solidFill>
          <a:ln w="12700">
            <a:solidFill>
              <a:srgbClr val="CBD5E1"/>
            </a:solidFill>
            <a:prstDash val="solid"/>
          </a:ln>
        </p:spPr>
      </p:sp>
      <p:sp>
        <p:nvSpPr>
          <p:cNvPr id="9" name="Text 7"/>
          <p:cNvSpPr/>
          <p:nvPr/>
        </p:nvSpPr>
        <p:spPr>
          <a:xfrm>
            <a:off x="1005840" y="1920240"/>
            <a:ext cx="4617720" cy="256032"/>
          </a:xfrm>
          <a:prstGeom prst="rect">
            <a:avLst/>
          </a:prstGeom>
          <a:noFill/>
          <a:ln/>
        </p:spPr>
        <p:txBody>
          <a:bodyPr wrap="square" rtlCol="0" anchor="ctr"/>
          <a:lstStyle/>
          <a:p>
            <a:pPr indent="0" marL="0">
              <a:buNone/>
            </a:pPr>
            <a:r>
              <a:rPr lang="en-US" sz="1100" b="1" dirty="0">
                <a:solidFill>
                  <a:srgbClr val="2563EB"/>
                </a:solidFill>
                <a:latin typeface="Calibri" pitchFamily="34" charset="0"/>
                <a:ea typeface="Calibri" pitchFamily="34" charset="-122"/>
                <a:cs typeface="Calibri" pitchFamily="34" charset="-120"/>
              </a:rPr>
              <a:t>CLASSICAL BASELINE MODELS</a:t>
            </a:r>
            <a:endParaRPr lang="en-US" sz="1100" dirty="0"/>
          </a:p>
        </p:txBody>
      </p:sp>
      <p:sp>
        <p:nvSpPr>
          <p:cNvPr id="10" name="Text 8"/>
          <p:cNvSpPr/>
          <p:nvPr/>
        </p:nvSpPr>
        <p:spPr>
          <a:xfrm>
            <a:off x="1005840" y="2194560"/>
            <a:ext cx="4617720" cy="36576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Tree Ensembles (XGBoost, LightGBM)</a:t>
            </a:r>
            <a:endParaRPr lang="en-US" sz="1700" dirty="0"/>
          </a:p>
        </p:txBody>
      </p:sp>
      <p:sp>
        <p:nvSpPr>
          <p:cNvPr id="11" name="Shape 9"/>
          <p:cNvSpPr/>
          <p:nvPr/>
        </p:nvSpPr>
        <p:spPr>
          <a:xfrm>
            <a:off x="1005840" y="2606040"/>
            <a:ext cx="4617720" cy="0"/>
          </a:xfrm>
          <a:prstGeom prst="line">
            <a:avLst/>
          </a:prstGeom>
          <a:noFill/>
          <a:ln w="12700">
            <a:solidFill>
              <a:srgbClr val="CBD5E1"/>
            </a:solidFill>
            <a:prstDash val="solid"/>
          </a:ln>
        </p:spPr>
      </p:sp>
      <p:sp>
        <p:nvSpPr>
          <p:cNvPr id="12" name="Text 10"/>
          <p:cNvSpPr/>
          <p:nvPr/>
        </p:nvSpPr>
        <p:spPr>
          <a:xfrm>
            <a:off x="1005840" y="2788920"/>
            <a:ext cx="4617720" cy="3063240"/>
          </a:xfrm>
          <a:prstGeom prst="rect">
            <a:avLst/>
          </a:prstGeom>
          <a:noFill/>
          <a:ln/>
        </p:spPr>
        <p:txBody>
          <a:bodyPr wrap="square" lIns="0" tIns="0" rIns="0" bIns="0" rtlCol="0" anchor="ctr"/>
          <a:lstStyle/>
          <a:p>
            <a:pPr indent="0" marL="0">
              <a:lnSpc>
                <a:spcPct val="120000"/>
              </a:lnSpc>
              <a:buNone/>
            </a:pPr>
            <a:r>
              <a:rPr lang="en-US" sz="1250" b="1" dirty="0">
                <a:solidFill>
                  <a:srgbClr val="0F172A"/>
                </a:solidFill>
              </a:rPr>
              <a:t>• XGBoost: </a:t>
            </a:r>
            <a:pPr indent="0" marL="0">
              <a:lnSpc>
                <a:spcPct val="120000"/>
              </a:lnSpc>
              <a:buNone/>
            </a:pPr>
            <a:r>
              <a:rPr lang="en-US" sz="1250" dirty="0">
                <a:solidFill>
                  <a:srgbClr val="334155"/>
                </a:solidFill>
              </a:rPr>
              <a:t>Gradient boosted trees with class weighting to handle the 4.8:1 imbalance between benign and disease variants.
</a:t>
            </a:r>
            <a:pPr indent="0" marL="0">
              <a:lnSpc>
                <a:spcPct val="120000"/>
              </a:lnSpc>
              <a:buNone/>
            </a:pPr>
            <a:r>
              <a:rPr lang="en-US" sz="1250" b="1" dirty="0">
                <a:solidFill>
                  <a:srgbClr val="0F172A"/>
                </a:solidFill>
              </a:rPr>
              <a:t>• LightGBM: </a:t>
            </a:r>
            <a:pPr indent="0" marL="0">
              <a:lnSpc>
                <a:spcPct val="120000"/>
              </a:lnSpc>
              <a:buNone/>
            </a:pPr>
            <a:r>
              <a:rPr lang="en-US" sz="1250" dirty="0">
                <a:solidFill>
                  <a:srgbClr val="334155"/>
                </a:solidFill>
              </a:rPr>
              <a:t>Fast histogram-based tree algorithm optimized for large feature tables.
</a:t>
            </a:r>
            <a:pPr indent="0" marL="0">
              <a:lnSpc>
                <a:spcPct val="120000"/>
              </a:lnSpc>
              <a:buNone/>
            </a:pPr>
            <a:r>
              <a:rPr lang="en-US" sz="1250" b="1" dirty="0">
                <a:solidFill>
                  <a:srgbClr val="0F172A"/>
                </a:solidFill>
              </a:rPr>
              <a:t>• Random Forest &amp; Logistic Regression: </a:t>
            </a:r>
            <a:pPr indent="0" marL="0">
              <a:lnSpc>
                <a:spcPct val="120000"/>
              </a:lnSpc>
              <a:buNone/>
            </a:pPr>
            <a:r>
              <a:rPr lang="en-US" sz="1250" dirty="0">
                <a:solidFill>
                  <a:srgbClr val="334155"/>
                </a:solidFill>
              </a:rPr>
              <a:t>Standard bagging and linear baseline models for benchmarking.
</a:t>
            </a:r>
            <a:pPr indent="0" marL="0">
              <a:lnSpc>
                <a:spcPct val="120000"/>
              </a:lnSpc>
              <a:buNone/>
            </a:pPr>
            <a:r>
              <a:rPr lang="en-US" sz="1250" b="1" dirty="0">
                <a:solidFill>
                  <a:srgbClr val="D97706"/>
                </a:solidFill>
              </a:rPr>
              <a:t>Why Trees Plateau: </a:t>
            </a:r>
            <a:pPr indent="0" marL="0">
              <a:lnSpc>
                <a:spcPct val="120000"/>
              </a:lnSpc>
              <a:buNone/>
            </a:pPr>
            <a:r>
              <a:rPr lang="en-US" sz="1250" dirty="0">
                <a:solidFill>
                  <a:srgbClr val="334155"/>
                </a:solidFill>
              </a:rPr>
              <a:t>Trees cut features using rigid rectangular steps. They struggle to model smooth continuous drops in genetic frequency.</a:t>
            </a:r>
            <a:endParaRPr lang="en-US" sz="1250" dirty="0"/>
          </a:p>
        </p:txBody>
      </p:sp>
      <p:sp>
        <p:nvSpPr>
          <p:cNvPr id="13" name="Shape 11"/>
          <p:cNvSpPr/>
          <p:nvPr/>
        </p:nvSpPr>
        <p:spPr>
          <a:xfrm>
            <a:off x="6293815" y="1691640"/>
            <a:ext cx="5166360" cy="4389120"/>
          </a:xfrm>
          <a:prstGeom prst="roundRect">
            <a:avLst>
              <a:gd name="adj" fmla="val 1667"/>
            </a:avLst>
          </a:prstGeom>
          <a:solidFill>
            <a:srgbClr val="FFFFFF"/>
          </a:solidFill>
          <a:ln w="12700">
            <a:solidFill>
              <a:srgbClr val="CBD5E1"/>
            </a:solidFill>
            <a:prstDash val="solid"/>
          </a:ln>
        </p:spPr>
      </p:sp>
      <p:sp>
        <p:nvSpPr>
          <p:cNvPr id="14" name="Text 12"/>
          <p:cNvSpPr/>
          <p:nvPr/>
        </p:nvSpPr>
        <p:spPr>
          <a:xfrm>
            <a:off x="6568135" y="1920240"/>
            <a:ext cx="4617720" cy="256032"/>
          </a:xfrm>
          <a:prstGeom prst="rect">
            <a:avLst/>
          </a:prstGeom>
          <a:noFill/>
          <a:ln/>
        </p:spPr>
        <p:txBody>
          <a:bodyPr wrap="square"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DEEP LEARNING ARCHITECTURE</a:t>
            </a:r>
            <a:endParaRPr lang="en-US" sz="1100" dirty="0"/>
          </a:p>
        </p:txBody>
      </p:sp>
      <p:sp>
        <p:nvSpPr>
          <p:cNvPr id="15" name="Text 13"/>
          <p:cNvSpPr/>
          <p:nvPr/>
        </p:nvSpPr>
        <p:spPr>
          <a:xfrm>
            <a:off x="6568135" y="2194560"/>
            <a:ext cx="4617720" cy="36576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PyTorch Tabular ResNet (Skip Connections)</a:t>
            </a:r>
            <a:endParaRPr lang="en-US" sz="1700" dirty="0"/>
          </a:p>
        </p:txBody>
      </p:sp>
      <p:sp>
        <p:nvSpPr>
          <p:cNvPr id="16" name="Shape 14"/>
          <p:cNvSpPr/>
          <p:nvPr/>
        </p:nvSpPr>
        <p:spPr>
          <a:xfrm>
            <a:off x="6568135" y="2606040"/>
            <a:ext cx="4617720" cy="0"/>
          </a:xfrm>
          <a:prstGeom prst="line">
            <a:avLst/>
          </a:prstGeom>
          <a:noFill/>
          <a:ln w="12700">
            <a:solidFill>
              <a:srgbClr val="CBD5E1"/>
            </a:solidFill>
            <a:prstDash val="solid"/>
          </a:ln>
        </p:spPr>
      </p:sp>
      <p:sp>
        <p:nvSpPr>
          <p:cNvPr id="17" name="Text 15"/>
          <p:cNvSpPr/>
          <p:nvPr/>
        </p:nvSpPr>
        <p:spPr>
          <a:xfrm>
            <a:off x="6568135" y="2788920"/>
            <a:ext cx="4617720" cy="3063240"/>
          </a:xfrm>
          <a:prstGeom prst="rect">
            <a:avLst/>
          </a:prstGeom>
          <a:noFill/>
          <a:ln/>
        </p:spPr>
        <p:txBody>
          <a:bodyPr wrap="square" lIns="0" tIns="0" rIns="0" bIns="0" rtlCol="0" anchor="ctr"/>
          <a:lstStyle/>
          <a:p>
            <a:pPr indent="0" marL="0">
              <a:lnSpc>
                <a:spcPct val="120000"/>
              </a:lnSpc>
              <a:buNone/>
            </a:pPr>
            <a:r>
              <a:rPr lang="en-US" sz="1250" b="1" dirty="0">
                <a:solidFill>
                  <a:srgbClr val="0F172A"/>
                </a:solidFill>
              </a:rPr>
              <a:t>• Input Dense Layer: </a:t>
            </a:r>
            <a:pPr indent="0" marL="0">
              <a:lnSpc>
                <a:spcPct val="120000"/>
              </a:lnSpc>
              <a:buNone/>
            </a:pPr>
            <a:r>
              <a:rPr lang="en-US" sz="1250" dirty="0">
                <a:solidFill>
                  <a:srgbClr val="334155"/>
                </a:solidFill>
              </a:rPr>
              <a:t>Projects 24 biological features into a 128-dimensional dense embedding space.
</a:t>
            </a:r>
            <a:pPr indent="0" marL="0">
              <a:lnSpc>
                <a:spcPct val="120000"/>
              </a:lnSpc>
              <a:buNone/>
            </a:pPr>
            <a:r>
              <a:rPr lang="en-US" sz="1250" b="1" dirty="0">
                <a:solidFill>
                  <a:srgbClr val="0F172A"/>
                </a:solidFill>
              </a:rPr>
              <a:t>• Residual Skip Connections: </a:t>
            </a:r>
            <a:pPr indent="0" marL="0">
              <a:lnSpc>
                <a:spcPct val="120000"/>
              </a:lnSpc>
              <a:buNone/>
            </a:pPr>
            <a:r>
              <a:rPr lang="en-US" sz="1250" dirty="0">
                <a:solidFill>
                  <a:srgbClr val="334155"/>
                </a:solidFill>
              </a:rPr>
              <a:t>Skip connections allow mathematical signals to flow freely through layers without vanishing gradients. Captures smooth non-linear curves.
</a:t>
            </a:r>
            <a:pPr indent="0" marL="0">
              <a:lnSpc>
                <a:spcPct val="120000"/>
              </a:lnSpc>
              <a:buNone/>
            </a:pPr>
            <a:r>
              <a:rPr lang="en-US" sz="1250" b="1" dirty="0">
                <a:solidFill>
                  <a:srgbClr val="0F172A"/>
                </a:solidFill>
              </a:rPr>
              <a:t>• Focal Loss Optimization: </a:t>
            </a:r>
            <a:pPr indent="0" marL="0">
              <a:lnSpc>
                <a:spcPct val="120000"/>
              </a:lnSpc>
              <a:buNone/>
            </a:pPr>
            <a:r>
              <a:rPr lang="en-US" sz="1250" dirty="0">
                <a:solidFill>
                  <a:srgbClr val="334155"/>
                </a:solidFill>
              </a:rPr>
              <a:t>Forces the neural network to ignore easy harmless variants and focus all learning capacity on catching hard-to-find disease mutations.</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47472"/>
            <a:ext cx="10728655" cy="256032"/>
          </a:xfrm>
          <a:prstGeom prst="rect">
            <a:avLst/>
          </a:prstGeom>
          <a:noFill/>
          <a:ln/>
        </p:spPr>
        <p:txBody>
          <a:bodyPr wrap="square" rtlCol="0" anchor="ctr"/>
          <a:lstStyle/>
          <a:p>
            <a:pPr indent="0" marL="0">
              <a:buNone/>
            </a:pPr>
            <a:r>
              <a:rPr lang="en-US" sz="1200" b="1" dirty="0">
                <a:solidFill>
                  <a:srgbClr val="2563EB"/>
                </a:solidFill>
                <a:latin typeface="Calibri" pitchFamily="34" charset="0"/>
                <a:ea typeface="Calibri" pitchFamily="34" charset="-122"/>
                <a:cs typeface="Calibri" pitchFamily="34" charset="-120"/>
              </a:rPr>
              <a:t>ADVANCED METHODOLOGIES</a:t>
            </a:r>
            <a:endParaRPr lang="en-US" sz="1200" dirty="0"/>
          </a:p>
        </p:txBody>
      </p:sp>
      <p:sp>
        <p:nvSpPr>
          <p:cNvPr id="3" name="Text 1"/>
          <p:cNvSpPr/>
          <p:nvPr/>
        </p:nvSpPr>
        <p:spPr>
          <a:xfrm>
            <a:off x="731520" y="621792"/>
            <a:ext cx="10728655" cy="45720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Multimodal Learning and Explainable AI</a:t>
            </a:r>
            <a:endParaRPr lang="en-US" sz="2200" dirty="0"/>
          </a:p>
        </p:txBody>
      </p:sp>
      <p:sp>
        <p:nvSpPr>
          <p:cNvPr id="4" name="Text 2"/>
          <p:cNvSpPr/>
          <p:nvPr/>
        </p:nvSpPr>
        <p:spPr>
          <a:xfrm>
            <a:off x="731520" y="1097280"/>
            <a:ext cx="10728655" cy="292608"/>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Combining tabular biological numbers with raw DNA sequence features and TreeSHAP</a:t>
            </a:r>
            <a:endParaRPr lang="en-US" sz="1400" dirty="0"/>
          </a:p>
        </p:txBody>
      </p:sp>
      <p:sp>
        <p:nvSpPr>
          <p:cNvPr id="5" name="Shape 3"/>
          <p:cNvSpPr/>
          <p:nvPr/>
        </p:nvSpPr>
        <p:spPr>
          <a:xfrm>
            <a:off x="731520" y="1426464"/>
            <a:ext cx="10728655" cy="0"/>
          </a:xfrm>
          <a:prstGeom prst="line">
            <a:avLst/>
          </a:prstGeom>
          <a:noFill/>
          <a:ln w="12700">
            <a:solidFill>
              <a:srgbClr val="CBD5E1"/>
            </a:solidFill>
            <a:prstDash val="solid"/>
          </a:ln>
        </p:spPr>
      </p:sp>
      <p:sp>
        <p:nvSpPr>
          <p:cNvPr id="6" name="Text 4"/>
          <p:cNvSpPr/>
          <p:nvPr/>
        </p:nvSpPr>
        <p:spPr>
          <a:xfrm>
            <a:off x="731520" y="6355080"/>
            <a:ext cx="7772400" cy="29260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Department of Artificial Intelligence  |  Final Project Review  |  Amrita Vishwa Vidyapeetham</a:t>
            </a:r>
            <a:endParaRPr lang="en-US" sz="1100" dirty="0"/>
          </a:p>
        </p:txBody>
      </p:sp>
      <p:sp>
        <p:nvSpPr>
          <p:cNvPr id="7" name="Text 5"/>
          <p:cNvSpPr/>
          <p:nvPr/>
        </p:nvSpPr>
        <p:spPr>
          <a:xfrm>
            <a:off x="9448495" y="6355080"/>
            <a:ext cx="2011680" cy="292608"/>
          </a:xfrm>
          <a:prstGeom prst="rect">
            <a:avLst/>
          </a:prstGeom>
          <a:noFill/>
          <a:ln/>
        </p:spPr>
        <p:txBody>
          <a:bodyPr wrap="square" rtlCol="0" anchor="ctr"/>
          <a:lstStyle/>
          <a:p>
            <a:pPr algn="r" indent="0" marL="0">
              <a:buNone/>
            </a:pPr>
            <a:r>
              <a:rPr lang="en-US" sz="1100" dirty="0">
                <a:solidFill>
                  <a:srgbClr val="64748B"/>
                </a:solidFill>
                <a:latin typeface="Calibri" pitchFamily="34" charset="0"/>
                <a:ea typeface="Calibri" pitchFamily="34" charset="-122"/>
                <a:cs typeface="Calibri" pitchFamily="34" charset="-120"/>
              </a:rPr>
              <a:t>Slide 14 of 24</a:t>
            </a:r>
            <a:endParaRPr lang="en-US" sz="1100" dirty="0"/>
          </a:p>
        </p:txBody>
      </p:sp>
      <p:sp>
        <p:nvSpPr>
          <p:cNvPr id="8" name="Shape 6"/>
          <p:cNvSpPr/>
          <p:nvPr/>
        </p:nvSpPr>
        <p:spPr>
          <a:xfrm>
            <a:off x="731520" y="1691640"/>
            <a:ext cx="5166360" cy="4389120"/>
          </a:xfrm>
          <a:prstGeom prst="roundRect">
            <a:avLst>
              <a:gd name="adj" fmla="val 1667"/>
            </a:avLst>
          </a:prstGeom>
          <a:solidFill>
            <a:srgbClr val="FFFFFF"/>
          </a:solidFill>
          <a:ln w="12700">
            <a:solidFill>
              <a:srgbClr val="CBD5E1"/>
            </a:solidFill>
            <a:prstDash val="solid"/>
          </a:ln>
        </p:spPr>
      </p:sp>
      <p:sp>
        <p:nvSpPr>
          <p:cNvPr id="9" name="Text 7"/>
          <p:cNvSpPr/>
          <p:nvPr/>
        </p:nvSpPr>
        <p:spPr>
          <a:xfrm>
            <a:off x="1005840" y="1920240"/>
            <a:ext cx="4617720" cy="256032"/>
          </a:xfrm>
          <a:prstGeom prst="rect">
            <a:avLst/>
          </a:prstGeom>
          <a:noFill/>
          <a:ln/>
        </p:spPr>
        <p:txBody>
          <a:bodyPr wrap="square"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MULTIMODAL NEURAL ARCHITECTURE</a:t>
            </a:r>
            <a:endParaRPr lang="en-US" sz="1100" dirty="0"/>
          </a:p>
        </p:txBody>
      </p:sp>
      <p:sp>
        <p:nvSpPr>
          <p:cNvPr id="10" name="Text 8"/>
          <p:cNvSpPr/>
          <p:nvPr/>
        </p:nvSpPr>
        <p:spPr>
          <a:xfrm>
            <a:off x="1005840" y="2194560"/>
            <a:ext cx="4617720" cy="36576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Dual-Branch Cross-Attention Network</a:t>
            </a:r>
            <a:endParaRPr lang="en-US" sz="1700" dirty="0"/>
          </a:p>
        </p:txBody>
      </p:sp>
      <p:sp>
        <p:nvSpPr>
          <p:cNvPr id="11" name="Shape 9"/>
          <p:cNvSpPr/>
          <p:nvPr/>
        </p:nvSpPr>
        <p:spPr>
          <a:xfrm>
            <a:off x="1005840" y="2606040"/>
            <a:ext cx="4617720" cy="0"/>
          </a:xfrm>
          <a:prstGeom prst="line">
            <a:avLst/>
          </a:prstGeom>
          <a:noFill/>
          <a:ln w="12700">
            <a:solidFill>
              <a:srgbClr val="CBD5E1"/>
            </a:solidFill>
            <a:prstDash val="solid"/>
          </a:ln>
        </p:spPr>
      </p:sp>
      <p:sp>
        <p:nvSpPr>
          <p:cNvPr id="12" name="Text 10"/>
          <p:cNvSpPr/>
          <p:nvPr/>
        </p:nvSpPr>
        <p:spPr>
          <a:xfrm>
            <a:off x="1005840" y="2788920"/>
            <a:ext cx="4617720" cy="3063240"/>
          </a:xfrm>
          <a:prstGeom prst="rect">
            <a:avLst/>
          </a:prstGeom>
          <a:noFill/>
          <a:ln/>
        </p:spPr>
        <p:txBody>
          <a:bodyPr wrap="square" lIns="0" tIns="0" rIns="0" bIns="0" rtlCol="0" anchor="ctr"/>
          <a:lstStyle/>
          <a:p>
            <a:pPr indent="0" marL="0">
              <a:lnSpc>
                <a:spcPct val="120000"/>
              </a:lnSpc>
              <a:buNone/>
            </a:pPr>
            <a:r>
              <a:rPr lang="en-US" sz="1200" b="1" dirty="0">
                <a:solidFill>
                  <a:srgbClr val="0F172A"/>
                </a:solidFill>
              </a:rPr>
              <a:t>• Branch 1 (Numerical Genetics, 24-dim): </a:t>
            </a:r>
            <a:pPr indent="0" marL="0">
              <a:lnSpc>
                <a:spcPct val="120000"/>
              </a:lnSpc>
              <a:buNone/>
            </a:pPr>
            <a:r>
              <a:rPr lang="en-US" sz="1200" dirty="0">
                <a:solidFill>
                  <a:srgbClr val="334155"/>
                </a:solidFill>
              </a:rPr>
              <a:t>Encodes population frequencies, rarity, and gene importance scores.
</a:t>
            </a:r>
            <a:pPr indent="0" marL="0">
              <a:lnSpc>
                <a:spcPct val="120000"/>
              </a:lnSpc>
              <a:buNone/>
            </a:pPr>
            <a:r>
              <a:rPr lang="en-US" sz="1200" b="1" dirty="0">
                <a:solidFill>
                  <a:srgbClr val="0F172A"/>
                </a:solidFill>
              </a:rPr>
              <a:t>• Branch 2 (Sequence Context, 6-dim): </a:t>
            </a:r>
            <a:pPr indent="0" marL="0">
              <a:lnSpc>
                <a:spcPct val="120000"/>
              </a:lnSpc>
              <a:buNone/>
            </a:pPr>
            <a:r>
              <a:rPr lang="en-US" sz="1200" dirty="0">
                <a:solidFill>
                  <a:srgbClr val="334155"/>
                </a:solidFill>
              </a:rPr>
              <a:t>Encodes surrounding DNA letters, sequence stability, and breakpoint vulnerability.
</a:t>
            </a:r>
            <a:pPr indent="0" marL="0">
              <a:lnSpc>
                <a:spcPct val="120000"/>
              </a:lnSpc>
              <a:buNone/>
            </a:pPr>
            <a:r>
              <a:rPr lang="en-US" sz="1200" b="1" dirty="0">
                <a:solidFill>
                  <a:srgbClr val="7C3AED"/>
                </a:solidFill>
              </a:rPr>
              <a:t>• Cross-Attention Fusion: </a:t>
            </a:r>
            <a:pPr indent="0" marL="0">
              <a:lnSpc>
                <a:spcPct val="120000"/>
              </a:lnSpc>
              <a:buNone/>
            </a:pPr>
            <a:r>
              <a:rPr lang="en-US" sz="1200" dirty="0">
                <a:solidFill>
                  <a:srgbClr val="334155"/>
                </a:solidFill>
              </a:rPr>
              <a:t>The attention mechanism uses DNA sequence context to dynamically amplify or dampen tabular frequency signals.</a:t>
            </a:r>
            <a:endParaRPr lang="en-US" sz="1200" dirty="0"/>
          </a:p>
        </p:txBody>
      </p:sp>
      <p:sp>
        <p:nvSpPr>
          <p:cNvPr id="13" name="Shape 11"/>
          <p:cNvSpPr/>
          <p:nvPr/>
        </p:nvSpPr>
        <p:spPr>
          <a:xfrm>
            <a:off x="6293815" y="1691640"/>
            <a:ext cx="5166360" cy="4389120"/>
          </a:xfrm>
          <a:prstGeom prst="roundRect">
            <a:avLst>
              <a:gd name="adj" fmla="val 1667"/>
            </a:avLst>
          </a:prstGeom>
          <a:solidFill>
            <a:srgbClr val="FFFFFF"/>
          </a:solidFill>
          <a:ln w="12700">
            <a:solidFill>
              <a:srgbClr val="CBD5E1"/>
            </a:solidFill>
            <a:prstDash val="solid"/>
          </a:ln>
        </p:spPr>
      </p:sp>
      <p:sp>
        <p:nvSpPr>
          <p:cNvPr id="14" name="Text 12"/>
          <p:cNvSpPr/>
          <p:nvPr/>
        </p:nvSpPr>
        <p:spPr>
          <a:xfrm>
            <a:off x="6568135" y="1920240"/>
            <a:ext cx="4617720" cy="256032"/>
          </a:xfrm>
          <a:prstGeom prst="rect">
            <a:avLst/>
          </a:prstGeom>
          <a:noFill/>
          <a:ln/>
        </p:spPr>
        <p:txBody>
          <a:bodyPr wrap="square" rtlCol="0" anchor="ctr"/>
          <a:lstStyle/>
          <a:p>
            <a:pPr indent="0" marL="0">
              <a:buNone/>
            </a:pPr>
            <a:r>
              <a:rPr lang="en-US" sz="1100" b="1" dirty="0">
                <a:solidFill>
                  <a:srgbClr val="059669"/>
                </a:solidFill>
                <a:latin typeface="Calibri" pitchFamily="34" charset="0"/>
                <a:ea typeface="Calibri" pitchFamily="34" charset="-122"/>
                <a:cs typeface="Calibri" pitchFamily="34" charset="-120"/>
              </a:rPr>
              <a:t>EXPLAINABLE AI ENGINE</a:t>
            </a:r>
            <a:endParaRPr lang="en-US" sz="1100" dirty="0"/>
          </a:p>
        </p:txBody>
      </p:sp>
      <p:sp>
        <p:nvSpPr>
          <p:cNvPr id="15" name="Text 13"/>
          <p:cNvSpPr/>
          <p:nvPr/>
        </p:nvSpPr>
        <p:spPr>
          <a:xfrm>
            <a:off x="6568135" y="2194560"/>
            <a:ext cx="4617720" cy="36576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TreeSHAP: Why Did the Model Decide This?</a:t>
            </a:r>
            <a:endParaRPr lang="en-US" sz="1700" dirty="0"/>
          </a:p>
        </p:txBody>
      </p:sp>
      <p:sp>
        <p:nvSpPr>
          <p:cNvPr id="16" name="Shape 14"/>
          <p:cNvSpPr/>
          <p:nvPr/>
        </p:nvSpPr>
        <p:spPr>
          <a:xfrm>
            <a:off x="6568135" y="2606040"/>
            <a:ext cx="4617720" cy="0"/>
          </a:xfrm>
          <a:prstGeom prst="line">
            <a:avLst/>
          </a:prstGeom>
          <a:noFill/>
          <a:ln w="12700">
            <a:solidFill>
              <a:srgbClr val="CBD5E1"/>
            </a:solidFill>
            <a:prstDash val="solid"/>
          </a:ln>
        </p:spPr>
      </p:sp>
      <p:sp>
        <p:nvSpPr>
          <p:cNvPr id="17" name="Text 15"/>
          <p:cNvSpPr/>
          <p:nvPr/>
        </p:nvSpPr>
        <p:spPr>
          <a:xfrm>
            <a:off x="6568135" y="2788920"/>
            <a:ext cx="4617720" cy="3063240"/>
          </a:xfrm>
          <a:prstGeom prst="rect">
            <a:avLst/>
          </a:prstGeom>
          <a:noFill/>
          <a:ln/>
        </p:spPr>
        <p:txBody>
          <a:bodyPr wrap="square" lIns="0" tIns="0" rIns="0" bIns="0" rtlCol="0" anchor="ctr"/>
          <a:lstStyle/>
          <a:p>
            <a:pPr indent="0" marL="0">
              <a:lnSpc>
                <a:spcPct val="120000"/>
              </a:lnSpc>
              <a:buNone/>
            </a:pPr>
            <a:r>
              <a:rPr lang="en-US" sz="1200" b="1" dirty="0">
                <a:solidFill>
                  <a:srgbClr val="0F172A"/>
                </a:solidFill>
              </a:rPr>
              <a:t>• Fair Feature Contributions: </a:t>
            </a:r>
            <a:pPr indent="0" marL="0">
              <a:lnSpc>
                <a:spcPct val="120000"/>
              </a:lnSpc>
              <a:buNone/>
            </a:pPr>
            <a:r>
              <a:rPr lang="en-US" sz="1200" dirty="0">
                <a:solidFill>
                  <a:srgbClr val="334155"/>
                </a:solidFill>
              </a:rPr>
              <a:t>Based on cooperative game theory: mathematically computes exactly how much each feature raised or lowered the risk score.
</a:t>
            </a:r>
            <a:pPr indent="0" marL="0">
              <a:lnSpc>
                <a:spcPct val="120000"/>
              </a:lnSpc>
              <a:buNone/>
            </a:pPr>
            <a:r>
              <a:rPr lang="en-US" sz="1200" b="1" dirty="0">
                <a:solidFill>
                  <a:srgbClr val="0F172A"/>
                </a:solidFill>
              </a:rPr>
              <a:t>• Global Feature Ranking: </a:t>
            </a:r>
            <a:pPr indent="0" marL="0">
              <a:lnSpc>
                <a:spcPct val="120000"/>
              </a:lnSpc>
              <a:buNone/>
            </a:pPr>
            <a:r>
              <a:rPr lang="en-US" sz="1200" dirty="0">
                <a:solidFill>
                  <a:srgbClr val="334155"/>
                </a:solidFill>
              </a:rPr>
              <a:t>Reveals that population rarity, gene importance, and variant length drive &gt;70% of all decisions across 44,000 variants.
</a:t>
            </a:r>
            <a:pPr indent="0" marL="0">
              <a:lnSpc>
                <a:spcPct val="120000"/>
              </a:lnSpc>
              <a:buNone/>
            </a:pPr>
            <a:r>
              <a:rPr lang="en-US" sz="1200" b="1" dirty="0">
                <a:solidFill>
                  <a:srgbClr val="059669"/>
                </a:solidFill>
              </a:rPr>
              <a:t>• Individual Patient Explanations: </a:t>
            </a:r>
            <a:pPr indent="0" marL="0">
              <a:lnSpc>
                <a:spcPct val="120000"/>
              </a:lnSpc>
              <a:buNone/>
            </a:pPr>
            <a:r>
              <a:rPr lang="en-US" sz="1200" dirty="0">
                <a:solidFill>
                  <a:srgbClr val="334155"/>
                </a:solidFill>
              </a:rPr>
              <a:t>Draws a clear visual waterfall plot for any patient, showing doctors the exact biological reasons behind the score.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47472"/>
            <a:ext cx="10728655" cy="256032"/>
          </a:xfrm>
          <a:prstGeom prst="rect">
            <a:avLst/>
          </a:prstGeom>
          <a:noFill/>
          <a:ln/>
        </p:spPr>
        <p:txBody>
          <a:bodyPr wrap="square" rtlCol="0" anchor="ctr"/>
          <a:lstStyle/>
          <a:p>
            <a:pPr indent="0" marL="0">
              <a:buNone/>
            </a:pPr>
            <a:r>
              <a:rPr lang="en-US" sz="1200" b="1" dirty="0">
                <a:solidFill>
                  <a:srgbClr val="2563EB"/>
                </a:solidFill>
                <a:latin typeface="Calibri" pitchFamily="34" charset="0"/>
                <a:ea typeface="Calibri" pitchFamily="34" charset="-122"/>
                <a:cs typeface="Calibri" pitchFamily="34" charset="-120"/>
              </a:rPr>
              <a:t>EVALUATION PROTOCOL</a:t>
            </a:r>
            <a:endParaRPr lang="en-US" sz="1200" dirty="0"/>
          </a:p>
        </p:txBody>
      </p:sp>
      <p:sp>
        <p:nvSpPr>
          <p:cNvPr id="3" name="Text 1"/>
          <p:cNvSpPr/>
          <p:nvPr/>
        </p:nvSpPr>
        <p:spPr>
          <a:xfrm>
            <a:off x="731520" y="621792"/>
            <a:ext cx="10728655" cy="45720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Experimental Setup and Evaluation Metrics</a:t>
            </a:r>
            <a:endParaRPr lang="en-US" sz="2200" dirty="0"/>
          </a:p>
        </p:txBody>
      </p:sp>
      <p:sp>
        <p:nvSpPr>
          <p:cNvPr id="4" name="Text 2"/>
          <p:cNvSpPr/>
          <p:nvPr/>
        </p:nvSpPr>
        <p:spPr>
          <a:xfrm>
            <a:off x="731520" y="1097280"/>
            <a:ext cx="10728655" cy="292608"/>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Why accuracy is banned in medical AI and which metrics actually matter</a:t>
            </a:r>
            <a:endParaRPr lang="en-US" sz="1400" dirty="0"/>
          </a:p>
        </p:txBody>
      </p:sp>
      <p:sp>
        <p:nvSpPr>
          <p:cNvPr id="5" name="Shape 3"/>
          <p:cNvSpPr/>
          <p:nvPr/>
        </p:nvSpPr>
        <p:spPr>
          <a:xfrm>
            <a:off x="731520" y="1426464"/>
            <a:ext cx="10728655" cy="0"/>
          </a:xfrm>
          <a:prstGeom prst="line">
            <a:avLst/>
          </a:prstGeom>
          <a:noFill/>
          <a:ln w="12700">
            <a:solidFill>
              <a:srgbClr val="CBD5E1"/>
            </a:solidFill>
            <a:prstDash val="solid"/>
          </a:ln>
        </p:spPr>
      </p:sp>
      <p:sp>
        <p:nvSpPr>
          <p:cNvPr id="6" name="Text 4"/>
          <p:cNvSpPr/>
          <p:nvPr/>
        </p:nvSpPr>
        <p:spPr>
          <a:xfrm>
            <a:off x="731520" y="6355080"/>
            <a:ext cx="7772400" cy="29260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Department of Artificial Intelligence  |  Final Project Review  |  Amrita Vishwa Vidyapeetham</a:t>
            </a:r>
            <a:endParaRPr lang="en-US" sz="1100" dirty="0"/>
          </a:p>
        </p:txBody>
      </p:sp>
      <p:sp>
        <p:nvSpPr>
          <p:cNvPr id="7" name="Text 5"/>
          <p:cNvSpPr/>
          <p:nvPr/>
        </p:nvSpPr>
        <p:spPr>
          <a:xfrm>
            <a:off x="9448495" y="6355080"/>
            <a:ext cx="2011680" cy="292608"/>
          </a:xfrm>
          <a:prstGeom prst="rect">
            <a:avLst/>
          </a:prstGeom>
          <a:noFill/>
          <a:ln/>
        </p:spPr>
        <p:txBody>
          <a:bodyPr wrap="square" rtlCol="0" anchor="ctr"/>
          <a:lstStyle/>
          <a:p>
            <a:pPr algn="r" indent="0" marL="0">
              <a:buNone/>
            </a:pPr>
            <a:r>
              <a:rPr lang="en-US" sz="1100" dirty="0">
                <a:solidFill>
                  <a:srgbClr val="64748B"/>
                </a:solidFill>
                <a:latin typeface="Calibri" pitchFamily="34" charset="0"/>
                <a:ea typeface="Calibri" pitchFamily="34" charset="-122"/>
                <a:cs typeface="Calibri" pitchFamily="34" charset="-120"/>
              </a:rPr>
              <a:t>Slide 15 of 24</a:t>
            </a:r>
            <a:endParaRPr lang="en-US" sz="1100" dirty="0"/>
          </a:p>
        </p:txBody>
      </p:sp>
      <p:sp>
        <p:nvSpPr>
          <p:cNvPr id="8" name="Shape 6"/>
          <p:cNvSpPr/>
          <p:nvPr/>
        </p:nvSpPr>
        <p:spPr>
          <a:xfrm>
            <a:off x="731520" y="1691640"/>
            <a:ext cx="3393338" cy="4389120"/>
          </a:xfrm>
          <a:prstGeom prst="roundRect">
            <a:avLst>
              <a:gd name="adj" fmla="val 2156"/>
            </a:avLst>
          </a:prstGeom>
          <a:solidFill>
            <a:srgbClr val="FFFFFF"/>
          </a:solidFill>
          <a:ln w="12700">
            <a:solidFill>
              <a:srgbClr val="CBD5E1"/>
            </a:solidFill>
            <a:prstDash val="solid"/>
          </a:ln>
        </p:spPr>
      </p:sp>
      <p:sp>
        <p:nvSpPr>
          <p:cNvPr id="9" name="Text 7"/>
          <p:cNvSpPr/>
          <p:nvPr/>
        </p:nvSpPr>
        <p:spPr>
          <a:xfrm>
            <a:off x="1005840" y="1965960"/>
            <a:ext cx="2844698" cy="5943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Unseen Test Cohort</a:t>
            </a:r>
            <a:endParaRPr lang="en-US" sz="1800" dirty="0"/>
          </a:p>
        </p:txBody>
      </p:sp>
      <p:sp>
        <p:nvSpPr>
          <p:cNvPr id="10" name="Text 8"/>
          <p:cNvSpPr/>
          <p:nvPr/>
        </p:nvSpPr>
        <p:spPr>
          <a:xfrm>
            <a:off x="1005840" y="2560320"/>
            <a:ext cx="2844698" cy="256032"/>
          </a:xfrm>
          <a:prstGeom prst="rect">
            <a:avLst/>
          </a:prstGeom>
          <a:noFill/>
          <a:ln/>
        </p:spPr>
        <p:txBody>
          <a:bodyPr wrap="square" lIns="0" tIns="0" rIns="0" bIns="0" rtlCol="0" anchor="ctr"/>
          <a:lstStyle/>
          <a:p>
            <a:pPr indent="0" marL="0">
              <a:buNone/>
            </a:pPr>
            <a:r>
              <a:rPr lang="en-US" sz="1250" b="1" dirty="0">
                <a:solidFill>
                  <a:srgbClr val="2563EB"/>
                </a:solidFill>
                <a:latin typeface="Calibri" pitchFamily="34" charset="0"/>
                <a:ea typeface="Calibri" pitchFamily="34" charset="-122"/>
                <a:cs typeface="Calibri" pitchFamily="34" charset="-120"/>
              </a:rPr>
              <a:t>Chr 19–22, X, Y (N = 8,854)</a:t>
            </a:r>
            <a:endParaRPr lang="en-US" sz="1250" dirty="0"/>
          </a:p>
        </p:txBody>
      </p:sp>
      <p:sp>
        <p:nvSpPr>
          <p:cNvPr id="11" name="Shape 9"/>
          <p:cNvSpPr/>
          <p:nvPr/>
        </p:nvSpPr>
        <p:spPr>
          <a:xfrm>
            <a:off x="1005840" y="2880360"/>
            <a:ext cx="2844698" cy="0"/>
          </a:xfrm>
          <a:prstGeom prst="line">
            <a:avLst/>
          </a:prstGeom>
          <a:noFill/>
          <a:ln w="12700">
            <a:solidFill>
              <a:srgbClr val="CBD5E1"/>
            </a:solidFill>
            <a:prstDash val="solid"/>
          </a:ln>
        </p:spPr>
      </p:sp>
      <p:sp>
        <p:nvSpPr>
          <p:cNvPr id="12" name="Text 10"/>
          <p:cNvSpPr/>
          <p:nvPr/>
        </p:nvSpPr>
        <p:spPr>
          <a:xfrm>
            <a:off x="1005840" y="3063240"/>
            <a:ext cx="2844698" cy="2743200"/>
          </a:xfrm>
          <a:prstGeom prst="rect">
            <a:avLst/>
          </a:prstGeom>
          <a:noFill/>
          <a:ln/>
        </p:spPr>
        <p:txBody>
          <a:bodyPr wrap="square" lIns="0" tIns="0" rIns="0" bIns="0" rtlCol="0" anchor="ctr"/>
          <a:lstStyle/>
          <a:p>
            <a:pPr indent="0" marL="0">
              <a:lnSpc>
                <a:spcPct val="125000"/>
              </a:lnSpc>
              <a:buNone/>
            </a:pPr>
            <a:r>
              <a:rPr lang="en-US" sz="1350" dirty="0">
                <a:solidFill>
                  <a:srgbClr val="334155"/>
                </a:solidFill>
                <a:latin typeface="Calibri" pitchFamily="34" charset="0"/>
                <a:ea typeface="Calibri" pitchFamily="34" charset="-122"/>
                <a:cs typeface="Calibri" pitchFamily="34" charset="-120"/>
              </a:rPr>
              <a:t>All models were evaluated on unseen chromosomes containing 8,854 variants (7,326 disease variants and 1,528 benign variants; 4.8:1 imbalance ratio). Zero overlap with training chromosomes.</a:t>
            </a:r>
            <a:endParaRPr lang="en-US" sz="1350" dirty="0"/>
          </a:p>
        </p:txBody>
      </p:sp>
      <p:sp>
        <p:nvSpPr>
          <p:cNvPr id="13" name="Shape 11"/>
          <p:cNvSpPr/>
          <p:nvPr/>
        </p:nvSpPr>
        <p:spPr>
          <a:xfrm>
            <a:off x="4399178" y="1691640"/>
            <a:ext cx="3393338" cy="4389120"/>
          </a:xfrm>
          <a:prstGeom prst="roundRect">
            <a:avLst>
              <a:gd name="adj" fmla="val 2156"/>
            </a:avLst>
          </a:prstGeom>
          <a:solidFill>
            <a:srgbClr val="FFFFFF"/>
          </a:solidFill>
          <a:ln w="12700">
            <a:solidFill>
              <a:srgbClr val="CBD5E1"/>
            </a:solidFill>
            <a:prstDash val="solid"/>
          </a:ln>
        </p:spPr>
      </p:sp>
      <p:sp>
        <p:nvSpPr>
          <p:cNvPr id="14" name="Text 12"/>
          <p:cNvSpPr/>
          <p:nvPr/>
        </p:nvSpPr>
        <p:spPr>
          <a:xfrm>
            <a:off x="4673498" y="1965960"/>
            <a:ext cx="2844698" cy="5943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PR-AUC Over Accuracy</a:t>
            </a:r>
            <a:endParaRPr lang="en-US" sz="1800" dirty="0"/>
          </a:p>
        </p:txBody>
      </p:sp>
      <p:sp>
        <p:nvSpPr>
          <p:cNvPr id="15" name="Text 13"/>
          <p:cNvSpPr/>
          <p:nvPr/>
        </p:nvSpPr>
        <p:spPr>
          <a:xfrm>
            <a:off x="4673498" y="2560320"/>
            <a:ext cx="2844698" cy="256032"/>
          </a:xfrm>
          <a:prstGeom prst="rect">
            <a:avLst/>
          </a:prstGeom>
          <a:noFill/>
          <a:ln/>
        </p:spPr>
        <p:txBody>
          <a:bodyPr wrap="square" lIns="0" tIns="0" rIns="0" bIns="0" rtlCol="0" anchor="ctr"/>
          <a:lstStyle/>
          <a:p>
            <a:pPr indent="0" marL="0">
              <a:buNone/>
            </a:pPr>
            <a:r>
              <a:rPr lang="en-US" sz="1250" b="1" dirty="0">
                <a:solidFill>
                  <a:srgbClr val="7C3AED"/>
                </a:solidFill>
                <a:latin typeface="Calibri" pitchFamily="34" charset="0"/>
                <a:ea typeface="Calibri" pitchFamily="34" charset="-122"/>
                <a:cs typeface="Calibri" pitchFamily="34" charset="-120"/>
              </a:rPr>
              <a:t>Precision-Recall Area</a:t>
            </a:r>
            <a:endParaRPr lang="en-US" sz="1250" dirty="0"/>
          </a:p>
        </p:txBody>
      </p:sp>
      <p:sp>
        <p:nvSpPr>
          <p:cNvPr id="16" name="Shape 14"/>
          <p:cNvSpPr/>
          <p:nvPr/>
        </p:nvSpPr>
        <p:spPr>
          <a:xfrm>
            <a:off x="4673498" y="2880360"/>
            <a:ext cx="2844698" cy="0"/>
          </a:xfrm>
          <a:prstGeom prst="line">
            <a:avLst/>
          </a:prstGeom>
          <a:noFill/>
          <a:ln w="12700">
            <a:solidFill>
              <a:srgbClr val="CBD5E1"/>
            </a:solidFill>
            <a:prstDash val="solid"/>
          </a:ln>
        </p:spPr>
      </p:sp>
      <p:sp>
        <p:nvSpPr>
          <p:cNvPr id="17" name="Text 15"/>
          <p:cNvSpPr/>
          <p:nvPr/>
        </p:nvSpPr>
        <p:spPr>
          <a:xfrm>
            <a:off x="4673498" y="3063240"/>
            <a:ext cx="2844698" cy="2743200"/>
          </a:xfrm>
          <a:prstGeom prst="rect">
            <a:avLst/>
          </a:prstGeom>
          <a:noFill/>
          <a:ln/>
        </p:spPr>
        <p:txBody>
          <a:bodyPr wrap="square" lIns="0" tIns="0" rIns="0" bIns="0" rtlCol="0" anchor="ctr"/>
          <a:lstStyle/>
          <a:p>
            <a:pPr indent="0" marL="0">
              <a:lnSpc>
                <a:spcPct val="125000"/>
              </a:lnSpc>
              <a:buNone/>
            </a:pPr>
            <a:r>
              <a:rPr lang="en-US" sz="1350" dirty="0">
                <a:solidFill>
                  <a:srgbClr val="334155"/>
                </a:solidFill>
                <a:latin typeface="Calibri" pitchFamily="34" charset="0"/>
                <a:ea typeface="Calibri" pitchFamily="34" charset="-122"/>
                <a:cs typeface="Calibri" pitchFamily="34" charset="-120"/>
              </a:rPr>
              <a:t>Why Accuracy is Banned: 83% of variants are benign. A lazy model predicting "Benign" for everything gets 83% accuracy while missing 100% of diseases! PR-AUC measures true disease detection without being tricked by harmless variants.</a:t>
            </a:r>
            <a:endParaRPr lang="en-US" sz="1350" dirty="0"/>
          </a:p>
        </p:txBody>
      </p:sp>
      <p:sp>
        <p:nvSpPr>
          <p:cNvPr id="18" name="Shape 16"/>
          <p:cNvSpPr/>
          <p:nvPr/>
        </p:nvSpPr>
        <p:spPr>
          <a:xfrm>
            <a:off x="8066837" y="1691640"/>
            <a:ext cx="3393338" cy="4389120"/>
          </a:xfrm>
          <a:prstGeom prst="roundRect">
            <a:avLst>
              <a:gd name="adj" fmla="val 2156"/>
            </a:avLst>
          </a:prstGeom>
          <a:solidFill>
            <a:srgbClr val="FFFFFF"/>
          </a:solidFill>
          <a:ln w="12700">
            <a:solidFill>
              <a:srgbClr val="CBD5E1"/>
            </a:solidFill>
            <a:prstDash val="solid"/>
          </a:ln>
        </p:spPr>
      </p:sp>
      <p:sp>
        <p:nvSpPr>
          <p:cNvPr id="19" name="Text 17"/>
          <p:cNvSpPr/>
          <p:nvPr/>
        </p:nvSpPr>
        <p:spPr>
          <a:xfrm>
            <a:off x="8341157" y="1965960"/>
            <a:ext cx="2844698" cy="5943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Clinical Safety Metrics</a:t>
            </a:r>
            <a:endParaRPr lang="en-US" sz="1800" dirty="0"/>
          </a:p>
        </p:txBody>
      </p:sp>
      <p:sp>
        <p:nvSpPr>
          <p:cNvPr id="20" name="Text 18"/>
          <p:cNvSpPr/>
          <p:nvPr/>
        </p:nvSpPr>
        <p:spPr>
          <a:xfrm>
            <a:off x="8341157" y="2560320"/>
            <a:ext cx="2844698" cy="256032"/>
          </a:xfrm>
          <a:prstGeom prst="rect">
            <a:avLst/>
          </a:prstGeom>
          <a:noFill/>
          <a:ln/>
        </p:spPr>
        <p:txBody>
          <a:bodyPr wrap="square" lIns="0" tIns="0" rIns="0" bIns="0" rtlCol="0" anchor="ctr"/>
          <a:lstStyle/>
          <a:p>
            <a:pPr indent="0" marL="0">
              <a:buNone/>
            </a:pPr>
            <a:r>
              <a:rPr lang="en-US" sz="1250" b="1" dirty="0">
                <a:solidFill>
                  <a:srgbClr val="059669"/>
                </a:solidFill>
                <a:latin typeface="Calibri" pitchFamily="34" charset="0"/>
                <a:ea typeface="Calibri" pitchFamily="34" charset="-122"/>
                <a:cs typeface="Calibri" pitchFamily="34" charset="-120"/>
              </a:rPr>
              <a:t>Sensitivity &amp; Brier Score</a:t>
            </a:r>
            <a:endParaRPr lang="en-US" sz="1250" dirty="0"/>
          </a:p>
        </p:txBody>
      </p:sp>
      <p:sp>
        <p:nvSpPr>
          <p:cNvPr id="21" name="Shape 19"/>
          <p:cNvSpPr/>
          <p:nvPr/>
        </p:nvSpPr>
        <p:spPr>
          <a:xfrm>
            <a:off x="8341157" y="2880360"/>
            <a:ext cx="2844698" cy="0"/>
          </a:xfrm>
          <a:prstGeom prst="line">
            <a:avLst/>
          </a:prstGeom>
          <a:noFill/>
          <a:ln w="12700">
            <a:solidFill>
              <a:srgbClr val="CBD5E1"/>
            </a:solidFill>
            <a:prstDash val="solid"/>
          </a:ln>
        </p:spPr>
      </p:sp>
      <p:sp>
        <p:nvSpPr>
          <p:cNvPr id="22" name="Text 20"/>
          <p:cNvSpPr/>
          <p:nvPr/>
        </p:nvSpPr>
        <p:spPr>
          <a:xfrm>
            <a:off x="8341157" y="3063240"/>
            <a:ext cx="2844698" cy="2743200"/>
          </a:xfrm>
          <a:prstGeom prst="rect">
            <a:avLst/>
          </a:prstGeom>
          <a:noFill/>
          <a:ln/>
        </p:spPr>
        <p:txBody>
          <a:bodyPr wrap="square" lIns="0" tIns="0" rIns="0" bIns="0" rtlCol="0" anchor="ctr"/>
          <a:lstStyle/>
          <a:p>
            <a:pPr indent="0" marL="0">
              <a:lnSpc>
                <a:spcPct val="125000"/>
              </a:lnSpc>
              <a:buNone/>
            </a:pPr>
            <a:r>
              <a:rPr lang="en-US" sz="1350" dirty="0">
                <a:solidFill>
                  <a:srgbClr val="334155"/>
                </a:solidFill>
                <a:latin typeface="Calibri" pitchFamily="34" charset="0"/>
                <a:ea typeface="Calibri" pitchFamily="34" charset="-122"/>
                <a:cs typeface="Calibri" pitchFamily="34" charset="-120"/>
              </a:rPr>
              <a:t>Clinical Sensitivity (Recall) measures the % of true disease mutations captured (minimizing missed diseases). Top-5% Precision checks purity at the top of the queue. Brier Score measures probability honesty.</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47472"/>
            <a:ext cx="10728655" cy="256032"/>
          </a:xfrm>
          <a:prstGeom prst="rect">
            <a:avLst/>
          </a:prstGeom>
          <a:noFill/>
          <a:ln/>
        </p:spPr>
        <p:txBody>
          <a:bodyPr wrap="square" rtlCol="0" anchor="ctr"/>
          <a:lstStyle/>
          <a:p>
            <a:pPr indent="0" marL="0">
              <a:buNone/>
            </a:pPr>
            <a:r>
              <a:rPr lang="en-US" sz="1200" b="1" dirty="0">
                <a:solidFill>
                  <a:srgbClr val="2563EB"/>
                </a:solidFill>
                <a:latin typeface="Calibri" pitchFamily="34" charset="0"/>
                <a:ea typeface="Calibri" pitchFamily="34" charset="-122"/>
                <a:cs typeface="Calibri" pitchFamily="34" charset="-120"/>
              </a:rPr>
              <a:t>BASELINE PERFORMANCE</a:t>
            </a:r>
            <a:endParaRPr lang="en-US" sz="1200" dirty="0"/>
          </a:p>
        </p:txBody>
      </p:sp>
      <p:sp>
        <p:nvSpPr>
          <p:cNvPr id="3" name="Text 1"/>
          <p:cNvSpPr/>
          <p:nvPr/>
        </p:nvSpPr>
        <p:spPr>
          <a:xfrm>
            <a:off x="731520" y="621792"/>
            <a:ext cx="10728655" cy="45720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Baseline Model Results: Classical Tree Ensembles</a:t>
            </a:r>
            <a:endParaRPr lang="en-US" sz="2200" dirty="0"/>
          </a:p>
        </p:txBody>
      </p:sp>
      <p:sp>
        <p:nvSpPr>
          <p:cNvPr id="4" name="Text 2"/>
          <p:cNvSpPr/>
          <p:nvPr/>
        </p:nvSpPr>
        <p:spPr>
          <a:xfrm>
            <a:off x="731520" y="1097280"/>
            <a:ext cx="10728655" cy="292608"/>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Benchmarking standard machine learning models on unseen test chromosomes</a:t>
            </a:r>
            <a:endParaRPr lang="en-US" sz="1400" dirty="0"/>
          </a:p>
        </p:txBody>
      </p:sp>
      <p:sp>
        <p:nvSpPr>
          <p:cNvPr id="5" name="Shape 3"/>
          <p:cNvSpPr/>
          <p:nvPr/>
        </p:nvSpPr>
        <p:spPr>
          <a:xfrm>
            <a:off x="731520" y="1426464"/>
            <a:ext cx="10728655" cy="0"/>
          </a:xfrm>
          <a:prstGeom prst="line">
            <a:avLst/>
          </a:prstGeom>
          <a:noFill/>
          <a:ln w="12700">
            <a:solidFill>
              <a:srgbClr val="CBD5E1"/>
            </a:solidFill>
            <a:prstDash val="solid"/>
          </a:ln>
        </p:spPr>
      </p:sp>
      <p:sp>
        <p:nvSpPr>
          <p:cNvPr id="6" name="Text 4"/>
          <p:cNvSpPr/>
          <p:nvPr/>
        </p:nvSpPr>
        <p:spPr>
          <a:xfrm>
            <a:off x="731520" y="6355080"/>
            <a:ext cx="7772400" cy="29260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Department of Artificial Intelligence  |  Final Project Review  |  Amrita Vishwa Vidyapeetham</a:t>
            </a:r>
            <a:endParaRPr lang="en-US" sz="1100" dirty="0"/>
          </a:p>
        </p:txBody>
      </p:sp>
      <p:sp>
        <p:nvSpPr>
          <p:cNvPr id="7" name="Text 5"/>
          <p:cNvSpPr/>
          <p:nvPr/>
        </p:nvSpPr>
        <p:spPr>
          <a:xfrm>
            <a:off x="9448495" y="6355080"/>
            <a:ext cx="2011680" cy="292608"/>
          </a:xfrm>
          <a:prstGeom prst="rect">
            <a:avLst/>
          </a:prstGeom>
          <a:noFill/>
          <a:ln/>
        </p:spPr>
        <p:txBody>
          <a:bodyPr wrap="square" rtlCol="0" anchor="ctr"/>
          <a:lstStyle/>
          <a:p>
            <a:pPr algn="r" indent="0" marL="0">
              <a:buNone/>
            </a:pPr>
            <a:r>
              <a:rPr lang="en-US" sz="1100" dirty="0">
                <a:solidFill>
                  <a:srgbClr val="64748B"/>
                </a:solidFill>
                <a:latin typeface="Calibri" pitchFamily="34" charset="0"/>
                <a:ea typeface="Calibri" pitchFamily="34" charset="-122"/>
                <a:cs typeface="Calibri" pitchFamily="34" charset="-120"/>
              </a:rPr>
              <a:t>Slide 16 of 24</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31520" y="1691640"/>
          <a:ext cx="6583680" cy="4389120"/>
        </p:xfrm>
        <a:graphic>
          <a:graphicData uri="http://schemas.openxmlformats.org/drawingml/2006/table">
            <a:tbl>
              <a:tblPr/>
              <a:tblGrid>
                <a:gridCol w="1920240"/>
                <a:gridCol w="914400"/>
                <a:gridCol w="914400"/>
                <a:gridCol w="914400"/>
                <a:gridCol w="960120"/>
                <a:gridCol w="960120"/>
              </a:tblGrid>
              <a:tr h="877824">
                <a:tc>
                  <a:txBody>
                    <a:bodyPr/>
                    <a:lstStyle/>
                    <a:p>
                      <a:pPr algn="ctr" indent="0" marL="0">
                        <a:buNone/>
                      </a:pPr>
                      <a:r>
                        <a:rPr lang="en-US" sz="1200" b="1" dirty="0">
                          <a:solidFill>
                            <a:srgbClr val="FFFFFF"/>
                          </a:solidFill>
                        </a:rPr>
                        <a:t>Algorithm</a:t>
                      </a:r>
                      <a:endParaRPr lang="en-US" sz="12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293B"/>
                    </a:solidFill>
                  </a:tcPr>
                </a:tc>
                <a:tc>
                  <a:txBody>
                    <a:bodyPr/>
                    <a:lstStyle/>
                    <a:p>
                      <a:pPr algn="ctr" indent="0" marL="0">
                        <a:buNone/>
                      </a:pPr>
                      <a:r>
                        <a:rPr lang="en-US" sz="1200" b="1" dirty="0">
                          <a:solidFill>
                            <a:srgbClr val="FFFFFF"/>
                          </a:solidFill>
                        </a:rPr>
                        <a:t>PR-AUC</a:t>
                      </a:r>
                      <a:endParaRPr lang="en-US" sz="12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293B"/>
                    </a:solidFill>
                  </a:tcPr>
                </a:tc>
                <a:tc>
                  <a:txBody>
                    <a:bodyPr/>
                    <a:lstStyle/>
                    <a:p>
                      <a:pPr algn="ctr" indent="0" marL="0">
                        <a:buNone/>
                      </a:pPr>
                      <a:r>
                        <a:rPr lang="en-US" sz="1200" b="1" dirty="0">
                          <a:solidFill>
                            <a:srgbClr val="FFFFFF"/>
                          </a:solidFill>
                        </a:rPr>
                        <a:t>ROC-AUC</a:t>
                      </a:r>
                      <a:endParaRPr lang="en-US" sz="12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293B"/>
                    </a:solidFill>
                  </a:tcPr>
                </a:tc>
                <a:tc>
                  <a:txBody>
                    <a:bodyPr/>
                    <a:lstStyle/>
                    <a:p>
                      <a:pPr algn="ctr" indent="0" marL="0">
                        <a:buNone/>
                      </a:pPr>
                      <a:r>
                        <a:rPr lang="en-US" sz="1200" b="1" dirty="0">
                          <a:solidFill>
                            <a:srgbClr val="FFFFFF"/>
                          </a:solidFill>
                        </a:rPr>
                        <a:t>F1-Score</a:t>
                      </a:r>
                      <a:endParaRPr lang="en-US" sz="12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293B"/>
                    </a:solidFill>
                  </a:tcPr>
                </a:tc>
                <a:tc>
                  <a:txBody>
                    <a:bodyPr/>
                    <a:lstStyle/>
                    <a:p>
                      <a:pPr algn="ctr" indent="0" marL="0">
                        <a:buNone/>
                      </a:pPr>
                      <a:r>
                        <a:rPr lang="en-US" sz="1200" b="1" dirty="0">
                          <a:solidFill>
                            <a:srgbClr val="FFFFFF"/>
                          </a:solidFill>
                        </a:rPr>
                        <a:t>Sensitivity</a:t>
                      </a:r>
                      <a:endParaRPr lang="en-US" sz="12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293B"/>
                    </a:solidFill>
                  </a:tcPr>
                </a:tc>
                <a:tc>
                  <a:txBody>
                    <a:bodyPr/>
                    <a:lstStyle/>
                    <a:p>
                      <a:pPr algn="ctr" indent="0" marL="0">
                        <a:buNone/>
                      </a:pPr>
                      <a:r>
                        <a:rPr lang="en-US" sz="1200" b="1" dirty="0">
                          <a:solidFill>
                            <a:srgbClr val="FFFFFF"/>
                          </a:solidFill>
                        </a:rPr>
                        <a:t>Top-5% Prec</a:t>
                      </a:r>
                      <a:endParaRPr lang="en-US" sz="12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293B"/>
                    </a:solidFill>
                  </a:tcPr>
                </a:tc>
              </a:tr>
              <a:tr h="877824">
                <a:tc>
                  <a:txBody>
                    <a:bodyPr/>
                    <a:lstStyle/>
                    <a:p>
                      <a:pPr algn="ctr" indent="0" marL="0">
                        <a:buNone/>
                      </a:pPr>
                      <a:r>
                        <a:rPr lang="en-US" sz="1150" b="1" dirty="0">
                          <a:solidFill>
                            <a:srgbClr val="0F172A"/>
                          </a:solidFill>
                        </a:rPr>
                        <a:t>Logistic Regression</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150" dirty="0">
                          <a:solidFill>
                            <a:srgbClr val="334155"/>
                          </a:solidFill>
                        </a:rPr>
                        <a:t>0.9544</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150" dirty="0">
                          <a:solidFill>
                            <a:srgbClr val="334155"/>
                          </a:solidFill>
                        </a:rPr>
                        <a:t>0.8411</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150" dirty="0">
                          <a:solidFill>
                            <a:srgbClr val="334155"/>
                          </a:solidFill>
                        </a:rPr>
                        <a:t>0.925</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150" dirty="0">
                          <a:solidFill>
                            <a:srgbClr val="334155"/>
                          </a:solidFill>
                        </a:rPr>
                        <a:t>88.2%</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150" dirty="0">
                          <a:solidFill>
                            <a:srgbClr val="334155"/>
                          </a:solidFill>
                        </a:rPr>
                        <a:t>99.8%</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877824">
                <a:tc>
                  <a:txBody>
                    <a:bodyPr/>
                    <a:lstStyle/>
                    <a:p>
                      <a:pPr algn="ctr" indent="0" marL="0">
                        <a:buNone/>
                      </a:pPr>
                      <a:r>
                        <a:rPr lang="en-US" sz="1150" b="1" dirty="0">
                          <a:solidFill>
                            <a:srgbClr val="0F172A"/>
                          </a:solidFill>
                        </a:rPr>
                        <a:t>Random Forest</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150" dirty="0">
                          <a:solidFill>
                            <a:srgbClr val="334155"/>
                          </a:solidFill>
                        </a:rPr>
                        <a:t>0.9682</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150" dirty="0">
                          <a:solidFill>
                            <a:srgbClr val="334155"/>
                          </a:solidFill>
                        </a:rPr>
                        <a:t>0.8807</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150" dirty="0">
                          <a:solidFill>
                            <a:srgbClr val="334155"/>
                          </a:solidFill>
                        </a:rPr>
                        <a:t>0.931</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150" dirty="0">
                          <a:solidFill>
                            <a:srgbClr val="334155"/>
                          </a:solidFill>
                        </a:rPr>
                        <a:t>89.7%</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150" dirty="0">
                          <a:solidFill>
                            <a:srgbClr val="334155"/>
                          </a:solidFill>
                        </a:rPr>
                        <a:t>99.1%</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877824">
                <a:tc>
                  <a:txBody>
                    <a:bodyPr/>
                    <a:lstStyle/>
                    <a:p>
                      <a:pPr algn="ctr" indent="0" marL="0">
                        <a:buNone/>
                      </a:pPr>
                      <a:r>
                        <a:rPr lang="en-US" sz="1150" b="1" dirty="0">
                          <a:solidFill>
                            <a:srgbClr val="0F172A"/>
                          </a:solidFill>
                        </a:rPr>
                        <a:t>LightGBM</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150" dirty="0">
                          <a:solidFill>
                            <a:srgbClr val="334155"/>
                          </a:solidFill>
                        </a:rPr>
                        <a:t>0.9698</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150" dirty="0">
                          <a:solidFill>
                            <a:srgbClr val="334155"/>
                          </a:solidFill>
                        </a:rPr>
                        <a:t>0.8877</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150" dirty="0">
                          <a:solidFill>
                            <a:srgbClr val="334155"/>
                          </a:solidFill>
                        </a:rPr>
                        <a:t>0.935</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150" dirty="0">
                          <a:solidFill>
                            <a:srgbClr val="334155"/>
                          </a:solidFill>
                        </a:rPr>
                        <a:t>88.6%</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150" dirty="0">
                          <a:solidFill>
                            <a:srgbClr val="334155"/>
                          </a:solidFill>
                        </a:rPr>
                        <a:t>99.1%</a:t>
                      </a:r>
                      <a:endParaRPr lang="en-US" sz="115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877824">
                <a:tc>
                  <a:txBody>
                    <a:bodyPr/>
                    <a:lstStyle/>
                    <a:p>
                      <a:pPr algn="ctr" indent="0" marL="0">
                        <a:buNone/>
                      </a:pPr>
                      <a:r>
                        <a:rPr lang="en-US" sz="1200" b="1" dirty="0">
                          <a:solidFill>
                            <a:srgbClr val="2563EB"/>
                          </a:solidFill>
                        </a:rPr>
                        <a:t>XGBoost (Best Classical)</a:t>
                      </a:r>
                      <a:endParaRPr lang="en-US" sz="12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EFF6FF"/>
                    </a:solidFill>
                  </a:tcPr>
                </a:tc>
                <a:tc>
                  <a:txBody>
                    <a:bodyPr/>
                    <a:lstStyle/>
                    <a:p>
                      <a:pPr algn="ctr" indent="0" marL="0">
                        <a:buNone/>
                      </a:pPr>
                      <a:r>
                        <a:rPr lang="en-US" sz="1200" b="1" dirty="0">
                          <a:solidFill>
                            <a:srgbClr val="2563EB"/>
                          </a:solidFill>
                        </a:rPr>
                        <a:t>0.9696</a:t>
                      </a:r>
                      <a:endParaRPr lang="en-US" sz="12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EFF6FF"/>
                    </a:solidFill>
                  </a:tcPr>
                </a:tc>
                <a:tc>
                  <a:txBody>
                    <a:bodyPr/>
                    <a:lstStyle/>
                    <a:p>
                      <a:pPr algn="ctr" indent="0" marL="0">
                        <a:buNone/>
                      </a:pPr>
                      <a:r>
                        <a:rPr lang="en-US" sz="1200" b="1" dirty="0">
                          <a:solidFill>
                            <a:srgbClr val="2563EB"/>
                          </a:solidFill>
                        </a:rPr>
                        <a:t>0.8883</a:t>
                      </a:r>
                      <a:endParaRPr lang="en-US" sz="12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EFF6FF"/>
                    </a:solidFill>
                  </a:tcPr>
                </a:tc>
                <a:tc>
                  <a:txBody>
                    <a:bodyPr/>
                    <a:lstStyle/>
                    <a:p>
                      <a:pPr algn="ctr" indent="0" marL="0">
                        <a:buNone/>
                      </a:pPr>
                      <a:r>
                        <a:rPr lang="en-US" sz="1200" b="1" dirty="0">
                          <a:solidFill>
                            <a:srgbClr val="2563EB"/>
                          </a:solidFill>
                        </a:rPr>
                        <a:t>0.936</a:t>
                      </a:r>
                      <a:endParaRPr lang="en-US" sz="12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EFF6FF"/>
                    </a:solidFill>
                  </a:tcPr>
                </a:tc>
                <a:tc>
                  <a:txBody>
                    <a:bodyPr/>
                    <a:lstStyle/>
                    <a:p>
                      <a:pPr algn="ctr" indent="0" marL="0">
                        <a:buNone/>
                      </a:pPr>
                      <a:r>
                        <a:rPr lang="en-US" sz="1200" b="1" dirty="0">
                          <a:solidFill>
                            <a:srgbClr val="2563EB"/>
                          </a:solidFill>
                        </a:rPr>
                        <a:t>88.4%</a:t>
                      </a:r>
                      <a:endParaRPr lang="en-US" sz="12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EFF6FF"/>
                    </a:solidFill>
                  </a:tcPr>
                </a:tc>
                <a:tc>
                  <a:txBody>
                    <a:bodyPr/>
                    <a:lstStyle/>
                    <a:p>
                      <a:pPr algn="ctr" indent="0" marL="0">
                        <a:buNone/>
                      </a:pPr>
                      <a:r>
                        <a:rPr lang="en-US" sz="1200" b="1" dirty="0">
                          <a:solidFill>
                            <a:srgbClr val="2563EB"/>
                          </a:solidFill>
                        </a:rPr>
                        <a:t>98.9%</a:t>
                      </a:r>
                      <a:endParaRPr lang="en-US" sz="1200" dirty="0"/>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EFF6FF"/>
                    </a:solidFill>
                  </a:tcPr>
                </a:tc>
              </a:tr>
            </a:tbl>
          </a:graphicData>
        </a:graphic>
      </p:graphicFrame>
      <p:sp>
        <p:nvSpPr>
          <p:cNvPr id="9" name="Shape 6"/>
          <p:cNvSpPr/>
          <p:nvPr/>
        </p:nvSpPr>
        <p:spPr>
          <a:xfrm>
            <a:off x="7589520" y="1691640"/>
            <a:ext cx="3870655" cy="2057400"/>
          </a:xfrm>
          <a:prstGeom prst="roundRect">
            <a:avLst>
              <a:gd name="adj" fmla="val 3556"/>
            </a:avLst>
          </a:prstGeom>
          <a:solidFill>
            <a:srgbClr val="FFFFFF"/>
          </a:solidFill>
          <a:ln w="12700">
            <a:solidFill>
              <a:srgbClr val="CBD5E1"/>
            </a:solidFill>
            <a:prstDash val="solid"/>
          </a:ln>
        </p:spPr>
      </p:sp>
      <p:sp>
        <p:nvSpPr>
          <p:cNvPr id="10" name="Text 7"/>
          <p:cNvSpPr/>
          <p:nvPr/>
        </p:nvSpPr>
        <p:spPr>
          <a:xfrm>
            <a:off x="7818120" y="1828800"/>
            <a:ext cx="3413455" cy="594360"/>
          </a:xfrm>
          <a:prstGeom prst="rect">
            <a:avLst/>
          </a:prstGeom>
          <a:noFill/>
          <a:ln/>
        </p:spPr>
        <p:txBody>
          <a:bodyPr wrap="square" lIns="0" tIns="0" rIns="0" bIns="0" rtlCol="0" anchor="ctr"/>
          <a:lstStyle/>
          <a:p>
            <a:pPr indent="0" marL="0">
              <a:buNone/>
            </a:pPr>
            <a:r>
              <a:rPr lang="en-US" sz="3200" b="1" dirty="0">
                <a:solidFill>
                  <a:srgbClr val="2563EB"/>
                </a:solidFill>
                <a:latin typeface="Calibri" pitchFamily="34" charset="0"/>
                <a:ea typeface="Calibri" pitchFamily="34" charset="-122"/>
                <a:cs typeface="Calibri" pitchFamily="34" charset="-120"/>
              </a:rPr>
              <a:t>0.9696</a:t>
            </a:r>
            <a:endParaRPr lang="en-US" sz="3200" dirty="0"/>
          </a:p>
        </p:txBody>
      </p:sp>
      <p:sp>
        <p:nvSpPr>
          <p:cNvPr id="11" name="Text 8"/>
          <p:cNvSpPr/>
          <p:nvPr/>
        </p:nvSpPr>
        <p:spPr>
          <a:xfrm>
            <a:off x="7818120" y="2441448"/>
            <a:ext cx="3413455" cy="320040"/>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XGBoost PR-AUC Baseline</a:t>
            </a:r>
            <a:endParaRPr lang="en-US" sz="1350" dirty="0"/>
          </a:p>
        </p:txBody>
      </p:sp>
      <p:sp>
        <p:nvSpPr>
          <p:cNvPr id="12" name="Text 9"/>
          <p:cNvSpPr/>
          <p:nvPr/>
        </p:nvSpPr>
        <p:spPr>
          <a:xfrm>
            <a:off x="7818120" y="2788920"/>
            <a:ext cx="3413455" cy="868680"/>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Strong baseline ranking on the holdout test set, leading all other tree algorithms.</a:t>
            </a:r>
            <a:endParaRPr lang="en-US" sz="1150" dirty="0"/>
          </a:p>
        </p:txBody>
      </p:sp>
      <p:sp>
        <p:nvSpPr>
          <p:cNvPr id="13" name="Shape 10"/>
          <p:cNvSpPr/>
          <p:nvPr/>
        </p:nvSpPr>
        <p:spPr>
          <a:xfrm>
            <a:off x="7589520" y="3977640"/>
            <a:ext cx="3870655" cy="2103120"/>
          </a:xfrm>
          <a:prstGeom prst="roundRect">
            <a:avLst>
              <a:gd name="adj" fmla="val 3478"/>
            </a:avLst>
          </a:prstGeom>
          <a:solidFill>
            <a:srgbClr val="FFFFFF"/>
          </a:solidFill>
          <a:ln w="12700">
            <a:solidFill>
              <a:srgbClr val="CBD5E1"/>
            </a:solidFill>
            <a:prstDash val="solid"/>
          </a:ln>
        </p:spPr>
      </p:sp>
      <p:sp>
        <p:nvSpPr>
          <p:cNvPr id="14" name="Text 11"/>
          <p:cNvSpPr/>
          <p:nvPr/>
        </p:nvSpPr>
        <p:spPr>
          <a:xfrm>
            <a:off x="7818120" y="4160520"/>
            <a:ext cx="3413455" cy="256032"/>
          </a:xfrm>
          <a:prstGeom prst="rect">
            <a:avLst/>
          </a:prstGeom>
          <a:noFill/>
          <a:ln/>
        </p:spPr>
        <p:txBody>
          <a:bodyPr wrap="square" rtlCol="0" anchor="ctr"/>
          <a:lstStyle/>
          <a:p>
            <a:pPr indent="0" marL="0">
              <a:buNone/>
            </a:pPr>
            <a:r>
              <a:rPr lang="en-US" sz="1150" b="1" dirty="0">
                <a:solidFill>
                  <a:srgbClr val="D97706"/>
                </a:solidFill>
                <a:latin typeface="Calibri" pitchFamily="34" charset="0"/>
                <a:ea typeface="Calibri" pitchFamily="34" charset="-122"/>
                <a:cs typeface="Calibri" pitchFamily="34" charset="-120"/>
              </a:rPr>
              <a:t>THE DANGEROUS TREE LIMITATION</a:t>
            </a:r>
            <a:endParaRPr lang="en-US" sz="1150" dirty="0"/>
          </a:p>
        </p:txBody>
      </p:sp>
      <p:sp>
        <p:nvSpPr>
          <p:cNvPr id="15" name="Text 12"/>
          <p:cNvSpPr/>
          <p:nvPr/>
        </p:nvSpPr>
        <p:spPr>
          <a:xfrm>
            <a:off x="7818120" y="4462272"/>
            <a:ext cx="3413455" cy="32004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Why Trees Alone Are Not Enough</a:t>
            </a:r>
            <a:endParaRPr lang="en-US" sz="1600" dirty="0"/>
          </a:p>
        </p:txBody>
      </p:sp>
      <p:sp>
        <p:nvSpPr>
          <p:cNvPr id="16" name="Text 13"/>
          <p:cNvSpPr/>
          <p:nvPr/>
        </p:nvSpPr>
        <p:spPr>
          <a:xfrm>
            <a:off x="7818120" y="4846320"/>
            <a:ext cx="3413455" cy="1097280"/>
          </a:xfrm>
          <a:prstGeom prst="rect">
            <a:avLst/>
          </a:prstGeom>
          <a:noFill/>
          <a:ln/>
        </p:spPr>
        <p:txBody>
          <a:bodyPr wrap="square" lIns="0" tIns="0" rIns="0" bIns="0" rtlCol="0" anchor="ctr"/>
          <a:lstStyle/>
          <a:p>
            <a:pPr indent="0" marL="0">
              <a:lnSpc>
                <a:spcPct val="120000"/>
              </a:lnSpc>
              <a:buNone/>
            </a:pPr>
            <a:r>
              <a:rPr lang="en-US" sz="1200" b="1" dirty="0">
                <a:solidFill>
                  <a:srgbClr val="0F172A"/>
                </a:solidFill>
              </a:rPr>
              <a:t>1. Rigid Step Cuts: </a:t>
            </a:r>
            <a:pPr indent="0" marL="0">
              <a:lnSpc>
                <a:spcPct val="120000"/>
              </a:lnSpc>
              <a:buNone/>
            </a:pPr>
            <a:r>
              <a:rPr lang="en-US" sz="1200" dirty="0">
                <a:solidFill>
                  <a:srgbClr val="334155"/>
                </a:solidFill>
              </a:rPr>
              <a:t>Trees cut continuous rarity curves into rigid blocks, losing fine-grained signals.
</a:t>
            </a:r>
            <a:pPr indent="0" marL="0">
              <a:lnSpc>
                <a:spcPct val="120000"/>
              </a:lnSpc>
              <a:buNone/>
            </a:pPr>
            <a:r>
              <a:rPr lang="en-US" sz="1200" b="1" dirty="0">
                <a:solidFill>
                  <a:srgbClr val="0F172A"/>
                </a:solidFill>
              </a:rPr>
              <a:t>2. 1,745 Missed Diseases: </a:t>
            </a:r>
            <a:pPr indent="0" marL="0">
              <a:lnSpc>
                <a:spcPct val="120000"/>
              </a:lnSpc>
              <a:buNone/>
            </a:pPr>
            <a:r>
              <a:rPr lang="en-US" sz="1200" dirty="0">
                <a:solidFill>
                  <a:srgbClr val="334155"/>
                </a:solidFill>
              </a:rPr>
              <a:t>At standard cutoffs, XGBoost misses 1,745 disease variants. In healthcare, missing sick patients is unacceptable.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47472"/>
            <a:ext cx="10728655" cy="256032"/>
          </a:xfrm>
          <a:prstGeom prst="rect">
            <a:avLst/>
          </a:prstGeom>
          <a:noFill/>
          <a:ln/>
        </p:spPr>
        <p:txBody>
          <a:bodyPr wrap="square" rtlCol="0" anchor="ctr"/>
          <a:lstStyle/>
          <a:p>
            <a:pPr indent="0" marL="0">
              <a:buNone/>
            </a:pPr>
            <a:r>
              <a:rPr lang="en-US" sz="1200" b="1" dirty="0">
                <a:solidFill>
                  <a:srgbClr val="2563EB"/>
                </a:solidFill>
                <a:latin typeface="Calibri" pitchFamily="34" charset="0"/>
                <a:ea typeface="Calibri" pitchFamily="34" charset="-122"/>
                <a:cs typeface="Calibri" pitchFamily="34" charset="-120"/>
              </a:rPr>
              <a:t>BENCHMARK RESULTS</a:t>
            </a:r>
            <a:endParaRPr lang="en-US" sz="1200" dirty="0"/>
          </a:p>
        </p:txBody>
      </p:sp>
      <p:sp>
        <p:nvSpPr>
          <p:cNvPr id="3" name="Text 1"/>
          <p:cNvSpPr/>
          <p:nvPr/>
        </p:nvSpPr>
        <p:spPr>
          <a:xfrm>
            <a:off x="731520" y="621792"/>
            <a:ext cx="10728655" cy="45720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Deep Learning Results: Slashed Missed Diseases</a:t>
            </a:r>
            <a:endParaRPr lang="en-US" sz="2200" dirty="0"/>
          </a:p>
        </p:txBody>
      </p:sp>
      <p:sp>
        <p:nvSpPr>
          <p:cNvPr id="4" name="Text 2"/>
          <p:cNvSpPr/>
          <p:nvPr/>
        </p:nvSpPr>
        <p:spPr>
          <a:xfrm>
            <a:off x="731520" y="1097280"/>
            <a:ext cx="10728655" cy="292608"/>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Capturing 94.4% of disease variants and cutting false negatives by over 60%</a:t>
            </a:r>
            <a:endParaRPr lang="en-US" sz="1400" dirty="0"/>
          </a:p>
        </p:txBody>
      </p:sp>
      <p:sp>
        <p:nvSpPr>
          <p:cNvPr id="5" name="Shape 3"/>
          <p:cNvSpPr/>
          <p:nvPr/>
        </p:nvSpPr>
        <p:spPr>
          <a:xfrm>
            <a:off x="731520" y="1426464"/>
            <a:ext cx="10728655" cy="0"/>
          </a:xfrm>
          <a:prstGeom prst="line">
            <a:avLst/>
          </a:prstGeom>
          <a:noFill/>
          <a:ln w="12700">
            <a:solidFill>
              <a:srgbClr val="CBD5E1"/>
            </a:solidFill>
            <a:prstDash val="solid"/>
          </a:ln>
        </p:spPr>
      </p:sp>
      <p:sp>
        <p:nvSpPr>
          <p:cNvPr id="6" name="Text 4"/>
          <p:cNvSpPr/>
          <p:nvPr/>
        </p:nvSpPr>
        <p:spPr>
          <a:xfrm>
            <a:off x="731520" y="6355080"/>
            <a:ext cx="7772400" cy="29260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Department of Artificial Intelligence  |  Final Project Review  |  Amrita Vishwa Vidyapeetham</a:t>
            </a:r>
            <a:endParaRPr lang="en-US" sz="1100" dirty="0"/>
          </a:p>
        </p:txBody>
      </p:sp>
      <p:sp>
        <p:nvSpPr>
          <p:cNvPr id="7" name="Text 5"/>
          <p:cNvSpPr/>
          <p:nvPr/>
        </p:nvSpPr>
        <p:spPr>
          <a:xfrm>
            <a:off x="9448495" y="6355080"/>
            <a:ext cx="2011680" cy="292608"/>
          </a:xfrm>
          <a:prstGeom prst="rect">
            <a:avLst/>
          </a:prstGeom>
          <a:noFill/>
          <a:ln/>
        </p:spPr>
        <p:txBody>
          <a:bodyPr wrap="square" rtlCol="0" anchor="ctr"/>
          <a:lstStyle/>
          <a:p>
            <a:pPr algn="r" indent="0" marL="0">
              <a:buNone/>
            </a:pPr>
            <a:r>
              <a:rPr lang="en-US" sz="1100" dirty="0">
                <a:solidFill>
                  <a:srgbClr val="64748B"/>
                </a:solidFill>
                <a:latin typeface="Calibri" pitchFamily="34" charset="0"/>
                <a:ea typeface="Calibri" pitchFamily="34" charset="-122"/>
                <a:cs typeface="Calibri" pitchFamily="34" charset="-120"/>
              </a:rPr>
              <a:t>Slide 17 of 24</a:t>
            </a:r>
            <a:endParaRPr lang="en-US" sz="1100" dirty="0"/>
          </a:p>
        </p:txBody>
      </p:sp>
      <p:sp>
        <p:nvSpPr>
          <p:cNvPr id="8" name="Shape 6"/>
          <p:cNvSpPr/>
          <p:nvPr/>
        </p:nvSpPr>
        <p:spPr>
          <a:xfrm>
            <a:off x="731520" y="1691640"/>
            <a:ext cx="3931920" cy="1325880"/>
          </a:xfrm>
          <a:prstGeom prst="roundRect">
            <a:avLst>
              <a:gd name="adj" fmla="val 5517"/>
            </a:avLst>
          </a:prstGeom>
          <a:solidFill>
            <a:srgbClr val="FFFFFF"/>
          </a:solidFill>
          <a:ln w="12700">
            <a:solidFill>
              <a:srgbClr val="CBD5E1"/>
            </a:solidFill>
            <a:prstDash val="solid"/>
          </a:ln>
        </p:spPr>
      </p:sp>
      <p:sp>
        <p:nvSpPr>
          <p:cNvPr id="9" name="Text 7"/>
          <p:cNvSpPr/>
          <p:nvPr/>
        </p:nvSpPr>
        <p:spPr>
          <a:xfrm>
            <a:off x="960120" y="1828800"/>
            <a:ext cx="3474720" cy="594360"/>
          </a:xfrm>
          <a:prstGeom prst="rect">
            <a:avLst/>
          </a:prstGeom>
          <a:noFill/>
          <a:ln/>
        </p:spPr>
        <p:txBody>
          <a:bodyPr wrap="square" lIns="0" tIns="0" rIns="0" bIns="0" rtlCol="0" anchor="ctr"/>
          <a:lstStyle/>
          <a:p>
            <a:pPr indent="0" marL="0">
              <a:buNone/>
            </a:pPr>
            <a:r>
              <a:rPr lang="en-US" sz="3200" b="1" dirty="0">
                <a:solidFill>
                  <a:srgbClr val="059669"/>
                </a:solidFill>
                <a:latin typeface="Calibri" pitchFamily="34" charset="0"/>
                <a:ea typeface="Calibri" pitchFamily="34" charset="-122"/>
                <a:cs typeface="Calibri" pitchFamily="34" charset="-120"/>
              </a:rPr>
              <a:t>94.4%</a:t>
            </a:r>
            <a:endParaRPr lang="en-US" sz="3200" dirty="0"/>
          </a:p>
        </p:txBody>
      </p:sp>
      <p:sp>
        <p:nvSpPr>
          <p:cNvPr id="10" name="Text 8"/>
          <p:cNvSpPr/>
          <p:nvPr/>
        </p:nvSpPr>
        <p:spPr>
          <a:xfrm>
            <a:off x="960120" y="2441448"/>
            <a:ext cx="3474720" cy="320040"/>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Clinical Sensitivity (Recall)</a:t>
            </a:r>
            <a:endParaRPr lang="en-US" sz="1350" dirty="0"/>
          </a:p>
        </p:txBody>
      </p:sp>
      <p:sp>
        <p:nvSpPr>
          <p:cNvPr id="11" name="Text 9"/>
          <p:cNvSpPr/>
          <p:nvPr/>
        </p:nvSpPr>
        <p:spPr>
          <a:xfrm>
            <a:off x="960120" y="2788920"/>
            <a:ext cx="3474720" cy="137160"/>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Captures 6,916 of 7,326 disease variants on unseen test chromosomes.</a:t>
            </a:r>
            <a:endParaRPr lang="en-US" sz="1150" dirty="0"/>
          </a:p>
        </p:txBody>
      </p:sp>
      <p:sp>
        <p:nvSpPr>
          <p:cNvPr id="12" name="Shape 10"/>
          <p:cNvSpPr/>
          <p:nvPr/>
        </p:nvSpPr>
        <p:spPr>
          <a:xfrm>
            <a:off x="731520" y="3200400"/>
            <a:ext cx="3931920" cy="1325880"/>
          </a:xfrm>
          <a:prstGeom prst="roundRect">
            <a:avLst>
              <a:gd name="adj" fmla="val 5517"/>
            </a:avLst>
          </a:prstGeom>
          <a:solidFill>
            <a:srgbClr val="FFFFFF"/>
          </a:solidFill>
          <a:ln w="12700">
            <a:solidFill>
              <a:srgbClr val="CBD5E1"/>
            </a:solidFill>
            <a:prstDash val="solid"/>
          </a:ln>
        </p:spPr>
      </p:sp>
      <p:sp>
        <p:nvSpPr>
          <p:cNvPr id="13" name="Text 11"/>
          <p:cNvSpPr/>
          <p:nvPr/>
        </p:nvSpPr>
        <p:spPr>
          <a:xfrm>
            <a:off x="960120" y="3337560"/>
            <a:ext cx="3474720" cy="594360"/>
          </a:xfrm>
          <a:prstGeom prst="rect">
            <a:avLst/>
          </a:prstGeom>
          <a:noFill/>
          <a:ln/>
        </p:spPr>
        <p:txBody>
          <a:bodyPr wrap="square" lIns="0" tIns="0" rIns="0" bIns="0" rtlCol="0" anchor="ctr"/>
          <a:lstStyle/>
          <a:p>
            <a:pPr indent="0" marL="0">
              <a:buNone/>
            </a:pPr>
            <a:r>
              <a:rPr lang="en-US" sz="3200" b="1" dirty="0">
                <a:solidFill>
                  <a:srgbClr val="7C3AED"/>
                </a:solidFill>
                <a:latin typeface="Calibri" pitchFamily="34" charset="0"/>
                <a:ea typeface="Calibri" pitchFamily="34" charset="-122"/>
                <a:cs typeface="Calibri" pitchFamily="34" charset="-120"/>
              </a:rPr>
              <a:t>414 vs 1,745</a:t>
            </a:r>
            <a:endParaRPr lang="en-US" sz="3200" dirty="0"/>
          </a:p>
        </p:txBody>
      </p:sp>
      <p:sp>
        <p:nvSpPr>
          <p:cNvPr id="14" name="Text 12"/>
          <p:cNvSpPr/>
          <p:nvPr/>
        </p:nvSpPr>
        <p:spPr>
          <a:xfrm>
            <a:off x="960120" y="3950208"/>
            <a:ext cx="3474720" cy="320040"/>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Missed Disease Variants</a:t>
            </a:r>
            <a:endParaRPr lang="en-US" sz="1350" dirty="0"/>
          </a:p>
        </p:txBody>
      </p:sp>
      <p:sp>
        <p:nvSpPr>
          <p:cNvPr id="15" name="Text 13"/>
          <p:cNvSpPr/>
          <p:nvPr/>
        </p:nvSpPr>
        <p:spPr>
          <a:xfrm>
            <a:off x="960120" y="4297680"/>
            <a:ext cx="3474720" cy="137160"/>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Slashed false negatives by &gt;60% compared to standard XGBoost.</a:t>
            </a:r>
            <a:endParaRPr lang="en-US" sz="1150" dirty="0"/>
          </a:p>
        </p:txBody>
      </p:sp>
      <p:sp>
        <p:nvSpPr>
          <p:cNvPr id="16" name="Shape 14"/>
          <p:cNvSpPr/>
          <p:nvPr/>
        </p:nvSpPr>
        <p:spPr>
          <a:xfrm>
            <a:off x="731520" y="4709160"/>
            <a:ext cx="3931920" cy="1371600"/>
          </a:xfrm>
          <a:prstGeom prst="roundRect">
            <a:avLst>
              <a:gd name="adj" fmla="val 5333"/>
            </a:avLst>
          </a:prstGeom>
          <a:solidFill>
            <a:srgbClr val="FFFFFF"/>
          </a:solidFill>
          <a:ln w="12700">
            <a:solidFill>
              <a:srgbClr val="CBD5E1"/>
            </a:solidFill>
            <a:prstDash val="solid"/>
          </a:ln>
        </p:spPr>
      </p:sp>
      <p:sp>
        <p:nvSpPr>
          <p:cNvPr id="17" name="Text 15"/>
          <p:cNvSpPr/>
          <p:nvPr/>
        </p:nvSpPr>
        <p:spPr>
          <a:xfrm>
            <a:off x="960120" y="4846320"/>
            <a:ext cx="3474720" cy="594360"/>
          </a:xfrm>
          <a:prstGeom prst="rect">
            <a:avLst/>
          </a:prstGeom>
          <a:noFill/>
          <a:ln/>
        </p:spPr>
        <p:txBody>
          <a:bodyPr wrap="square" lIns="0" tIns="0" rIns="0" bIns="0" rtlCol="0" anchor="ctr"/>
          <a:lstStyle/>
          <a:p>
            <a:pPr indent="0" marL="0">
              <a:buNone/>
            </a:pPr>
            <a:r>
              <a:rPr lang="en-US" sz="3200" b="1" dirty="0">
                <a:solidFill>
                  <a:srgbClr val="2563EB"/>
                </a:solidFill>
                <a:latin typeface="Calibri" pitchFamily="34" charset="0"/>
                <a:ea typeface="Calibri" pitchFamily="34" charset="-122"/>
                <a:cs typeface="Calibri" pitchFamily="34" charset="-120"/>
              </a:rPr>
              <a:t>0.1010</a:t>
            </a:r>
            <a:endParaRPr lang="en-US" sz="3200" dirty="0"/>
          </a:p>
        </p:txBody>
      </p:sp>
      <p:sp>
        <p:nvSpPr>
          <p:cNvPr id="18" name="Text 16"/>
          <p:cNvSpPr/>
          <p:nvPr/>
        </p:nvSpPr>
        <p:spPr>
          <a:xfrm>
            <a:off x="960120" y="5458968"/>
            <a:ext cx="3474720" cy="320040"/>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Brier Calibration Loss</a:t>
            </a:r>
            <a:endParaRPr lang="en-US" sz="1350" dirty="0"/>
          </a:p>
        </p:txBody>
      </p:sp>
      <p:sp>
        <p:nvSpPr>
          <p:cNvPr id="19" name="Text 17"/>
          <p:cNvSpPr/>
          <p:nvPr/>
        </p:nvSpPr>
        <p:spPr>
          <a:xfrm>
            <a:off x="960120" y="5806440"/>
            <a:ext cx="3474720" cy="182880"/>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38.8% lower probability calibration error than tree algorithms (0.165).</a:t>
            </a:r>
            <a:endParaRPr lang="en-US" sz="1150" dirty="0"/>
          </a:p>
        </p:txBody>
      </p:sp>
      <p:pic>
        <p:nvPicPr>
          <p:cNvPr id="20" name="Image 0" descr="C:\Users\waibhav\Documents\DNA\data\figures\12_confusion_matrices.png">    </p:cNvPr>
          <p:cNvPicPr>
            <a:picLocks noChangeAspect="1"/>
          </p:cNvPicPr>
          <p:nvPr/>
        </p:nvPicPr>
        <p:blipFill>
          <a:blip r:embed="rId1"/>
          <a:stretch>
            <a:fillRect/>
          </a:stretch>
        </p:blipFill>
        <p:spPr>
          <a:xfrm>
            <a:off x="4937760" y="1691640"/>
            <a:ext cx="6522415" cy="43891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47472"/>
            <a:ext cx="10728655" cy="256032"/>
          </a:xfrm>
          <a:prstGeom prst="rect">
            <a:avLst/>
          </a:prstGeom>
          <a:noFill/>
          <a:ln/>
        </p:spPr>
        <p:txBody>
          <a:bodyPr wrap="square" rtlCol="0" anchor="ctr"/>
          <a:lstStyle/>
          <a:p>
            <a:pPr indent="0" marL="0">
              <a:buNone/>
            </a:pPr>
            <a:r>
              <a:rPr lang="en-US" sz="1200" b="1" dirty="0">
                <a:solidFill>
                  <a:srgbClr val="2563EB"/>
                </a:solidFill>
                <a:latin typeface="Calibri" pitchFamily="34" charset="0"/>
                <a:ea typeface="Calibri" pitchFamily="34" charset="-122"/>
                <a:cs typeface="Calibri" pitchFamily="34" charset="-120"/>
              </a:rPr>
              <a:t>CLINICAL VERIFICATION</a:t>
            </a:r>
            <a:endParaRPr lang="en-US" sz="1200" dirty="0"/>
          </a:p>
        </p:txBody>
      </p:sp>
      <p:sp>
        <p:nvSpPr>
          <p:cNvPr id="3" name="Text 1"/>
          <p:cNvSpPr/>
          <p:nvPr/>
        </p:nvSpPr>
        <p:spPr>
          <a:xfrm>
            <a:off x="731520" y="621792"/>
            <a:ext cx="10728655" cy="45720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Uncertainty Bounds &amp; Real-World VUS Triage</a:t>
            </a:r>
            <a:endParaRPr lang="en-US" sz="2200" dirty="0"/>
          </a:p>
        </p:txBody>
      </p:sp>
      <p:sp>
        <p:nvSpPr>
          <p:cNvPr id="4" name="Text 2"/>
          <p:cNvSpPr/>
          <p:nvPr/>
        </p:nvSpPr>
        <p:spPr>
          <a:xfrm>
            <a:off x="731520" y="1097280"/>
            <a:ext cx="10728655" cy="292608"/>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Mathematical safety guarantees, sorting 34,466 uncertain variants, and patient explanations</a:t>
            </a:r>
            <a:endParaRPr lang="en-US" sz="1400" dirty="0"/>
          </a:p>
        </p:txBody>
      </p:sp>
      <p:sp>
        <p:nvSpPr>
          <p:cNvPr id="5" name="Shape 3"/>
          <p:cNvSpPr/>
          <p:nvPr/>
        </p:nvSpPr>
        <p:spPr>
          <a:xfrm>
            <a:off x="731520" y="1426464"/>
            <a:ext cx="10728655" cy="0"/>
          </a:xfrm>
          <a:prstGeom prst="line">
            <a:avLst/>
          </a:prstGeom>
          <a:noFill/>
          <a:ln w="12700">
            <a:solidFill>
              <a:srgbClr val="CBD5E1"/>
            </a:solidFill>
            <a:prstDash val="solid"/>
          </a:ln>
        </p:spPr>
      </p:sp>
      <p:sp>
        <p:nvSpPr>
          <p:cNvPr id="6" name="Text 4"/>
          <p:cNvSpPr/>
          <p:nvPr/>
        </p:nvSpPr>
        <p:spPr>
          <a:xfrm>
            <a:off x="731520" y="6355080"/>
            <a:ext cx="7772400" cy="29260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Department of Artificial Intelligence  |  Final Project Review  |  Amrita Vishwa Vidyapeetham</a:t>
            </a:r>
            <a:endParaRPr lang="en-US" sz="1100" dirty="0"/>
          </a:p>
        </p:txBody>
      </p:sp>
      <p:sp>
        <p:nvSpPr>
          <p:cNvPr id="7" name="Text 5"/>
          <p:cNvSpPr/>
          <p:nvPr/>
        </p:nvSpPr>
        <p:spPr>
          <a:xfrm>
            <a:off x="9448495" y="6355080"/>
            <a:ext cx="2011680" cy="292608"/>
          </a:xfrm>
          <a:prstGeom prst="rect">
            <a:avLst/>
          </a:prstGeom>
          <a:noFill/>
          <a:ln/>
        </p:spPr>
        <p:txBody>
          <a:bodyPr wrap="square" rtlCol="0" anchor="ctr"/>
          <a:lstStyle/>
          <a:p>
            <a:pPr algn="r" indent="0" marL="0">
              <a:buNone/>
            </a:pPr>
            <a:r>
              <a:rPr lang="en-US" sz="1100" dirty="0">
                <a:solidFill>
                  <a:srgbClr val="64748B"/>
                </a:solidFill>
                <a:latin typeface="Calibri" pitchFamily="34" charset="0"/>
                <a:ea typeface="Calibri" pitchFamily="34" charset="-122"/>
                <a:cs typeface="Calibri" pitchFamily="34" charset="-120"/>
              </a:rPr>
              <a:t>Slide 18 of 24</a:t>
            </a:r>
            <a:endParaRPr lang="en-US" sz="1100" dirty="0"/>
          </a:p>
        </p:txBody>
      </p:sp>
      <p:sp>
        <p:nvSpPr>
          <p:cNvPr id="8" name="Shape 6"/>
          <p:cNvSpPr/>
          <p:nvPr/>
        </p:nvSpPr>
        <p:spPr>
          <a:xfrm>
            <a:off x="731520" y="1691640"/>
            <a:ext cx="3393338" cy="4389120"/>
          </a:xfrm>
          <a:prstGeom prst="roundRect">
            <a:avLst>
              <a:gd name="adj" fmla="val 2156"/>
            </a:avLst>
          </a:prstGeom>
          <a:solidFill>
            <a:srgbClr val="FFFFFF"/>
          </a:solidFill>
          <a:ln w="12700">
            <a:solidFill>
              <a:srgbClr val="CBD5E1"/>
            </a:solidFill>
            <a:prstDash val="solid"/>
          </a:ln>
        </p:spPr>
      </p:sp>
      <p:sp>
        <p:nvSpPr>
          <p:cNvPr id="9" name="Text 7"/>
          <p:cNvSpPr/>
          <p:nvPr/>
        </p:nvSpPr>
        <p:spPr>
          <a:xfrm>
            <a:off x="1005840" y="1965960"/>
            <a:ext cx="2844698" cy="5943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95% Safety Guarantee</a:t>
            </a:r>
            <a:endParaRPr lang="en-US" sz="1800" dirty="0"/>
          </a:p>
        </p:txBody>
      </p:sp>
      <p:sp>
        <p:nvSpPr>
          <p:cNvPr id="10" name="Text 8"/>
          <p:cNvSpPr/>
          <p:nvPr/>
        </p:nvSpPr>
        <p:spPr>
          <a:xfrm>
            <a:off x="1005840" y="2560320"/>
            <a:ext cx="2844698" cy="256032"/>
          </a:xfrm>
          <a:prstGeom prst="rect">
            <a:avLst/>
          </a:prstGeom>
          <a:noFill/>
          <a:ln/>
        </p:spPr>
        <p:txBody>
          <a:bodyPr wrap="square" lIns="0" tIns="0" rIns="0" bIns="0" rtlCol="0" anchor="ctr"/>
          <a:lstStyle/>
          <a:p>
            <a:pPr indent="0" marL="0">
              <a:buNone/>
            </a:pPr>
            <a:r>
              <a:rPr lang="en-US" sz="1250" b="1" dirty="0">
                <a:solidFill>
                  <a:srgbClr val="2563EB"/>
                </a:solidFill>
                <a:latin typeface="Calibri" pitchFamily="34" charset="0"/>
                <a:ea typeface="Calibri" pitchFamily="34" charset="-122"/>
                <a:cs typeface="Calibri" pitchFamily="34" charset="-120"/>
              </a:rPr>
              <a:t>Split Conformal Prediction</a:t>
            </a:r>
            <a:endParaRPr lang="en-US" sz="1250" dirty="0"/>
          </a:p>
        </p:txBody>
      </p:sp>
      <p:sp>
        <p:nvSpPr>
          <p:cNvPr id="11" name="Shape 9"/>
          <p:cNvSpPr/>
          <p:nvPr/>
        </p:nvSpPr>
        <p:spPr>
          <a:xfrm>
            <a:off x="1005840" y="2880360"/>
            <a:ext cx="2844698" cy="0"/>
          </a:xfrm>
          <a:prstGeom prst="line">
            <a:avLst/>
          </a:prstGeom>
          <a:noFill/>
          <a:ln w="12700">
            <a:solidFill>
              <a:srgbClr val="CBD5E1"/>
            </a:solidFill>
            <a:prstDash val="solid"/>
          </a:ln>
        </p:spPr>
      </p:sp>
      <p:sp>
        <p:nvSpPr>
          <p:cNvPr id="12" name="Text 10"/>
          <p:cNvSpPr/>
          <p:nvPr/>
        </p:nvSpPr>
        <p:spPr>
          <a:xfrm>
            <a:off x="1005840" y="3063240"/>
            <a:ext cx="2844698" cy="2743200"/>
          </a:xfrm>
          <a:prstGeom prst="rect">
            <a:avLst/>
          </a:prstGeom>
          <a:noFill/>
          <a:ln/>
        </p:spPr>
        <p:txBody>
          <a:bodyPr wrap="square" lIns="0" tIns="0" rIns="0" bIns="0" rtlCol="0" anchor="ctr"/>
          <a:lstStyle/>
          <a:p>
            <a:pPr indent="0" marL="0">
              <a:lnSpc>
                <a:spcPct val="125000"/>
              </a:lnSpc>
              <a:buNone/>
            </a:pPr>
            <a:r>
              <a:rPr lang="en-US" sz="1350" dirty="0">
                <a:solidFill>
                  <a:srgbClr val="334155"/>
                </a:solidFill>
                <a:latin typeface="Calibri" pitchFamily="34" charset="0"/>
                <a:ea typeface="Calibri" pitchFamily="34" charset="-122"/>
                <a:cs typeface="Calibri" pitchFamily="34" charset="-120"/>
              </a:rPr>
              <a:t>Instead of arbitrary guessing, we use conformal prediction to output certified prediction sets: {Disease}, {Harmless}, or {Uncertain}. Guaranteed 95% mathematical coverage without making unverified probability assumptions.</a:t>
            </a:r>
            <a:endParaRPr lang="en-US" sz="1350" dirty="0"/>
          </a:p>
        </p:txBody>
      </p:sp>
      <p:sp>
        <p:nvSpPr>
          <p:cNvPr id="13" name="Shape 11"/>
          <p:cNvSpPr/>
          <p:nvPr/>
        </p:nvSpPr>
        <p:spPr>
          <a:xfrm>
            <a:off x="4399178" y="1691640"/>
            <a:ext cx="3393338" cy="4389120"/>
          </a:xfrm>
          <a:prstGeom prst="roundRect">
            <a:avLst>
              <a:gd name="adj" fmla="val 2156"/>
            </a:avLst>
          </a:prstGeom>
          <a:solidFill>
            <a:srgbClr val="FFFFFF"/>
          </a:solidFill>
          <a:ln w="12700">
            <a:solidFill>
              <a:srgbClr val="CBD5E1"/>
            </a:solidFill>
            <a:prstDash val="solid"/>
          </a:ln>
        </p:spPr>
      </p:sp>
      <p:sp>
        <p:nvSpPr>
          <p:cNvPr id="14" name="Text 12"/>
          <p:cNvSpPr/>
          <p:nvPr/>
        </p:nvSpPr>
        <p:spPr>
          <a:xfrm>
            <a:off x="4673498" y="1965960"/>
            <a:ext cx="2844698" cy="5943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Sorting 34,466 VUS</a:t>
            </a:r>
            <a:endParaRPr lang="en-US" sz="1800" dirty="0"/>
          </a:p>
        </p:txBody>
      </p:sp>
      <p:sp>
        <p:nvSpPr>
          <p:cNvPr id="15" name="Text 13"/>
          <p:cNvSpPr/>
          <p:nvPr/>
        </p:nvSpPr>
        <p:spPr>
          <a:xfrm>
            <a:off x="4673498" y="2560320"/>
            <a:ext cx="2844698" cy="256032"/>
          </a:xfrm>
          <a:prstGeom prst="rect">
            <a:avLst/>
          </a:prstGeom>
          <a:noFill/>
          <a:ln/>
        </p:spPr>
        <p:txBody>
          <a:bodyPr wrap="square" lIns="0" tIns="0" rIns="0" bIns="0" rtlCol="0" anchor="ctr"/>
          <a:lstStyle/>
          <a:p>
            <a:pPr indent="0" marL="0">
              <a:buNone/>
            </a:pPr>
            <a:r>
              <a:rPr lang="en-US" sz="1250" b="1" dirty="0">
                <a:solidFill>
                  <a:srgbClr val="059669"/>
                </a:solidFill>
                <a:latin typeface="Calibri" pitchFamily="34" charset="0"/>
                <a:ea typeface="Calibri" pitchFamily="34" charset="-122"/>
                <a:cs typeface="Calibri" pitchFamily="34" charset="-120"/>
              </a:rPr>
              <a:t>Clearing Hospital Backlogs</a:t>
            </a:r>
            <a:endParaRPr lang="en-US" sz="1250" dirty="0"/>
          </a:p>
        </p:txBody>
      </p:sp>
      <p:sp>
        <p:nvSpPr>
          <p:cNvPr id="16" name="Shape 14"/>
          <p:cNvSpPr/>
          <p:nvPr/>
        </p:nvSpPr>
        <p:spPr>
          <a:xfrm>
            <a:off x="4673498" y="2880360"/>
            <a:ext cx="2844698" cy="0"/>
          </a:xfrm>
          <a:prstGeom prst="line">
            <a:avLst/>
          </a:prstGeom>
          <a:noFill/>
          <a:ln w="12700">
            <a:solidFill>
              <a:srgbClr val="CBD5E1"/>
            </a:solidFill>
            <a:prstDash val="solid"/>
          </a:ln>
        </p:spPr>
      </p:sp>
      <p:sp>
        <p:nvSpPr>
          <p:cNvPr id="17" name="Text 15"/>
          <p:cNvSpPr/>
          <p:nvPr/>
        </p:nvSpPr>
        <p:spPr>
          <a:xfrm>
            <a:off x="4673498" y="3063240"/>
            <a:ext cx="2844698" cy="2743200"/>
          </a:xfrm>
          <a:prstGeom prst="rect">
            <a:avLst/>
          </a:prstGeom>
          <a:noFill/>
          <a:ln/>
        </p:spPr>
        <p:txBody>
          <a:bodyPr wrap="square" lIns="0" tIns="0" rIns="0" bIns="0" rtlCol="0" anchor="ctr"/>
          <a:lstStyle/>
          <a:p>
            <a:pPr indent="0" marL="0">
              <a:lnSpc>
                <a:spcPct val="125000"/>
              </a:lnSpc>
              <a:buNone/>
            </a:pPr>
            <a:r>
              <a:rPr lang="en-US" sz="1350" dirty="0">
                <a:solidFill>
                  <a:srgbClr val="334155"/>
                </a:solidFill>
                <a:latin typeface="Calibri" pitchFamily="34" charset="0"/>
                <a:ea typeface="Calibri" pitchFamily="34" charset="-122"/>
                <a:cs typeface="Calibri" pitchFamily="34" charset="-120"/>
              </a:rPr>
              <a:t>We tested the model on 34,466 uncertain ClinVar variants. It resolved 48.8% (16,801 variants) into confident categories: 6,712 High-Risk Disease, 5,198 Harmless Benign, and 4,891 Likely Disease. Cuts doctor backlogs in half.</a:t>
            </a:r>
            <a:endParaRPr lang="en-US" sz="1350" dirty="0"/>
          </a:p>
        </p:txBody>
      </p:sp>
      <p:sp>
        <p:nvSpPr>
          <p:cNvPr id="18" name="Shape 16"/>
          <p:cNvSpPr/>
          <p:nvPr/>
        </p:nvSpPr>
        <p:spPr>
          <a:xfrm>
            <a:off x="8066837" y="1691640"/>
            <a:ext cx="3393338" cy="4389120"/>
          </a:xfrm>
          <a:prstGeom prst="roundRect">
            <a:avLst>
              <a:gd name="adj" fmla="val 2156"/>
            </a:avLst>
          </a:prstGeom>
          <a:solidFill>
            <a:srgbClr val="FFFFFF"/>
          </a:solidFill>
          <a:ln w="12700">
            <a:solidFill>
              <a:srgbClr val="CBD5E1"/>
            </a:solidFill>
            <a:prstDash val="solid"/>
          </a:ln>
        </p:spPr>
      </p:sp>
      <p:sp>
        <p:nvSpPr>
          <p:cNvPr id="19" name="Text 17"/>
          <p:cNvSpPr/>
          <p:nvPr/>
        </p:nvSpPr>
        <p:spPr>
          <a:xfrm>
            <a:off x="8341157" y="1965960"/>
            <a:ext cx="2844698" cy="5943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Patient Waterfall Plot</a:t>
            </a:r>
            <a:endParaRPr lang="en-US" sz="1800" dirty="0"/>
          </a:p>
        </p:txBody>
      </p:sp>
      <p:sp>
        <p:nvSpPr>
          <p:cNvPr id="20" name="Text 18"/>
          <p:cNvSpPr/>
          <p:nvPr/>
        </p:nvSpPr>
        <p:spPr>
          <a:xfrm>
            <a:off x="8341157" y="2560320"/>
            <a:ext cx="2844698" cy="256032"/>
          </a:xfrm>
          <a:prstGeom prst="rect">
            <a:avLst/>
          </a:prstGeom>
          <a:noFill/>
          <a:ln/>
        </p:spPr>
        <p:txBody>
          <a:bodyPr wrap="square" lIns="0" tIns="0" rIns="0" bIns="0" rtlCol="0" anchor="ctr"/>
          <a:lstStyle/>
          <a:p>
            <a:pPr indent="0" marL="0">
              <a:buNone/>
            </a:pPr>
            <a:r>
              <a:rPr lang="en-US" sz="1250" b="1" dirty="0">
                <a:solidFill>
                  <a:srgbClr val="7C3AED"/>
                </a:solidFill>
                <a:latin typeface="Calibri" pitchFamily="34" charset="0"/>
                <a:ea typeface="Calibri" pitchFamily="34" charset="-122"/>
                <a:cs typeface="Calibri" pitchFamily="34" charset="-120"/>
              </a:rPr>
              <a:t>Clear Case Study: BRCA1</a:t>
            </a:r>
            <a:endParaRPr lang="en-US" sz="1250" dirty="0"/>
          </a:p>
        </p:txBody>
      </p:sp>
      <p:sp>
        <p:nvSpPr>
          <p:cNvPr id="21" name="Shape 19"/>
          <p:cNvSpPr/>
          <p:nvPr/>
        </p:nvSpPr>
        <p:spPr>
          <a:xfrm>
            <a:off x="8341157" y="2880360"/>
            <a:ext cx="2844698" cy="0"/>
          </a:xfrm>
          <a:prstGeom prst="line">
            <a:avLst/>
          </a:prstGeom>
          <a:noFill/>
          <a:ln w="12700">
            <a:solidFill>
              <a:srgbClr val="CBD5E1"/>
            </a:solidFill>
            <a:prstDash val="solid"/>
          </a:ln>
        </p:spPr>
      </p:sp>
      <p:sp>
        <p:nvSpPr>
          <p:cNvPr id="22" name="Text 20"/>
          <p:cNvSpPr/>
          <p:nvPr/>
        </p:nvSpPr>
        <p:spPr>
          <a:xfrm>
            <a:off x="8341157" y="3063240"/>
            <a:ext cx="2844698" cy="2743200"/>
          </a:xfrm>
          <a:prstGeom prst="rect">
            <a:avLst/>
          </a:prstGeom>
          <a:noFill/>
          <a:ln/>
        </p:spPr>
        <p:txBody>
          <a:bodyPr wrap="square" lIns="0" tIns="0" rIns="0" bIns="0" rtlCol="0" anchor="ctr"/>
          <a:lstStyle/>
          <a:p>
            <a:pPr indent="0" marL="0">
              <a:lnSpc>
                <a:spcPct val="125000"/>
              </a:lnSpc>
              <a:buNone/>
            </a:pPr>
            <a:r>
              <a:rPr lang="en-US" sz="1350" dirty="0">
                <a:solidFill>
                  <a:srgbClr val="334155"/>
                </a:solidFill>
                <a:latin typeface="Calibri" pitchFamily="34" charset="0"/>
                <a:ea typeface="Calibri" pitchFamily="34" charset="-122"/>
                <a:cs typeface="Calibri" pitchFamily="34" charset="-120"/>
              </a:rPr>
              <a:t>Tested on a real patient with a BRCA1 breast cancer gene deletion: Model assigns a 0.982 high-risk score. TreeSHAP visualizes why: 0% population rarity (+0.38) and vital cancer gene disruption (+0.29).</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47472"/>
            <a:ext cx="10728655" cy="256032"/>
          </a:xfrm>
          <a:prstGeom prst="rect">
            <a:avLst/>
          </a:prstGeom>
          <a:noFill/>
          <a:ln/>
        </p:spPr>
        <p:txBody>
          <a:bodyPr wrap="square" rtlCol="0" anchor="ctr"/>
          <a:lstStyle/>
          <a:p>
            <a:pPr indent="0" marL="0">
              <a:buNone/>
            </a:pPr>
            <a:r>
              <a:rPr lang="en-US" sz="1200" b="1" dirty="0">
                <a:solidFill>
                  <a:srgbClr val="2563EB"/>
                </a:solidFill>
                <a:latin typeface="Calibri" pitchFamily="34" charset="0"/>
                <a:ea typeface="Calibri" pitchFamily="34" charset="-122"/>
                <a:cs typeface="Calibri" pitchFamily="34" charset="-120"/>
              </a:rPr>
              <a:t>ENGINEERING DELIVERY</a:t>
            </a:r>
            <a:endParaRPr lang="en-US" sz="1200" dirty="0"/>
          </a:p>
        </p:txBody>
      </p:sp>
      <p:sp>
        <p:nvSpPr>
          <p:cNvPr id="3" name="Text 1"/>
          <p:cNvSpPr/>
          <p:nvPr/>
        </p:nvSpPr>
        <p:spPr>
          <a:xfrm>
            <a:off x="731520" y="621792"/>
            <a:ext cx="10728655" cy="45720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End-to-End Pipeline and Demonstration</a:t>
            </a:r>
            <a:endParaRPr lang="en-US" sz="2200" dirty="0"/>
          </a:p>
        </p:txBody>
      </p:sp>
      <p:sp>
        <p:nvSpPr>
          <p:cNvPr id="4" name="Text 2"/>
          <p:cNvSpPr/>
          <p:nvPr/>
        </p:nvSpPr>
        <p:spPr>
          <a:xfrm>
            <a:off x="731520" y="1097280"/>
            <a:ext cx="10728655" cy="292608"/>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Our standalone CLI tool prioritize_sv.py analyzes patient files and outputs reports in 4.2 seconds</a:t>
            </a:r>
            <a:endParaRPr lang="en-US" sz="1400" dirty="0"/>
          </a:p>
        </p:txBody>
      </p:sp>
      <p:sp>
        <p:nvSpPr>
          <p:cNvPr id="5" name="Shape 3"/>
          <p:cNvSpPr/>
          <p:nvPr/>
        </p:nvSpPr>
        <p:spPr>
          <a:xfrm>
            <a:off x="731520" y="1426464"/>
            <a:ext cx="10728655" cy="0"/>
          </a:xfrm>
          <a:prstGeom prst="line">
            <a:avLst/>
          </a:prstGeom>
          <a:noFill/>
          <a:ln w="12700">
            <a:solidFill>
              <a:srgbClr val="CBD5E1"/>
            </a:solidFill>
            <a:prstDash val="solid"/>
          </a:ln>
        </p:spPr>
      </p:sp>
      <p:sp>
        <p:nvSpPr>
          <p:cNvPr id="6" name="Text 4"/>
          <p:cNvSpPr/>
          <p:nvPr/>
        </p:nvSpPr>
        <p:spPr>
          <a:xfrm>
            <a:off x="731520" y="6355080"/>
            <a:ext cx="7772400" cy="29260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Department of Artificial Intelligence  |  Final Project Review  |  Amrita Vishwa Vidyapeetham</a:t>
            </a:r>
            <a:endParaRPr lang="en-US" sz="1100" dirty="0"/>
          </a:p>
        </p:txBody>
      </p:sp>
      <p:sp>
        <p:nvSpPr>
          <p:cNvPr id="7" name="Text 5"/>
          <p:cNvSpPr/>
          <p:nvPr/>
        </p:nvSpPr>
        <p:spPr>
          <a:xfrm>
            <a:off x="9448495" y="6355080"/>
            <a:ext cx="2011680" cy="292608"/>
          </a:xfrm>
          <a:prstGeom prst="rect">
            <a:avLst/>
          </a:prstGeom>
          <a:noFill/>
          <a:ln/>
        </p:spPr>
        <p:txBody>
          <a:bodyPr wrap="square" rtlCol="0" anchor="ctr"/>
          <a:lstStyle/>
          <a:p>
            <a:pPr algn="r" indent="0" marL="0">
              <a:buNone/>
            </a:pPr>
            <a:r>
              <a:rPr lang="en-US" sz="1100" dirty="0">
                <a:solidFill>
                  <a:srgbClr val="64748B"/>
                </a:solidFill>
                <a:latin typeface="Calibri" pitchFamily="34" charset="0"/>
                <a:ea typeface="Calibri" pitchFamily="34" charset="-122"/>
                <a:cs typeface="Calibri" pitchFamily="34" charset="-120"/>
              </a:rPr>
              <a:t>Slide 19 of 24</a:t>
            </a:r>
            <a:endParaRPr lang="en-US" sz="1100" dirty="0"/>
          </a:p>
        </p:txBody>
      </p:sp>
      <p:sp>
        <p:nvSpPr>
          <p:cNvPr id="8" name="Shape 6"/>
          <p:cNvSpPr/>
          <p:nvPr/>
        </p:nvSpPr>
        <p:spPr>
          <a:xfrm>
            <a:off x="731520" y="1691640"/>
            <a:ext cx="1999427" cy="2103120"/>
          </a:xfrm>
          <a:prstGeom prst="roundRect">
            <a:avLst>
              <a:gd name="adj" fmla="val 3659"/>
            </a:avLst>
          </a:prstGeom>
          <a:solidFill>
            <a:srgbClr val="FFFFFF"/>
          </a:solidFill>
          <a:ln w="12700">
            <a:solidFill>
              <a:srgbClr val="CBD5E1"/>
            </a:solidFill>
            <a:prstDash val="solid"/>
          </a:ln>
        </p:spPr>
      </p:sp>
      <p:sp>
        <p:nvSpPr>
          <p:cNvPr id="9" name="Text 7"/>
          <p:cNvSpPr/>
          <p:nvPr/>
        </p:nvSpPr>
        <p:spPr>
          <a:xfrm>
            <a:off x="868680" y="1874520"/>
            <a:ext cx="1725107" cy="228600"/>
          </a:xfrm>
          <a:prstGeom prst="rect">
            <a:avLst/>
          </a:prstGeom>
          <a:noFill/>
          <a:ln/>
        </p:spPr>
        <p:txBody>
          <a:bodyPr wrap="square" rtlCol="0" anchor="ctr"/>
          <a:lstStyle/>
          <a:p>
            <a:pPr indent="0" marL="0">
              <a:buNone/>
            </a:pPr>
            <a:r>
              <a:rPr lang="en-US" sz="1100" b="1" dirty="0">
                <a:solidFill>
                  <a:srgbClr val="2563EB"/>
                </a:solidFill>
                <a:latin typeface="Calibri" pitchFamily="34" charset="0"/>
                <a:ea typeface="Calibri" pitchFamily="34" charset="-122"/>
                <a:cs typeface="Calibri" pitchFamily="34" charset="-120"/>
              </a:rPr>
              <a:t>STEP 1</a:t>
            </a:r>
            <a:endParaRPr lang="en-US" sz="1100" dirty="0"/>
          </a:p>
        </p:txBody>
      </p:sp>
      <p:sp>
        <p:nvSpPr>
          <p:cNvPr id="10" name="Text 8"/>
          <p:cNvSpPr/>
          <p:nvPr/>
        </p:nvSpPr>
        <p:spPr>
          <a:xfrm>
            <a:off x="868680" y="2148840"/>
            <a:ext cx="1725107"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File Ingestion</a:t>
            </a:r>
            <a:endParaRPr lang="en-US" sz="1500" dirty="0"/>
          </a:p>
        </p:txBody>
      </p:sp>
      <p:sp>
        <p:nvSpPr>
          <p:cNvPr id="11" name="Shape 9"/>
          <p:cNvSpPr/>
          <p:nvPr/>
        </p:nvSpPr>
        <p:spPr>
          <a:xfrm>
            <a:off x="868680" y="2514600"/>
            <a:ext cx="1725107" cy="0"/>
          </a:xfrm>
          <a:prstGeom prst="line">
            <a:avLst/>
          </a:prstGeom>
          <a:noFill/>
          <a:ln w="12700">
            <a:solidFill>
              <a:srgbClr val="CBD5E1"/>
            </a:solidFill>
            <a:prstDash val="solid"/>
          </a:ln>
        </p:spPr>
      </p:sp>
      <p:sp>
        <p:nvSpPr>
          <p:cNvPr id="12" name="Text 10"/>
          <p:cNvSpPr/>
          <p:nvPr/>
        </p:nvSpPr>
        <p:spPr>
          <a:xfrm>
            <a:off x="868680" y="2651760"/>
            <a:ext cx="1725107" cy="1051560"/>
          </a:xfrm>
          <a:prstGeom prst="rect">
            <a:avLst/>
          </a:prstGeom>
          <a:noFill/>
          <a:ln/>
        </p:spPr>
        <p:txBody>
          <a:bodyPr wrap="square" lIns="0" tIns="0" rIns="0" bIns="0" rtlCol="0" anchor="ctr"/>
          <a:lstStyle/>
          <a:p>
            <a:pPr indent="0" marL="0">
              <a:lnSpc>
                <a:spcPct val="115000"/>
              </a:lnSpc>
              <a:buNone/>
            </a:pPr>
            <a:r>
              <a:rPr lang="en-US" sz="1150" dirty="0">
                <a:solidFill>
                  <a:srgbClr val="334155"/>
                </a:solidFill>
                <a:latin typeface="Calibri" pitchFamily="34" charset="0"/>
                <a:ea typeface="Calibri" pitchFamily="34" charset="-122"/>
                <a:cs typeface="Calibri" pitchFamily="34" charset="-120"/>
              </a:rPr>
              <a:t>Reads patient sequencing file (VCF); extracts large variants (&gt;= 50 bp).</a:t>
            </a:r>
            <a:endParaRPr lang="en-US" sz="1150" dirty="0"/>
          </a:p>
        </p:txBody>
      </p:sp>
      <p:sp>
        <p:nvSpPr>
          <p:cNvPr id="13" name="Shape 11"/>
          <p:cNvSpPr/>
          <p:nvPr/>
        </p:nvSpPr>
        <p:spPr>
          <a:xfrm>
            <a:off x="2913827" y="1691640"/>
            <a:ext cx="1999427" cy="2103120"/>
          </a:xfrm>
          <a:prstGeom prst="roundRect">
            <a:avLst>
              <a:gd name="adj" fmla="val 3659"/>
            </a:avLst>
          </a:prstGeom>
          <a:solidFill>
            <a:srgbClr val="FFFFFF"/>
          </a:solidFill>
          <a:ln w="12700">
            <a:solidFill>
              <a:srgbClr val="CBD5E1"/>
            </a:solidFill>
            <a:prstDash val="solid"/>
          </a:ln>
        </p:spPr>
      </p:sp>
      <p:sp>
        <p:nvSpPr>
          <p:cNvPr id="14" name="Text 12"/>
          <p:cNvSpPr/>
          <p:nvPr/>
        </p:nvSpPr>
        <p:spPr>
          <a:xfrm>
            <a:off x="3050987" y="1874520"/>
            <a:ext cx="1725107" cy="228600"/>
          </a:xfrm>
          <a:prstGeom prst="rect">
            <a:avLst/>
          </a:prstGeom>
          <a:noFill/>
          <a:ln/>
        </p:spPr>
        <p:txBody>
          <a:bodyPr wrap="square" rtlCol="0" anchor="ctr"/>
          <a:lstStyle/>
          <a:p>
            <a:pPr indent="0" marL="0">
              <a:buNone/>
            </a:pPr>
            <a:r>
              <a:rPr lang="en-US" sz="1100" b="1" dirty="0">
                <a:solidFill>
                  <a:srgbClr val="2563EB"/>
                </a:solidFill>
                <a:latin typeface="Calibri" pitchFamily="34" charset="0"/>
                <a:ea typeface="Calibri" pitchFamily="34" charset="-122"/>
                <a:cs typeface="Calibri" pitchFamily="34" charset="-120"/>
              </a:rPr>
              <a:t>STEP 2</a:t>
            </a:r>
            <a:endParaRPr lang="en-US" sz="1100" dirty="0"/>
          </a:p>
        </p:txBody>
      </p:sp>
      <p:sp>
        <p:nvSpPr>
          <p:cNvPr id="15" name="Text 13"/>
          <p:cNvSpPr/>
          <p:nvPr/>
        </p:nvSpPr>
        <p:spPr>
          <a:xfrm>
            <a:off x="3050987" y="2148840"/>
            <a:ext cx="1725107"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Fast Annotation</a:t>
            </a:r>
            <a:endParaRPr lang="en-US" sz="1500" dirty="0"/>
          </a:p>
        </p:txBody>
      </p:sp>
      <p:sp>
        <p:nvSpPr>
          <p:cNvPr id="16" name="Shape 14"/>
          <p:cNvSpPr/>
          <p:nvPr/>
        </p:nvSpPr>
        <p:spPr>
          <a:xfrm>
            <a:off x="3050987" y="2514600"/>
            <a:ext cx="1725107" cy="0"/>
          </a:xfrm>
          <a:prstGeom prst="line">
            <a:avLst/>
          </a:prstGeom>
          <a:noFill/>
          <a:ln w="12700">
            <a:solidFill>
              <a:srgbClr val="CBD5E1"/>
            </a:solidFill>
            <a:prstDash val="solid"/>
          </a:ln>
        </p:spPr>
      </p:sp>
      <p:sp>
        <p:nvSpPr>
          <p:cNvPr id="17" name="Text 15"/>
          <p:cNvSpPr/>
          <p:nvPr/>
        </p:nvSpPr>
        <p:spPr>
          <a:xfrm>
            <a:off x="3050987" y="2651760"/>
            <a:ext cx="1725107" cy="1051560"/>
          </a:xfrm>
          <a:prstGeom prst="rect">
            <a:avLst/>
          </a:prstGeom>
          <a:noFill/>
          <a:ln/>
        </p:spPr>
        <p:txBody>
          <a:bodyPr wrap="square" lIns="0" tIns="0" rIns="0" bIns="0" rtlCol="0" anchor="ctr"/>
          <a:lstStyle/>
          <a:p>
            <a:pPr indent="0" marL="0">
              <a:lnSpc>
                <a:spcPct val="115000"/>
              </a:lnSpc>
              <a:buNone/>
            </a:pPr>
            <a:r>
              <a:rPr lang="en-US" sz="1150" dirty="0">
                <a:solidFill>
                  <a:srgbClr val="334155"/>
                </a:solidFill>
                <a:latin typeface="Calibri" pitchFamily="34" charset="0"/>
                <a:ea typeface="Calibri" pitchFamily="34" charset="-122"/>
                <a:cs typeface="Calibri" pitchFamily="34" charset="-120"/>
              </a:rPr>
              <a:t>Cross-checks with gnomAD frequency and gene importance in &lt; 1.5s.</a:t>
            </a:r>
            <a:endParaRPr lang="en-US" sz="1150" dirty="0"/>
          </a:p>
        </p:txBody>
      </p:sp>
      <p:sp>
        <p:nvSpPr>
          <p:cNvPr id="18" name="Shape 16"/>
          <p:cNvSpPr/>
          <p:nvPr/>
        </p:nvSpPr>
        <p:spPr>
          <a:xfrm>
            <a:off x="5096134" y="1691640"/>
            <a:ext cx="1999427" cy="2103120"/>
          </a:xfrm>
          <a:prstGeom prst="roundRect">
            <a:avLst>
              <a:gd name="adj" fmla="val 3659"/>
            </a:avLst>
          </a:prstGeom>
          <a:solidFill>
            <a:srgbClr val="FFFFFF"/>
          </a:solidFill>
          <a:ln w="12700">
            <a:solidFill>
              <a:srgbClr val="CBD5E1"/>
            </a:solidFill>
            <a:prstDash val="solid"/>
          </a:ln>
        </p:spPr>
      </p:sp>
      <p:sp>
        <p:nvSpPr>
          <p:cNvPr id="19" name="Text 17"/>
          <p:cNvSpPr/>
          <p:nvPr/>
        </p:nvSpPr>
        <p:spPr>
          <a:xfrm>
            <a:off x="5233294" y="1874520"/>
            <a:ext cx="1725107" cy="228600"/>
          </a:xfrm>
          <a:prstGeom prst="rect">
            <a:avLst/>
          </a:prstGeom>
          <a:noFill/>
          <a:ln/>
        </p:spPr>
        <p:txBody>
          <a:bodyPr wrap="square" rtlCol="0" anchor="ctr"/>
          <a:lstStyle/>
          <a:p>
            <a:pPr indent="0" marL="0">
              <a:buNone/>
            </a:pPr>
            <a:r>
              <a:rPr lang="en-US" sz="1100" b="1" dirty="0">
                <a:solidFill>
                  <a:srgbClr val="2563EB"/>
                </a:solidFill>
                <a:latin typeface="Calibri" pitchFamily="34" charset="0"/>
                <a:ea typeface="Calibri" pitchFamily="34" charset="-122"/>
                <a:cs typeface="Calibri" pitchFamily="34" charset="-120"/>
              </a:rPr>
              <a:t>STEP 3</a:t>
            </a:r>
            <a:endParaRPr lang="en-US" sz="1100" dirty="0"/>
          </a:p>
        </p:txBody>
      </p:sp>
      <p:sp>
        <p:nvSpPr>
          <p:cNvPr id="20" name="Text 18"/>
          <p:cNvSpPr/>
          <p:nvPr/>
        </p:nvSpPr>
        <p:spPr>
          <a:xfrm>
            <a:off x="5233294" y="2148840"/>
            <a:ext cx="1725107"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Model Scoring</a:t>
            </a:r>
            <a:endParaRPr lang="en-US" sz="1500" dirty="0"/>
          </a:p>
        </p:txBody>
      </p:sp>
      <p:sp>
        <p:nvSpPr>
          <p:cNvPr id="21" name="Shape 19"/>
          <p:cNvSpPr/>
          <p:nvPr/>
        </p:nvSpPr>
        <p:spPr>
          <a:xfrm>
            <a:off x="5233294" y="2514600"/>
            <a:ext cx="1725107" cy="0"/>
          </a:xfrm>
          <a:prstGeom prst="line">
            <a:avLst/>
          </a:prstGeom>
          <a:noFill/>
          <a:ln w="12700">
            <a:solidFill>
              <a:srgbClr val="CBD5E1"/>
            </a:solidFill>
            <a:prstDash val="solid"/>
          </a:ln>
        </p:spPr>
      </p:sp>
      <p:sp>
        <p:nvSpPr>
          <p:cNvPr id="22" name="Text 20"/>
          <p:cNvSpPr/>
          <p:nvPr/>
        </p:nvSpPr>
        <p:spPr>
          <a:xfrm>
            <a:off x="5233294" y="2651760"/>
            <a:ext cx="1725107" cy="1051560"/>
          </a:xfrm>
          <a:prstGeom prst="rect">
            <a:avLst/>
          </a:prstGeom>
          <a:noFill/>
          <a:ln/>
        </p:spPr>
        <p:txBody>
          <a:bodyPr wrap="square" lIns="0" tIns="0" rIns="0" bIns="0" rtlCol="0" anchor="ctr"/>
          <a:lstStyle/>
          <a:p>
            <a:pPr indent="0" marL="0">
              <a:lnSpc>
                <a:spcPct val="115000"/>
              </a:lnSpc>
              <a:buNone/>
            </a:pPr>
            <a:r>
              <a:rPr lang="en-US" sz="1150" dirty="0">
                <a:solidFill>
                  <a:srgbClr val="334155"/>
                </a:solidFill>
                <a:latin typeface="Calibri" pitchFamily="34" charset="0"/>
                <a:ea typeface="Calibri" pitchFamily="34" charset="-122"/>
                <a:cs typeface="Calibri" pitchFamily="34" charset="-120"/>
              </a:rPr>
              <a:t>Computes continuous risk score using our Tabular ResNet or XGBoost.</a:t>
            </a:r>
            <a:endParaRPr lang="en-US" sz="1150" dirty="0"/>
          </a:p>
        </p:txBody>
      </p:sp>
      <p:sp>
        <p:nvSpPr>
          <p:cNvPr id="23" name="Shape 21"/>
          <p:cNvSpPr/>
          <p:nvPr/>
        </p:nvSpPr>
        <p:spPr>
          <a:xfrm>
            <a:off x="7278441" y="1691640"/>
            <a:ext cx="1999427" cy="2103120"/>
          </a:xfrm>
          <a:prstGeom prst="roundRect">
            <a:avLst>
              <a:gd name="adj" fmla="val 3659"/>
            </a:avLst>
          </a:prstGeom>
          <a:solidFill>
            <a:srgbClr val="FFFFFF"/>
          </a:solidFill>
          <a:ln w="12700">
            <a:solidFill>
              <a:srgbClr val="CBD5E1"/>
            </a:solidFill>
            <a:prstDash val="solid"/>
          </a:ln>
        </p:spPr>
      </p:sp>
      <p:sp>
        <p:nvSpPr>
          <p:cNvPr id="24" name="Text 22"/>
          <p:cNvSpPr/>
          <p:nvPr/>
        </p:nvSpPr>
        <p:spPr>
          <a:xfrm>
            <a:off x="7415601" y="1874520"/>
            <a:ext cx="1725107" cy="228600"/>
          </a:xfrm>
          <a:prstGeom prst="rect">
            <a:avLst/>
          </a:prstGeom>
          <a:noFill/>
          <a:ln/>
        </p:spPr>
        <p:txBody>
          <a:bodyPr wrap="square" rtlCol="0" anchor="ctr"/>
          <a:lstStyle/>
          <a:p>
            <a:pPr indent="0" marL="0">
              <a:buNone/>
            </a:pPr>
            <a:r>
              <a:rPr lang="en-US" sz="1100" b="1" dirty="0">
                <a:solidFill>
                  <a:srgbClr val="2563EB"/>
                </a:solidFill>
                <a:latin typeface="Calibri" pitchFamily="34" charset="0"/>
                <a:ea typeface="Calibri" pitchFamily="34" charset="-122"/>
                <a:cs typeface="Calibri" pitchFamily="34" charset="-120"/>
              </a:rPr>
              <a:t>STEP 4</a:t>
            </a:r>
            <a:endParaRPr lang="en-US" sz="1100" dirty="0"/>
          </a:p>
        </p:txBody>
      </p:sp>
      <p:sp>
        <p:nvSpPr>
          <p:cNvPr id="25" name="Text 23"/>
          <p:cNvSpPr/>
          <p:nvPr/>
        </p:nvSpPr>
        <p:spPr>
          <a:xfrm>
            <a:off x="7415601" y="2148840"/>
            <a:ext cx="1725107"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TreeSHAP Plot</a:t>
            </a:r>
            <a:endParaRPr lang="en-US" sz="1500" dirty="0"/>
          </a:p>
        </p:txBody>
      </p:sp>
      <p:sp>
        <p:nvSpPr>
          <p:cNvPr id="26" name="Shape 24"/>
          <p:cNvSpPr/>
          <p:nvPr/>
        </p:nvSpPr>
        <p:spPr>
          <a:xfrm>
            <a:off x="7415601" y="2514600"/>
            <a:ext cx="1725107" cy="0"/>
          </a:xfrm>
          <a:prstGeom prst="line">
            <a:avLst/>
          </a:prstGeom>
          <a:noFill/>
          <a:ln w="12700">
            <a:solidFill>
              <a:srgbClr val="CBD5E1"/>
            </a:solidFill>
            <a:prstDash val="solid"/>
          </a:ln>
        </p:spPr>
      </p:sp>
      <p:sp>
        <p:nvSpPr>
          <p:cNvPr id="27" name="Text 25"/>
          <p:cNvSpPr/>
          <p:nvPr/>
        </p:nvSpPr>
        <p:spPr>
          <a:xfrm>
            <a:off x="7415601" y="2651760"/>
            <a:ext cx="1725107" cy="1051560"/>
          </a:xfrm>
          <a:prstGeom prst="rect">
            <a:avLst/>
          </a:prstGeom>
          <a:noFill/>
          <a:ln/>
        </p:spPr>
        <p:txBody>
          <a:bodyPr wrap="square" lIns="0" tIns="0" rIns="0" bIns="0" rtlCol="0" anchor="ctr"/>
          <a:lstStyle/>
          <a:p>
            <a:pPr indent="0" marL="0">
              <a:lnSpc>
                <a:spcPct val="115000"/>
              </a:lnSpc>
              <a:buNone/>
            </a:pPr>
            <a:r>
              <a:rPr lang="en-US" sz="1150" dirty="0">
                <a:solidFill>
                  <a:srgbClr val="334155"/>
                </a:solidFill>
                <a:latin typeface="Calibri" pitchFamily="34" charset="0"/>
                <a:ea typeface="Calibri" pitchFamily="34" charset="-122"/>
                <a:cs typeface="Calibri" pitchFamily="34" charset="-120"/>
              </a:rPr>
              <a:t>Draws a clear visual waterfall explanation for the top-risk mutations.</a:t>
            </a:r>
            <a:endParaRPr lang="en-US" sz="1150" dirty="0"/>
          </a:p>
        </p:txBody>
      </p:sp>
      <p:sp>
        <p:nvSpPr>
          <p:cNvPr id="28" name="Shape 26"/>
          <p:cNvSpPr/>
          <p:nvPr/>
        </p:nvSpPr>
        <p:spPr>
          <a:xfrm>
            <a:off x="9460748" y="1691640"/>
            <a:ext cx="1999427" cy="2103120"/>
          </a:xfrm>
          <a:prstGeom prst="roundRect">
            <a:avLst>
              <a:gd name="adj" fmla="val 3659"/>
            </a:avLst>
          </a:prstGeom>
          <a:solidFill>
            <a:srgbClr val="FFFFFF"/>
          </a:solidFill>
          <a:ln w="12700">
            <a:solidFill>
              <a:srgbClr val="CBD5E1"/>
            </a:solidFill>
            <a:prstDash val="solid"/>
          </a:ln>
        </p:spPr>
      </p:sp>
      <p:sp>
        <p:nvSpPr>
          <p:cNvPr id="29" name="Text 27"/>
          <p:cNvSpPr/>
          <p:nvPr/>
        </p:nvSpPr>
        <p:spPr>
          <a:xfrm>
            <a:off x="9597908" y="1874520"/>
            <a:ext cx="1725107" cy="228600"/>
          </a:xfrm>
          <a:prstGeom prst="rect">
            <a:avLst/>
          </a:prstGeom>
          <a:noFill/>
          <a:ln/>
        </p:spPr>
        <p:txBody>
          <a:bodyPr wrap="square" rtlCol="0" anchor="ctr"/>
          <a:lstStyle/>
          <a:p>
            <a:pPr indent="0" marL="0">
              <a:buNone/>
            </a:pPr>
            <a:r>
              <a:rPr lang="en-US" sz="1100" b="1" dirty="0">
                <a:solidFill>
                  <a:srgbClr val="2563EB"/>
                </a:solidFill>
                <a:latin typeface="Calibri" pitchFamily="34" charset="0"/>
                <a:ea typeface="Calibri" pitchFamily="34" charset="-122"/>
                <a:cs typeface="Calibri" pitchFamily="34" charset="-120"/>
              </a:rPr>
              <a:t>STEP 5</a:t>
            </a:r>
            <a:endParaRPr lang="en-US" sz="1100" dirty="0"/>
          </a:p>
        </p:txBody>
      </p:sp>
      <p:sp>
        <p:nvSpPr>
          <p:cNvPr id="30" name="Text 28"/>
          <p:cNvSpPr/>
          <p:nvPr/>
        </p:nvSpPr>
        <p:spPr>
          <a:xfrm>
            <a:off x="9597908" y="2148840"/>
            <a:ext cx="1725107"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Doctor Export</a:t>
            </a:r>
            <a:endParaRPr lang="en-US" sz="1500" dirty="0"/>
          </a:p>
        </p:txBody>
      </p:sp>
      <p:sp>
        <p:nvSpPr>
          <p:cNvPr id="31" name="Shape 29"/>
          <p:cNvSpPr/>
          <p:nvPr/>
        </p:nvSpPr>
        <p:spPr>
          <a:xfrm>
            <a:off x="9597908" y="2514600"/>
            <a:ext cx="1725107" cy="0"/>
          </a:xfrm>
          <a:prstGeom prst="line">
            <a:avLst/>
          </a:prstGeom>
          <a:noFill/>
          <a:ln w="12700">
            <a:solidFill>
              <a:srgbClr val="CBD5E1"/>
            </a:solidFill>
            <a:prstDash val="solid"/>
          </a:ln>
        </p:spPr>
      </p:sp>
      <p:sp>
        <p:nvSpPr>
          <p:cNvPr id="32" name="Text 30"/>
          <p:cNvSpPr/>
          <p:nvPr/>
        </p:nvSpPr>
        <p:spPr>
          <a:xfrm>
            <a:off x="9597908" y="2651760"/>
            <a:ext cx="1725107" cy="1051560"/>
          </a:xfrm>
          <a:prstGeom prst="rect">
            <a:avLst/>
          </a:prstGeom>
          <a:noFill/>
          <a:ln/>
        </p:spPr>
        <p:txBody>
          <a:bodyPr wrap="square" lIns="0" tIns="0" rIns="0" bIns="0" rtlCol="0" anchor="ctr"/>
          <a:lstStyle/>
          <a:p>
            <a:pPr indent="0" marL="0">
              <a:lnSpc>
                <a:spcPct val="115000"/>
              </a:lnSpc>
              <a:buNone/>
            </a:pPr>
            <a:r>
              <a:rPr lang="en-US" sz="1150" dirty="0">
                <a:solidFill>
                  <a:srgbClr val="334155"/>
                </a:solidFill>
                <a:latin typeface="Calibri" pitchFamily="34" charset="0"/>
                <a:ea typeface="Calibri" pitchFamily="34" charset="-122"/>
                <a:cs typeface="Calibri" pitchFamily="34" charset="-120"/>
              </a:rPr>
              <a:t>Saves interactive HTML report, prioritized VCF, and sorted CSV queue.</a:t>
            </a:r>
            <a:endParaRPr lang="en-US" sz="1150" dirty="0"/>
          </a:p>
        </p:txBody>
      </p:sp>
      <p:sp>
        <p:nvSpPr>
          <p:cNvPr id="33" name="Shape 31"/>
          <p:cNvSpPr/>
          <p:nvPr/>
        </p:nvSpPr>
        <p:spPr>
          <a:xfrm>
            <a:off x="731520" y="4069080"/>
            <a:ext cx="10728655" cy="2011680"/>
          </a:xfrm>
          <a:prstGeom prst="roundRect">
            <a:avLst>
              <a:gd name="adj" fmla="val 3636"/>
            </a:avLst>
          </a:prstGeom>
          <a:solidFill>
            <a:srgbClr val="0F172A"/>
          </a:solidFill>
          <a:ln w="12700">
            <a:solidFill>
              <a:srgbClr val="334155"/>
            </a:solidFill>
            <a:prstDash val="solid"/>
          </a:ln>
        </p:spPr>
      </p:sp>
      <p:sp>
        <p:nvSpPr>
          <p:cNvPr id="34" name="Text 32"/>
          <p:cNvSpPr/>
          <p:nvPr/>
        </p:nvSpPr>
        <p:spPr>
          <a:xfrm>
            <a:off x="1005840" y="4251960"/>
            <a:ext cx="10180015" cy="228600"/>
          </a:xfrm>
          <a:prstGeom prst="rect">
            <a:avLst/>
          </a:prstGeom>
          <a:noFill/>
          <a:ln/>
        </p:spPr>
        <p:txBody>
          <a:bodyPr wrap="square" rtlCol="0" anchor="ctr"/>
          <a:lstStyle/>
          <a:p>
            <a:pPr indent="0" marL="0">
              <a:buNone/>
            </a:pPr>
            <a:r>
              <a:rPr lang="en-US" sz="1100" b="1" dirty="0">
                <a:solidFill>
                  <a:srgbClr val="38BDF8"/>
                </a:solidFill>
                <a:latin typeface="Courier New" pitchFamily="34" charset="0"/>
                <a:ea typeface="Courier New" pitchFamily="34" charset="-122"/>
                <a:cs typeface="Courier New" pitchFamily="34" charset="-120"/>
              </a:rPr>
              <a:t>STANDALONE PRODUCTION CLI EXECUTION (TOTAL RUNTIME: 4.2 SECONDS)</a:t>
            </a:r>
            <a:endParaRPr lang="en-US" sz="1100" dirty="0"/>
          </a:p>
        </p:txBody>
      </p:sp>
      <p:sp>
        <p:nvSpPr>
          <p:cNvPr id="35" name="Text 33"/>
          <p:cNvSpPr/>
          <p:nvPr/>
        </p:nvSpPr>
        <p:spPr>
          <a:xfrm>
            <a:off x="1005840" y="4572000"/>
            <a:ext cx="10180015" cy="1371600"/>
          </a:xfrm>
          <a:prstGeom prst="rect">
            <a:avLst/>
          </a:prstGeom>
          <a:noFill/>
          <a:ln/>
        </p:spPr>
        <p:txBody>
          <a:bodyPr wrap="square" lIns="0" tIns="0" rIns="0" bIns="0" rtlCol="0" anchor="ctr"/>
          <a:lstStyle/>
          <a:p>
            <a:pPr indent="0" marL="0">
              <a:lnSpc>
                <a:spcPct val="125000"/>
              </a:lnSpc>
              <a:buNone/>
            </a:pPr>
            <a:r>
              <a:rPr lang="en-US" sz="1150" dirty="0">
                <a:solidFill>
                  <a:srgbClr val="F8FAFC"/>
                </a:solidFill>
                <a:latin typeface="Courier New" pitchFamily="34" charset="0"/>
                <a:ea typeface="Courier New" pitchFamily="34" charset="-122"/>
                <a:cs typeface="Courier New" pitchFamily="34" charset="-120"/>
              </a:rPr>
              <a:t>$ python prioritize_sv.py -i patient_sample.vcf -o reports/patient_01/ --model-type dl</a:t>
            </a:r>
            <a:endParaRPr lang="en-US" sz="1150" dirty="0"/>
          </a:p>
          <a:p>
            <a:pPr indent="0" marL="0">
              <a:lnSpc>
                <a:spcPct val="125000"/>
              </a:lnSpc>
              <a:buNone/>
            </a:pPr>
            <a:r>
              <a:rPr lang="en-US" sz="1150" dirty="0">
                <a:solidFill>
                  <a:srgbClr val="F8FAFC"/>
                </a:solidFill>
                <a:latin typeface="Courier New" pitchFamily="34" charset="0"/>
                <a:ea typeface="Courier New" pitchFamily="34" charset="-122"/>
                <a:cs typeface="Courier New" pitchFamily="34" charset="-120"/>
              </a:rPr>
              <a:t>[1/5] Ingesting &amp; Parsing Long-Read VCF... Parsed 7 structural variants (&gt;= 50 bp).</a:t>
            </a:r>
            <a:endParaRPr lang="en-US" sz="1150" dirty="0"/>
          </a:p>
          <a:p>
            <a:pPr indent="0" marL="0">
              <a:lnSpc>
                <a:spcPct val="125000"/>
              </a:lnSpc>
              <a:buNone/>
            </a:pPr>
            <a:r>
              <a:rPr lang="en-US" sz="1150" dirty="0">
                <a:solidFill>
                  <a:srgbClr val="F8FAFC"/>
                </a:solidFill>
                <a:latin typeface="Courier New" pitchFamily="34" charset="0"/>
                <a:ea typeface="Courier New" pitchFamily="34" charset="-122"/>
                <a:cs typeface="Courier New" pitchFamily="34" charset="-120"/>
              </a:rPr>
              <a:t>[2/5] Annotating Population Frequencies &amp; Gene Constraints in 1.26s.</a:t>
            </a:r>
            <a:endParaRPr lang="en-US" sz="1150" dirty="0"/>
          </a:p>
          <a:p>
            <a:pPr indent="0" marL="0">
              <a:lnSpc>
                <a:spcPct val="125000"/>
              </a:lnSpc>
              <a:buNone/>
            </a:pPr>
            <a:r>
              <a:rPr lang="en-US" sz="1150" dirty="0">
                <a:solidFill>
                  <a:srgbClr val="F8FAFC"/>
                </a:solidFill>
                <a:latin typeface="Courier New" pitchFamily="34" charset="0"/>
                <a:ea typeface="Courier New" pitchFamily="34" charset="-122"/>
                <a:cs typeface="Courier New" pitchFamily="34" charset="-120"/>
              </a:rPr>
              <a:t>[3/5] Running Calibrated ML Model Inference (DL): 3 High-Risk Disease candidates triaged.</a:t>
            </a:r>
            <a:endParaRPr lang="en-US" sz="1150" dirty="0"/>
          </a:p>
          <a:p>
            <a:pPr indent="0" marL="0">
              <a:lnSpc>
                <a:spcPct val="125000"/>
              </a:lnSpc>
              <a:buNone/>
            </a:pPr>
            <a:r>
              <a:rPr lang="en-US" sz="1150" dirty="0">
                <a:solidFill>
                  <a:srgbClr val="F8FAFC"/>
                </a:solidFill>
                <a:latin typeface="Courier New" pitchFamily="34" charset="0"/>
                <a:ea typeface="Courier New" pitchFamily="34" charset="-122"/>
                <a:cs typeface="Courier New" pitchFamily="34" charset="-120"/>
              </a:rPr>
              <a:t>[4/5] Computing TreeSHAP Attributions for Top Candidates in 2.89s.</a:t>
            </a:r>
            <a:endParaRPr lang="en-US" sz="1150" dirty="0"/>
          </a:p>
          <a:p>
            <a:pPr indent="0" marL="0">
              <a:lnSpc>
                <a:spcPct val="125000"/>
              </a:lnSpc>
              <a:buNone/>
            </a:pPr>
            <a:r>
              <a:rPr lang="en-US" sz="1150" dirty="0">
                <a:solidFill>
                  <a:srgbClr val="F8FAFC"/>
                </a:solidFill>
                <a:latin typeface="Courier New" pitchFamily="34" charset="0"/>
                <a:ea typeface="Courier New" pitchFamily="34" charset="-122"/>
                <a:cs typeface="Courier New" pitchFamily="34" charset="-120"/>
              </a:rPr>
              <a:t>[5/5] Clinical Deliverables Exported: clinical_report.html, ranked_variants.csv, prioritized.vcf</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47472"/>
            <a:ext cx="10728655" cy="256032"/>
          </a:xfrm>
          <a:prstGeom prst="rect">
            <a:avLst/>
          </a:prstGeom>
          <a:noFill/>
          <a:ln/>
        </p:spPr>
        <p:txBody>
          <a:bodyPr wrap="square" rtlCol="0" anchor="ctr"/>
          <a:lstStyle/>
          <a:p>
            <a:pPr indent="0" marL="0">
              <a:buNone/>
            </a:pPr>
            <a:r>
              <a:rPr lang="en-US" sz="1200" b="1" dirty="0">
                <a:solidFill>
                  <a:srgbClr val="2563EB"/>
                </a:solidFill>
                <a:latin typeface="Calibri" pitchFamily="34" charset="0"/>
                <a:ea typeface="Calibri" pitchFamily="34" charset="-122"/>
                <a:cs typeface="Calibri" pitchFamily="34" charset="-120"/>
              </a:rPr>
              <a:t>SCIENTIFIC SYNTHESIS</a:t>
            </a:r>
            <a:endParaRPr lang="en-US" sz="1200" dirty="0"/>
          </a:p>
        </p:txBody>
      </p:sp>
      <p:sp>
        <p:nvSpPr>
          <p:cNvPr id="3" name="Text 1"/>
          <p:cNvSpPr/>
          <p:nvPr/>
        </p:nvSpPr>
        <p:spPr>
          <a:xfrm>
            <a:off x="731520" y="621792"/>
            <a:ext cx="10728655" cy="45720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Discussion</a:t>
            </a:r>
            <a:endParaRPr lang="en-US" sz="2200" dirty="0"/>
          </a:p>
        </p:txBody>
      </p:sp>
      <p:sp>
        <p:nvSpPr>
          <p:cNvPr id="4" name="Text 2"/>
          <p:cNvSpPr/>
          <p:nvPr/>
        </p:nvSpPr>
        <p:spPr>
          <a:xfrm>
            <a:off x="731520" y="1097280"/>
            <a:ext cx="10728655" cy="292608"/>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What our results mean: biological alignment, deep learning benefits, and clinical safety</a:t>
            </a:r>
            <a:endParaRPr lang="en-US" sz="1400" dirty="0"/>
          </a:p>
        </p:txBody>
      </p:sp>
      <p:sp>
        <p:nvSpPr>
          <p:cNvPr id="5" name="Shape 3"/>
          <p:cNvSpPr/>
          <p:nvPr/>
        </p:nvSpPr>
        <p:spPr>
          <a:xfrm>
            <a:off x="731520" y="1426464"/>
            <a:ext cx="10728655" cy="0"/>
          </a:xfrm>
          <a:prstGeom prst="line">
            <a:avLst/>
          </a:prstGeom>
          <a:noFill/>
          <a:ln w="12700">
            <a:solidFill>
              <a:srgbClr val="CBD5E1"/>
            </a:solidFill>
            <a:prstDash val="solid"/>
          </a:ln>
        </p:spPr>
      </p:sp>
      <p:sp>
        <p:nvSpPr>
          <p:cNvPr id="6" name="Text 4"/>
          <p:cNvSpPr/>
          <p:nvPr/>
        </p:nvSpPr>
        <p:spPr>
          <a:xfrm>
            <a:off x="731520" y="6355080"/>
            <a:ext cx="7772400" cy="29260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Department of Artificial Intelligence  |  Final Project Review  |  Amrita Vishwa Vidyapeetham</a:t>
            </a:r>
            <a:endParaRPr lang="en-US" sz="1100" dirty="0"/>
          </a:p>
        </p:txBody>
      </p:sp>
      <p:sp>
        <p:nvSpPr>
          <p:cNvPr id="7" name="Text 5"/>
          <p:cNvSpPr/>
          <p:nvPr/>
        </p:nvSpPr>
        <p:spPr>
          <a:xfrm>
            <a:off x="9448495" y="6355080"/>
            <a:ext cx="2011680" cy="292608"/>
          </a:xfrm>
          <a:prstGeom prst="rect">
            <a:avLst/>
          </a:prstGeom>
          <a:noFill/>
          <a:ln/>
        </p:spPr>
        <p:txBody>
          <a:bodyPr wrap="square" rtlCol="0" anchor="ctr"/>
          <a:lstStyle/>
          <a:p>
            <a:pPr algn="r" indent="0" marL="0">
              <a:buNone/>
            </a:pPr>
            <a:r>
              <a:rPr lang="en-US" sz="1100" dirty="0">
                <a:solidFill>
                  <a:srgbClr val="64748B"/>
                </a:solidFill>
                <a:latin typeface="Calibri" pitchFamily="34" charset="0"/>
                <a:ea typeface="Calibri" pitchFamily="34" charset="-122"/>
                <a:cs typeface="Calibri" pitchFamily="34" charset="-120"/>
              </a:rPr>
              <a:t>Slide 20 of 24</a:t>
            </a:r>
            <a:endParaRPr lang="en-US" sz="1100" dirty="0"/>
          </a:p>
        </p:txBody>
      </p:sp>
      <p:sp>
        <p:nvSpPr>
          <p:cNvPr id="8" name="Shape 6"/>
          <p:cNvSpPr/>
          <p:nvPr/>
        </p:nvSpPr>
        <p:spPr>
          <a:xfrm>
            <a:off x="731520" y="1691640"/>
            <a:ext cx="3393338" cy="4389120"/>
          </a:xfrm>
          <a:prstGeom prst="roundRect">
            <a:avLst>
              <a:gd name="adj" fmla="val 2156"/>
            </a:avLst>
          </a:prstGeom>
          <a:solidFill>
            <a:srgbClr val="FFFFFF"/>
          </a:solidFill>
          <a:ln w="12700">
            <a:solidFill>
              <a:srgbClr val="CBD5E1"/>
            </a:solidFill>
            <a:prstDash val="solid"/>
          </a:ln>
        </p:spPr>
      </p:sp>
      <p:sp>
        <p:nvSpPr>
          <p:cNvPr id="9" name="Text 7"/>
          <p:cNvSpPr/>
          <p:nvPr/>
        </p:nvSpPr>
        <p:spPr>
          <a:xfrm>
            <a:off x="1005840" y="1965960"/>
            <a:ext cx="2844698" cy="5943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Biological Common Sense</a:t>
            </a:r>
            <a:endParaRPr lang="en-US" sz="1800" dirty="0"/>
          </a:p>
        </p:txBody>
      </p:sp>
      <p:sp>
        <p:nvSpPr>
          <p:cNvPr id="10" name="Text 8"/>
          <p:cNvSpPr/>
          <p:nvPr/>
        </p:nvSpPr>
        <p:spPr>
          <a:xfrm>
            <a:off x="1005840" y="2560320"/>
            <a:ext cx="2844698" cy="256032"/>
          </a:xfrm>
          <a:prstGeom prst="rect">
            <a:avLst/>
          </a:prstGeom>
          <a:noFill/>
          <a:ln/>
        </p:spPr>
        <p:txBody>
          <a:bodyPr wrap="square" lIns="0" tIns="0" rIns="0" bIns="0" rtlCol="0" anchor="ctr"/>
          <a:lstStyle/>
          <a:p>
            <a:pPr indent="0" marL="0">
              <a:buNone/>
            </a:pPr>
            <a:r>
              <a:rPr lang="en-US" sz="1250" b="1" dirty="0">
                <a:solidFill>
                  <a:srgbClr val="2563EB"/>
                </a:solidFill>
                <a:latin typeface="Calibri" pitchFamily="34" charset="0"/>
                <a:ea typeface="Calibri" pitchFamily="34" charset="-122"/>
                <a:cs typeface="Calibri" pitchFamily="34" charset="-120"/>
              </a:rPr>
              <a:t>Model Matches Genetics</a:t>
            </a:r>
            <a:endParaRPr lang="en-US" sz="1250" dirty="0"/>
          </a:p>
        </p:txBody>
      </p:sp>
      <p:sp>
        <p:nvSpPr>
          <p:cNvPr id="11" name="Shape 9"/>
          <p:cNvSpPr/>
          <p:nvPr/>
        </p:nvSpPr>
        <p:spPr>
          <a:xfrm>
            <a:off x="1005840" y="2880360"/>
            <a:ext cx="2844698" cy="0"/>
          </a:xfrm>
          <a:prstGeom prst="line">
            <a:avLst/>
          </a:prstGeom>
          <a:noFill/>
          <a:ln w="12700">
            <a:solidFill>
              <a:srgbClr val="CBD5E1"/>
            </a:solidFill>
            <a:prstDash val="solid"/>
          </a:ln>
        </p:spPr>
      </p:sp>
      <p:sp>
        <p:nvSpPr>
          <p:cNvPr id="12" name="Text 10"/>
          <p:cNvSpPr/>
          <p:nvPr/>
        </p:nvSpPr>
        <p:spPr>
          <a:xfrm>
            <a:off x="1005840" y="3063240"/>
            <a:ext cx="2844698" cy="2743200"/>
          </a:xfrm>
          <a:prstGeom prst="rect">
            <a:avLst/>
          </a:prstGeom>
          <a:noFill/>
          <a:ln/>
        </p:spPr>
        <p:txBody>
          <a:bodyPr wrap="square" lIns="0" tIns="0" rIns="0" bIns="0" rtlCol="0" anchor="ctr"/>
          <a:lstStyle/>
          <a:p>
            <a:pPr indent="0" marL="0">
              <a:lnSpc>
                <a:spcPct val="125000"/>
              </a:lnSpc>
              <a:buNone/>
            </a:pPr>
            <a:r>
              <a:rPr lang="en-US" sz="1350" dirty="0">
                <a:solidFill>
                  <a:srgbClr val="334155"/>
                </a:solidFill>
                <a:latin typeface="Calibri" pitchFamily="34" charset="0"/>
                <a:ea typeface="Calibri" pitchFamily="34" charset="-122"/>
                <a:cs typeface="Calibri" pitchFamily="34" charset="-120"/>
              </a:rPr>
              <a:t>The model independently learned fundamental biological rules: large deletions that cut out essential survival genes with zero frequency in healthy populations are the primary cause of severe genetic diseases.</a:t>
            </a:r>
            <a:endParaRPr lang="en-US" sz="1350" dirty="0"/>
          </a:p>
        </p:txBody>
      </p:sp>
      <p:sp>
        <p:nvSpPr>
          <p:cNvPr id="13" name="Shape 11"/>
          <p:cNvSpPr/>
          <p:nvPr/>
        </p:nvSpPr>
        <p:spPr>
          <a:xfrm>
            <a:off x="4399178" y="1691640"/>
            <a:ext cx="3393338" cy="4389120"/>
          </a:xfrm>
          <a:prstGeom prst="roundRect">
            <a:avLst>
              <a:gd name="adj" fmla="val 2156"/>
            </a:avLst>
          </a:prstGeom>
          <a:solidFill>
            <a:srgbClr val="FFFFFF"/>
          </a:solidFill>
          <a:ln w="12700">
            <a:solidFill>
              <a:srgbClr val="CBD5E1"/>
            </a:solidFill>
            <a:prstDash val="solid"/>
          </a:ln>
        </p:spPr>
      </p:sp>
      <p:sp>
        <p:nvSpPr>
          <p:cNvPr id="14" name="Text 12"/>
          <p:cNvSpPr/>
          <p:nvPr/>
        </p:nvSpPr>
        <p:spPr>
          <a:xfrm>
            <a:off x="4673498" y="1965960"/>
            <a:ext cx="2844698" cy="5943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Why Neural Beats Trees</a:t>
            </a:r>
            <a:endParaRPr lang="en-US" sz="1800" dirty="0"/>
          </a:p>
        </p:txBody>
      </p:sp>
      <p:sp>
        <p:nvSpPr>
          <p:cNvPr id="15" name="Text 13"/>
          <p:cNvSpPr/>
          <p:nvPr/>
        </p:nvSpPr>
        <p:spPr>
          <a:xfrm>
            <a:off x="4673498" y="2560320"/>
            <a:ext cx="2844698" cy="256032"/>
          </a:xfrm>
          <a:prstGeom prst="rect">
            <a:avLst/>
          </a:prstGeom>
          <a:noFill/>
          <a:ln/>
        </p:spPr>
        <p:txBody>
          <a:bodyPr wrap="square" lIns="0" tIns="0" rIns="0" bIns="0" rtlCol="0" anchor="ctr"/>
          <a:lstStyle/>
          <a:p>
            <a:pPr indent="0" marL="0">
              <a:buNone/>
            </a:pPr>
            <a:r>
              <a:rPr lang="en-US" sz="1250" b="1" dirty="0">
                <a:solidFill>
                  <a:srgbClr val="7C3AED"/>
                </a:solidFill>
                <a:latin typeface="Calibri" pitchFamily="34" charset="0"/>
                <a:ea typeface="Calibri" pitchFamily="34" charset="-122"/>
                <a:cs typeface="Calibri" pitchFamily="34" charset="-120"/>
              </a:rPr>
              <a:t>Continuous Math Curves</a:t>
            </a:r>
            <a:endParaRPr lang="en-US" sz="1250" dirty="0"/>
          </a:p>
        </p:txBody>
      </p:sp>
      <p:sp>
        <p:nvSpPr>
          <p:cNvPr id="16" name="Shape 14"/>
          <p:cNvSpPr/>
          <p:nvPr/>
        </p:nvSpPr>
        <p:spPr>
          <a:xfrm>
            <a:off x="4673498" y="2880360"/>
            <a:ext cx="2844698" cy="0"/>
          </a:xfrm>
          <a:prstGeom prst="line">
            <a:avLst/>
          </a:prstGeom>
          <a:noFill/>
          <a:ln w="12700">
            <a:solidFill>
              <a:srgbClr val="CBD5E1"/>
            </a:solidFill>
            <a:prstDash val="solid"/>
          </a:ln>
        </p:spPr>
      </p:sp>
      <p:sp>
        <p:nvSpPr>
          <p:cNvPr id="17" name="Text 15"/>
          <p:cNvSpPr/>
          <p:nvPr/>
        </p:nvSpPr>
        <p:spPr>
          <a:xfrm>
            <a:off x="4673498" y="3063240"/>
            <a:ext cx="2844698" cy="2743200"/>
          </a:xfrm>
          <a:prstGeom prst="rect">
            <a:avLst/>
          </a:prstGeom>
          <a:noFill/>
          <a:ln/>
        </p:spPr>
        <p:txBody>
          <a:bodyPr wrap="square" lIns="0" tIns="0" rIns="0" bIns="0" rtlCol="0" anchor="ctr"/>
          <a:lstStyle/>
          <a:p>
            <a:pPr indent="0" marL="0">
              <a:lnSpc>
                <a:spcPct val="125000"/>
              </a:lnSpc>
              <a:buNone/>
            </a:pPr>
            <a:r>
              <a:rPr lang="en-US" sz="1350" dirty="0">
                <a:solidFill>
                  <a:srgbClr val="334155"/>
                </a:solidFill>
                <a:latin typeface="Calibri" pitchFamily="34" charset="0"/>
                <a:ea typeface="Calibri" pitchFamily="34" charset="-122"/>
                <a:cs typeface="Calibri" pitchFamily="34" charset="-120"/>
              </a:rPr>
              <a:t>Tabular ResNet outperformed decision trees because genetic rarity follows smooth continuous decay curves rather than rigid rectangular step-cuts. Residual connections map these curves smoothly, slashing missed diseases.</a:t>
            </a:r>
            <a:endParaRPr lang="en-US" sz="1350" dirty="0"/>
          </a:p>
        </p:txBody>
      </p:sp>
      <p:sp>
        <p:nvSpPr>
          <p:cNvPr id="18" name="Shape 16"/>
          <p:cNvSpPr/>
          <p:nvPr/>
        </p:nvSpPr>
        <p:spPr>
          <a:xfrm>
            <a:off x="8066837" y="1691640"/>
            <a:ext cx="3393338" cy="4389120"/>
          </a:xfrm>
          <a:prstGeom prst="roundRect">
            <a:avLst>
              <a:gd name="adj" fmla="val 2156"/>
            </a:avLst>
          </a:prstGeom>
          <a:solidFill>
            <a:srgbClr val="FFFFFF"/>
          </a:solidFill>
          <a:ln w="12700">
            <a:solidFill>
              <a:srgbClr val="CBD5E1"/>
            </a:solidFill>
            <a:prstDash val="solid"/>
          </a:ln>
        </p:spPr>
      </p:sp>
      <p:sp>
        <p:nvSpPr>
          <p:cNvPr id="19" name="Text 17"/>
          <p:cNvSpPr/>
          <p:nvPr/>
        </p:nvSpPr>
        <p:spPr>
          <a:xfrm>
            <a:off x="8341157" y="1965960"/>
            <a:ext cx="2844698" cy="5943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Safety-First Healthcare</a:t>
            </a:r>
            <a:endParaRPr lang="en-US" sz="1800" dirty="0"/>
          </a:p>
        </p:txBody>
      </p:sp>
      <p:sp>
        <p:nvSpPr>
          <p:cNvPr id="20" name="Text 18"/>
          <p:cNvSpPr/>
          <p:nvPr/>
        </p:nvSpPr>
        <p:spPr>
          <a:xfrm>
            <a:off x="8341157" y="2560320"/>
            <a:ext cx="2844698" cy="256032"/>
          </a:xfrm>
          <a:prstGeom prst="rect">
            <a:avLst/>
          </a:prstGeom>
          <a:noFill/>
          <a:ln/>
        </p:spPr>
        <p:txBody>
          <a:bodyPr wrap="square" lIns="0" tIns="0" rIns="0" bIns="0" rtlCol="0" anchor="ctr"/>
          <a:lstStyle/>
          <a:p>
            <a:pPr indent="0" marL="0">
              <a:buNone/>
            </a:pPr>
            <a:r>
              <a:rPr lang="en-US" sz="1250" b="1" dirty="0">
                <a:solidFill>
                  <a:srgbClr val="059669"/>
                </a:solidFill>
                <a:latin typeface="Calibri" pitchFamily="34" charset="0"/>
                <a:ea typeface="Calibri" pitchFamily="34" charset="-122"/>
                <a:cs typeface="Calibri" pitchFamily="34" charset="-120"/>
              </a:rPr>
              <a:t>Conformal Prediction Impact</a:t>
            </a:r>
            <a:endParaRPr lang="en-US" sz="1250" dirty="0"/>
          </a:p>
        </p:txBody>
      </p:sp>
      <p:sp>
        <p:nvSpPr>
          <p:cNvPr id="21" name="Shape 19"/>
          <p:cNvSpPr/>
          <p:nvPr/>
        </p:nvSpPr>
        <p:spPr>
          <a:xfrm>
            <a:off x="8341157" y="2880360"/>
            <a:ext cx="2844698" cy="0"/>
          </a:xfrm>
          <a:prstGeom prst="line">
            <a:avLst/>
          </a:prstGeom>
          <a:noFill/>
          <a:ln w="12700">
            <a:solidFill>
              <a:srgbClr val="CBD5E1"/>
            </a:solidFill>
            <a:prstDash val="solid"/>
          </a:ln>
        </p:spPr>
      </p:sp>
      <p:sp>
        <p:nvSpPr>
          <p:cNvPr id="22" name="Text 20"/>
          <p:cNvSpPr/>
          <p:nvPr/>
        </p:nvSpPr>
        <p:spPr>
          <a:xfrm>
            <a:off x="8341157" y="3063240"/>
            <a:ext cx="2844698" cy="2743200"/>
          </a:xfrm>
          <a:prstGeom prst="rect">
            <a:avLst/>
          </a:prstGeom>
          <a:noFill/>
          <a:ln/>
        </p:spPr>
        <p:txBody>
          <a:bodyPr wrap="square" lIns="0" tIns="0" rIns="0" bIns="0" rtlCol="0" anchor="ctr"/>
          <a:lstStyle/>
          <a:p>
            <a:pPr indent="0" marL="0">
              <a:lnSpc>
                <a:spcPct val="125000"/>
              </a:lnSpc>
              <a:buNone/>
            </a:pPr>
            <a:r>
              <a:rPr lang="en-US" sz="1350" dirty="0">
                <a:solidFill>
                  <a:srgbClr val="334155"/>
                </a:solidFill>
                <a:latin typeface="Calibri" pitchFamily="34" charset="0"/>
                <a:ea typeface="Calibri" pitchFamily="34" charset="-122"/>
                <a:cs typeface="Calibri" pitchFamily="34" charset="-120"/>
              </a:rPr>
              <a:t>Replacing arbitrary classification cutoffs with 95% conformal prediction intervals gives doctors certified bounds. Ambiguous edge cases are safely flagged for human doctor review instead of blindly guessed.</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47472"/>
            <a:ext cx="10728655" cy="256032"/>
          </a:xfrm>
          <a:prstGeom prst="rect">
            <a:avLst/>
          </a:prstGeom>
          <a:noFill/>
          <a:ln/>
        </p:spPr>
        <p:txBody>
          <a:bodyPr wrap="square" rtlCol="0" anchor="ctr"/>
          <a:lstStyle/>
          <a:p>
            <a:pPr indent="0" marL="0">
              <a:buNone/>
            </a:pPr>
            <a:r>
              <a:rPr lang="en-US" sz="1200" b="1" dirty="0">
                <a:solidFill>
                  <a:srgbClr val="2563EB"/>
                </a:solidFill>
                <a:latin typeface="Calibri" pitchFamily="34" charset="0"/>
                <a:ea typeface="Calibri" pitchFamily="34" charset="-122"/>
                <a:cs typeface="Calibri" pitchFamily="34" charset="-120"/>
              </a:rPr>
              <a:t>CONSTRAINTS</a:t>
            </a:r>
            <a:endParaRPr lang="en-US" sz="1200" dirty="0"/>
          </a:p>
        </p:txBody>
      </p:sp>
      <p:sp>
        <p:nvSpPr>
          <p:cNvPr id="3" name="Text 1"/>
          <p:cNvSpPr/>
          <p:nvPr/>
        </p:nvSpPr>
        <p:spPr>
          <a:xfrm>
            <a:off x="731520" y="621792"/>
            <a:ext cx="10728655" cy="45720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Limitations</a:t>
            </a:r>
            <a:endParaRPr lang="en-US" sz="2200" dirty="0"/>
          </a:p>
        </p:txBody>
      </p:sp>
      <p:sp>
        <p:nvSpPr>
          <p:cNvPr id="4" name="Text 2"/>
          <p:cNvSpPr/>
          <p:nvPr/>
        </p:nvSpPr>
        <p:spPr>
          <a:xfrm>
            <a:off x="731520" y="1097280"/>
            <a:ext cx="10728655" cy="292608"/>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Honest technical boundaries and data constraints of the current framework</a:t>
            </a:r>
            <a:endParaRPr lang="en-US" sz="1400" dirty="0"/>
          </a:p>
        </p:txBody>
      </p:sp>
      <p:sp>
        <p:nvSpPr>
          <p:cNvPr id="5" name="Shape 3"/>
          <p:cNvSpPr/>
          <p:nvPr/>
        </p:nvSpPr>
        <p:spPr>
          <a:xfrm>
            <a:off x="731520" y="1426464"/>
            <a:ext cx="10728655" cy="0"/>
          </a:xfrm>
          <a:prstGeom prst="line">
            <a:avLst/>
          </a:prstGeom>
          <a:noFill/>
          <a:ln w="12700">
            <a:solidFill>
              <a:srgbClr val="CBD5E1"/>
            </a:solidFill>
            <a:prstDash val="solid"/>
          </a:ln>
        </p:spPr>
      </p:sp>
      <p:sp>
        <p:nvSpPr>
          <p:cNvPr id="6" name="Text 4"/>
          <p:cNvSpPr/>
          <p:nvPr/>
        </p:nvSpPr>
        <p:spPr>
          <a:xfrm>
            <a:off x="731520" y="6355080"/>
            <a:ext cx="7772400" cy="29260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Department of Artificial Intelligence  |  Final Project Review  |  Amrita Vishwa Vidyapeetham</a:t>
            </a:r>
            <a:endParaRPr lang="en-US" sz="1100" dirty="0"/>
          </a:p>
        </p:txBody>
      </p:sp>
      <p:sp>
        <p:nvSpPr>
          <p:cNvPr id="7" name="Text 5"/>
          <p:cNvSpPr/>
          <p:nvPr/>
        </p:nvSpPr>
        <p:spPr>
          <a:xfrm>
            <a:off x="9448495" y="6355080"/>
            <a:ext cx="2011680" cy="292608"/>
          </a:xfrm>
          <a:prstGeom prst="rect">
            <a:avLst/>
          </a:prstGeom>
          <a:noFill/>
          <a:ln/>
        </p:spPr>
        <p:txBody>
          <a:bodyPr wrap="square" rtlCol="0" anchor="ctr"/>
          <a:lstStyle/>
          <a:p>
            <a:pPr algn="r" indent="0" marL="0">
              <a:buNone/>
            </a:pPr>
            <a:r>
              <a:rPr lang="en-US" sz="1100" dirty="0">
                <a:solidFill>
                  <a:srgbClr val="64748B"/>
                </a:solidFill>
                <a:latin typeface="Calibri" pitchFamily="34" charset="0"/>
                <a:ea typeface="Calibri" pitchFamily="34" charset="-122"/>
                <a:cs typeface="Calibri" pitchFamily="34" charset="-120"/>
              </a:rPr>
              <a:t>Slide 21 of 24</a:t>
            </a:r>
            <a:endParaRPr lang="en-US" sz="1100" dirty="0"/>
          </a:p>
        </p:txBody>
      </p:sp>
      <p:sp>
        <p:nvSpPr>
          <p:cNvPr id="8" name="Shape 6"/>
          <p:cNvSpPr/>
          <p:nvPr/>
        </p:nvSpPr>
        <p:spPr>
          <a:xfrm>
            <a:off x="731520" y="1691640"/>
            <a:ext cx="3393338" cy="4389120"/>
          </a:xfrm>
          <a:prstGeom prst="roundRect">
            <a:avLst>
              <a:gd name="adj" fmla="val 2156"/>
            </a:avLst>
          </a:prstGeom>
          <a:solidFill>
            <a:srgbClr val="FFFFFF"/>
          </a:solidFill>
          <a:ln w="12700">
            <a:solidFill>
              <a:srgbClr val="CBD5E1"/>
            </a:solidFill>
            <a:prstDash val="solid"/>
          </a:ln>
        </p:spPr>
      </p:sp>
      <p:sp>
        <p:nvSpPr>
          <p:cNvPr id="9" name="Text 7"/>
          <p:cNvSpPr/>
          <p:nvPr/>
        </p:nvSpPr>
        <p:spPr>
          <a:xfrm>
            <a:off x="1005840" y="1965960"/>
            <a:ext cx="2844698" cy="411480"/>
          </a:xfrm>
          <a:prstGeom prst="rect">
            <a:avLst/>
          </a:prstGeom>
          <a:noFill/>
          <a:ln/>
        </p:spPr>
        <p:txBody>
          <a:bodyPr wrap="square" lIns="0" tIns="0" rIns="0" bIns="0" rtlCol="0" anchor="ctr"/>
          <a:lstStyle/>
          <a:p>
            <a:pPr indent="0" marL="0">
              <a:buNone/>
            </a:pPr>
            <a:r>
              <a:rPr lang="en-US" sz="2600" b="1" dirty="0">
                <a:solidFill>
                  <a:srgbClr val="D97706"/>
                </a:solidFill>
                <a:latin typeface="Calibri" pitchFamily="34" charset="0"/>
                <a:ea typeface="Calibri" pitchFamily="34" charset="-122"/>
                <a:cs typeface="Calibri" pitchFamily="34" charset="-120"/>
              </a:rPr>
              <a:t>01</a:t>
            </a:r>
            <a:endParaRPr lang="en-US" sz="2600" dirty="0"/>
          </a:p>
        </p:txBody>
      </p:sp>
      <p:sp>
        <p:nvSpPr>
          <p:cNvPr id="10" name="Text 8"/>
          <p:cNvSpPr/>
          <p:nvPr/>
        </p:nvSpPr>
        <p:spPr>
          <a:xfrm>
            <a:off x="1005840" y="2423160"/>
            <a:ext cx="2844698" cy="5943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Database Research Bias</a:t>
            </a:r>
            <a:endParaRPr lang="en-US" sz="1800" dirty="0"/>
          </a:p>
        </p:txBody>
      </p:sp>
      <p:sp>
        <p:nvSpPr>
          <p:cNvPr id="11" name="Shape 9"/>
          <p:cNvSpPr/>
          <p:nvPr/>
        </p:nvSpPr>
        <p:spPr>
          <a:xfrm>
            <a:off x="1005840" y="3063240"/>
            <a:ext cx="2844698" cy="0"/>
          </a:xfrm>
          <a:prstGeom prst="line">
            <a:avLst/>
          </a:prstGeom>
          <a:noFill/>
          <a:ln w="12700">
            <a:solidFill>
              <a:srgbClr val="CBD5E1"/>
            </a:solidFill>
            <a:prstDash val="solid"/>
          </a:ln>
        </p:spPr>
      </p:sp>
      <p:sp>
        <p:nvSpPr>
          <p:cNvPr id="12" name="Text 10"/>
          <p:cNvSpPr/>
          <p:nvPr/>
        </p:nvSpPr>
        <p:spPr>
          <a:xfrm>
            <a:off x="1005840" y="3291840"/>
            <a:ext cx="2844698" cy="2560320"/>
          </a:xfrm>
          <a:prstGeom prst="rect">
            <a:avLst/>
          </a:prstGeom>
          <a:noFill/>
          <a:ln/>
        </p:spPr>
        <p:txBody>
          <a:bodyPr wrap="square" lIns="0" tIns="0" rIns="0" bIns="0" rtlCol="0" anchor="ctr"/>
          <a:lstStyle/>
          <a:p>
            <a:pPr indent="0" marL="0">
              <a:lnSpc>
                <a:spcPct val="125000"/>
              </a:lnSpc>
              <a:buNone/>
            </a:pPr>
            <a:r>
              <a:rPr lang="en-US" sz="1350" dirty="0">
                <a:solidFill>
                  <a:srgbClr val="334155"/>
                </a:solidFill>
                <a:latin typeface="Calibri" pitchFamily="34" charset="0"/>
                <a:ea typeface="Calibri" pitchFamily="34" charset="-122"/>
                <a:cs typeface="Calibri" pitchFamily="34" charset="-120"/>
              </a:rPr>
              <a:t>ClinVar ground truth records are naturally biased toward heavily studied conditions like childhood illnesses and hereditary cancers. General healthy populations may carry rare harmless mutations that need wider cataloging.</a:t>
            </a:r>
            <a:endParaRPr lang="en-US" sz="1350" dirty="0"/>
          </a:p>
        </p:txBody>
      </p:sp>
      <p:sp>
        <p:nvSpPr>
          <p:cNvPr id="13" name="Shape 11"/>
          <p:cNvSpPr/>
          <p:nvPr/>
        </p:nvSpPr>
        <p:spPr>
          <a:xfrm>
            <a:off x="4399178" y="1691640"/>
            <a:ext cx="3393338" cy="4389120"/>
          </a:xfrm>
          <a:prstGeom prst="roundRect">
            <a:avLst>
              <a:gd name="adj" fmla="val 2156"/>
            </a:avLst>
          </a:prstGeom>
          <a:solidFill>
            <a:srgbClr val="FFFFFF"/>
          </a:solidFill>
          <a:ln w="12700">
            <a:solidFill>
              <a:srgbClr val="CBD5E1"/>
            </a:solidFill>
            <a:prstDash val="solid"/>
          </a:ln>
        </p:spPr>
      </p:sp>
      <p:sp>
        <p:nvSpPr>
          <p:cNvPr id="14" name="Text 12"/>
          <p:cNvSpPr/>
          <p:nvPr/>
        </p:nvSpPr>
        <p:spPr>
          <a:xfrm>
            <a:off x="4673498" y="1965960"/>
            <a:ext cx="2844698" cy="411480"/>
          </a:xfrm>
          <a:prstGeom prst="rect">
            <a:avLst/>
          </a:prstGeom>
          <a:noFill/>
          <a:ln/>
        </p:spPr>
        <p:txBody>
          <a:bodyPr wrap="square" lIns="0" tIns="0" rIns="0" bIns="0" rtlCol="0" anchor="ctr"/>
          <a:lstStyle/>
          <a:p>
            <a:pPr indent="0" marL="0">
              <a:buNone/>
            </a:pPr>
            <a:r>
              <a:rPr lang="en-US" sz="2600" b="1" dirty="0">
                <a:solidFill>
                  <a:srgbClr val="334155"/>
                </a:solidFill>
                <a:latin typeface="Calibri" pitchFamily="34" charset="0"/>
                <a:ea typeface="Calibri" pitchFamily="34" charset="-122"/>
                <a:cs typeface="Calibri" pitchFamily="34" charset="-120"/>
              </a:rPr>
              <a:t>02</a:t>
            </a:r>
            <a:endParaRPr lang="en-US" sz="2600" dirty="0"/>
          </a:p>
        </p:txBody>
      </p:sp>
      <p:sp>
        <p:nvSpPr>
          <p:cNvPr id="15" name="Text 13"/>
          <p:cNvSpPr/>
          <p:nvPr/>
        </p:nvSpPr>
        <p:spPr>
          <a:xfrm>
            <a:off x="4673498" y="2423160"/>
            <a:ext cx="2844698" cy="5943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Linear Reference Genome</a:t>
            </a:r>
            <a:endParaRPr lang="en-US" sz="1800" dirty="0"/>
          </a:p>
        </p:txBody>
      </p:sp>
      <p:sp>
        <p:nvSpPr>
          <p:cNvPr id="16" name="Shape 14"/>
          <p:cNvSpPr/>
          <p:nvPr/>
        </p:nvSpPr>
        <p:spPr>
          <a:xfrm>
            <a:off x="4673498" y="3063240"/>
            <a:ext cx="2844698" cy="0"/>
          </a:xfrm>
          <a:prstGeom prst="line">
            <a:avLst/>
          </a:prstGeom>
          <a:noFill/>
          <a:ln w="12700">
            <a:solidFill>
              <a:srgbClr val="CBD5E1"/>
            </a:solidFill>
            <a:prstDash val="solid"/>
          </a:ln>
        </p:spPr>
      </p:sp>
      <p:sp>
        <p:nvSpPr>
          <p:cNvPr id="17" name="Text 15"/>
          <p:cNvSpPr/>
          <p:nvPr/>
        </p:nvSpPr>
        <p:spPr>
          <a:xfrm>
            <a:off x="4673498" y="3291840"/>
            <a:ext cx="2844698" cy="2560320"/>
          </a:xfrm>
          <a:prstGeom prst="rect">
            <a:avLst/>
          </a:prstGeom>
          <a:noFill/>
          <a:ln/>
        </p:spPr>
        <p:txBody>
          <a:bodyPr wrap="square" lIns="0" tIns="0" rIns="0" bIns="0" rtlCol="0" anchor="ctr"/>
          <a:lstStyle/>
          <a:p>
            <a:pPr indent="0" marL="0">
              <a:lnSpc>
                <a:spcPct val="125000"/>
              </a:lnSpc>
              <a:buNone/>
            </a:pPr>
            <a:r>
              <a:rPr lang="en-US" sz="1350" dirty="0">
                <a:solidFill>
                  <a:srgbClr val="334155"/>
                </a:solidFill>
                <a:latin typeface="Calibri" pitchFamily="34" charset="0"/>
                <a:ea typeface="Calibri" pitchFamily="34" charset="-122"/>
                <a:cs typeface="Calibri" pitchFamily="34" charset="-120"/>
              </a:rPr>
              <a:t>Coordinates rely on standard linear human genome reference GRCh38. Complex nested loops, multi-copy changes, and complex translocations would benefit from graph-based pan-genome coordinate systems in the future.</a:t>
            </a:r>
            <a:endParaRPr lang="en-US" sz="1350" dirty="0"/>
          </a:p>
        </p:txBody>
      </p:sp>
      <p:sp>
        <p:nvSpPr>
          <p:cNvPr id="18" name="Shape 16"/>
          <p:cNvSpPr/>
          <p:nvPr/>
        </p:nvSpPr>
        <p:spPr>
          <a:xfrm>
            <a:off x="8066837" y="1691640"/>
            <a:ext cx="3393338" cy="4389120"/>
          </a:xfrm>
          <a:prstGeom prst="roundRect">
            <a:avLst>
              <a:gd name="adj" fmla="val 2156"/>
            </a:avLst>
          </a:prstGeom>
          <a:solidFill>
            <a:srgbClr val="FFFFFF"/>
          </a:solidFill>
          <a:ln w="12700">
            <a:solidFill>
              <a:srgbClr val="CBD5E1"/>
            </a:solidFill>
            <a:prstDash val="solid"/>
          </a:ln>
        </p:spPr>
      </p:sp>
      <p:sp>
        <p:nvSpPr>
          <p:cNvPr id="19" name="Text 17"/>
          <p:cNvSpPr/>
          <p:nvPr/>
        </p:nvSpPr>
        <p:spPr>
          <a:xfrm>
            <a:off x="8341157" y="1965960"/>
            <a:ext cx="2844698" cy="411480"/>
          </a:xfrm>
          <a:prstGeom prst="rect">
            <a:avLst/>
          </a:prstGeom>
          <a:noFill/>
          <a:ln/>
        </p:spPr>
        <p:txBody>
          <a:bodyPr wrap="square" lIns="0" tIns="0" rIns="0" bIns="0" rtlCol="0" anchor="ctr"/>
          <a:lstStyle/>
          <a:p>
            <a:pPr indent="0" marL="0">
              <a:buNone/>
            </a:pPr>
            <a:r>
              <a:rPr lang="en-US" sz="2600" b="1" dirty="0">
                <a:solidFill>
                  <a:srgbClr val="2563EB"/>
                </a:solidFill>
                <a:latin typeface="Calibri" pitchFamily="34" charset="0"/>
                <a:ea typeface="Calibri" pitchFamily="34" charset="-122"/>
                <a:cs typeface="Calibri" pitchFamily="34" charset="-120"/>
              </a:rPr>
              <a:t>03</a:t>
            </a:r>
            <a:endParaRPr lang="en-US" sz="2600" dirty="0"/>
          </a:p>
        </p:txBody>
      </p:sp>
      <p:sp>
        <p:nvSpPr>
          <p:cNvPr id="20" name="Text 18"/>
          <p:cNvSpPr/>
          <p:nvPr/>
        </p:nvSpPr>
        <p:spPr>
          <a:xfrm>
            <a:off x="8341157" y="2423160"/>
            <a:ext cx="2844698" cy="5943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Sequencer-Specific Features</a:t>
            </a:r>
            <a:endParaRPr lang="en-US" sz="1800" dirty="0"/>
          </a:p>
        </p:txBody>
      </p:sp>
      <p:sp>
        <p:nvSpPr>
          <p:cNvPr id="21" name="Shape 19"/>
          <p:cNvSpPr/>
          <p:nvPr/>
        </p:nvSpPr>
        <p:spPr>
          <a:xfrm>
            <a:off x="8341157" y="3063240"/>
            <a:ext cx="2844698" cy="0"/>
          </a:xfrm>
          <a:prstGeom prst="line">
            <a:avLst/>
          </a:prstGeom>
          <a:noFill/>
          <a:ln w="12700">
            <a:solidFill>
              <a:srgbClr val="CBD5E1"/>
            </a:solidFill>
            <a:prstDash val="solid"/>
          </a:ln>
        </p:spPr>
      </p:sp>
      <p:sp>
        <p:nvSpPr>
          <p:cNvPr id="22" name="Text 20"/>
          <p:cNvSpPr/>
          <p:nvPr/>
        </p:nvSpPr>
        <p:spPr>
          <a:xfrm>
            <a:off x="8341157" y="3291840"/>
            <a:ext cx="2844698" cy="2560320"/>
          </a:xfrm>
          <a:prstGeom prst="rect">
            <a:avLst/>
          </a:prstGeom>
          <a:noFill/>
          <a:ln/>
        </p:spPr>
        <p:txBody>
          <a:bodyPr wrap="square" lIns="0" tIns="0" rIns="0" bIns="0" rtlCol="0" anchor="ctr"/>
          <a:lstStyle/>
          <a:p>
            <a:pPr indent="0" marL="0">
              <a:lnSpc>
                <a:spcPct val="125000"/>
              </a:lnSpc>
              <a:buNone/>
            </a:pPr>
            <a:r>
              <a:rPr lang="en-US" sz="1350" dirty="0">
                <a:solidFill>
                  <a:srgbClr val="334155"/>
                </a:solidFill>
                <a:latin typeface="Calibri" pitchFamily="34" charset="0"/>
                <a:ea typeface="Calibri" pitchFamily="34" charset="-122"/>
                <a:cs typeface="Calibri" pitchFamily="34" charset="-120"/>
              </a:rPr>
              <a:t>Specialized chemical DNA modification marks (5mC methylation) are called natively by Oxford Nanopore devices. While very useful, they are not available in older legacy machines or short-read sequencers.</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47472"/>
            <a:ext cx="10728655" cy="256032"/>
          </a:xfrm>
          <a:prstGeom prst="rect">
            <a:avLst/>
          </a:prstGeom>
          <a:noFill/>
          <a:ln/>
        </p:spPr>
        <p:txBody>
          <a:bodyPr wrap="square" rtlCol="0" anchor="ctr"/>
          <a:lstStyle/>
          <a:p>
            <a:pPr indent="0" marL="0">
              <a:buNone/>
            </a:pPr>
            <a:r>
              <a:rPr lang="en-US" sz="1200" b="1" dirty="0">
                <a:solidFill>
                  <a:srgbClr val="2563EB"/>
                </a:solidFill>
                <a:latin typeface="Calibri" pitchFamily="34" charset="0"/>
                <a:ea typeface="Calibri" pitchFamily="34" charset="-122"/>
                <a:cs typeface="Calibri" pitchFamily="34" charset="-120"/>
              </a:rPr>
              <a:t>ROADMAP</a:t>
            </a:r>
            <a:endParaRPr lang="en-US" sz="1200" dirty="0"/>
          </a:p>
        </p:txBody>
      </p:sp>
      <p:sp>
        <p:nvSpPr>
          <p:cNvPr id="3" name="Text 1"/>
          <p:cNvSpPr/>
          <p:nvPr/>
        </p:nvSpPr>
        <p:spPr>
          <a:xfrm>
            <a:off x="731520" y="621792"/>
            <a:ext cx="10728655" cy="45720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Future Scope</a:t>
            </a:r>
            <a:endParaRPr lang="en-US" sz="2200" dirty="0"/>
          </a:p>
        </p:txBody>
      </p:sp>
      <p:sp>
        <p:nvSpPr>
          <p:cNvPr id="4" name="Text 2"/>
          <p:cNvSpPr/>
          <p:nvPr/>
        </p:nvSpPr>
        <p:spPr>
          <a:xfrm>
            <a:off x="731520" y="1097280"/>
            <a:ext cx="10728655" cy="292608"/>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Strategic next steps for expanding the platform into clinical practice</a:t>
            </a:r>
            <a:endParaRPr lang="en-US" sz="1400" dirty="0"/>
          </a:p>
        </p:txBody>
      </p:sp>
      <p:sp>
        <p:nvSpPr>
          <p:cNvPr id="5" name="Shape 3"/>
          <p:cNvSpPr/>
          <p:nvPr/>
        </p:nvSpPr>
        <p:spPr>
          <a:xfrm>
            <a:off x="731520" y="1426464"/>
            <a:ext cx="10728655" cy="0"/>
          </a:xfrm>
          <a:prstGeom prst="line">
            <a:avLst/>
          </a:prstGeom>
          <a:noFill/>
          <a:ln w="12700">
            <a:solidFill>
              <a:srgbClr val="CBD5E1"/>
            </a:solidFill>
            <a:prstDash val="solid"/>
          </a:ln>
        </p:spPr>
      </p:sp>
      <p:sp>
        <p:nvSpPr>
          <p:cNvPr id="6" name="Text 4"/>
          <p:cNvSpPr/>
          <p:nvPr/>
        </p:nvSpPr>
        <p:spPr>
          <a:xfrm>
            <a:off x="731520" y="6355080"/>
            <a:ext cx="7772400" cy="29260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Department of Artificial Intelligence  |  Final Project Review  |  Amrita Vishwa Vidyapeetham</a:t>
            </a:r>
            <a:endParaRPr lang="en-US" sz="1100" dirty="0"/>
          </a:p>
        </p:txBody>
      </p:sp>
      <p:sp>
        <p:nvSpPr>
          <p:cNvPr id="7" name="Text 5"/>
          <p:cNvSpPr/>
          <p:nvPr/>
        </p:nvSpPr>
        <p:spPr>
          <a:xfrm>
            <a:off x="9448495" y="6355080"/>
            <a:ext cx="2011680" cy="292608"/>
          </a:xfrm>
          <a:prstGeom prst="rect">
            <a:avLst/>
          </a:prstGeom>
          <a:noFill/>
          <a:ln/>
        </p:spPr>
        <p:txBody>
          <a:bodyPr wrap="square" rtlCol="0" anchor="ctr"/>
          <a:lstStyle/>
          <a:p>
            <a:pPr algn="r" indent="0" marL="0">
              <a:buNone/>
            </a:pPr>
            <a:r>
              <a:rPr lang="en-US" sz="1100" dirty="0">
                <a:solidFill>
                  <a:srgbClr val="64748B"/>
                </a:solidFill>
                <a:latin typeface="Calibri" pitchFamily="34" charset="0"/>
                <a:ea typeface="Calibri" pitchFamily="34" charset="-122"/>
                <a:cs typeface="Calibri" pitchFamily="34" charset="-120"/>
              </a:rPr>
              <a:t>Slide 22 of 24</a:t>
            </a:r>
            <a:endParaRPr lang="en-US" sz="1100" dirty="0"/>
          </a:p>
        </p:txBody>
      </p:sp>
      <p:sp>
        <p:nvSpPr>
          <p:cNvPr id="8" name="Shape 6"/>
          <p:cNvSpPr/>
          <p:nvPr/>
        </p:nvSpPr>
        <p:spPr>
          <a:xfrm>
            <a:off x="731520" y="1691640"/>
            <a:ext cx="3393338" cy="4389120"/>
          </a:xfrm>
          <a:prstGeom prst="roundRect">
            <a:avLst>
              <a:gd name="adj" fmla="val 2156"/>
            </a:avLst>
          </a:prstGeom>
          <a:solidFill>
            <a:srgbClr val="FFFFFF"/>
          </a:solidFill>
          <a:ln w="12700">
            <a:solidFill>
              <a:srgbClr val="CBD5E1"/>
            </a:solidFill>
            <a:prstDash val="solid"/>
          </a:ln>
        </p:spPr>
      </p:sp>
      <p:sp>
        <p:nvSpPr>
          <p:cNvPr id="9" name="Text 7"/>
          <p:cNvSpPr/>
          <p:nvPr/>
        </p:nvSpPr>
        <p:spPr>
          <a:xfrm>
            <a:off x="1005840" y="1965960"/>
            <a:ext cx="2844698" cy="411480"/>
          </a:xfrm>
          <a:prstGeom prst="rect">
            <a:avLst/>
          </a:prstGeom>
          <a:noFill/>
          <a:ln/>
        </p:spPr>
        <p:txBody>
          <a:bodyPr wrap="square" lIns="0" tIns="0" rIns="0" bIns="0" rtlCol="0" anchor="ctr"/>
          <a:lstStyle/>
          <a:p>
            <a:pPr indent="0" marL="0">
              <a:buNone/>
            </a:pPr>
            <a:r>
              <a:rPr lang="en-US" sz="2600" b="1" dirty="0">
                <a:solidFill>
                  <a:srgbClr val="2563EB"/>
                </a:solidFill>
                <a:latin typeface="Calibri" pitchFamily="34" charset="0"/>
                <a:ea typeface="Calibri" pitchFamily="34" charset="-122"/>
                <a:cs typeface="Calibri" pitchFamily="34" charset="-120"/>
              </a:rPr>
              <a:t>01</a:t>
            </a:r>
            <a:endParaRPr lang="en-US" sz="2600" dirty="0"/>
          </a:p>
        </p:txBody>
      </p:sp>
      <p:sp>
        <p:nvSpPr>
          <p:cNvPr id="10" name="Text 8"/>
          <p:cNvSpPr/>
          <p:nvPr/>
        </p:nvSpPr>
        <p:spPr>
          <a:xfrm>
            <a:off x="1005840" y="2423160"/>
            <a:ext cx="2844698" cy="5943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Pan-Genome Variation Graphs</a:t>
            </a:r>
            <a:endParaRPr lang="en-US" sz="1800" dirty="0"/>
          </a:p>
        </p:txBody>
      </p:sp>
      <p:sp>
        <p:nvSpPr>
          <p:cNvPr id="11" name="Shape 9"/>
          <p:cNvSpPr/>
          <p:nvPr/>
        </p:nvSpPr>
        <p:spPr>
          <a:xfrm>
            <a:off x="1005840" y="3063240"/>
            <a:ext cx="2844698" cy="0"/>
          </a:xfrm>
          <a:prstGeom prst="line">
            <a:avLst/>
          </a:prstGeom>
          <a:noFill/>
          <a:ln w="12700">
            <a:solidFill>
              <a:srgbClr val="CBD5E1"/>
            </a:solidFill>
            <a:prstDash val="solid"/>
          </a:ln>
        </p:spPr>
      </p:sp>
      <p:sp>
        <p:nvSpPr>
          <p:cNvPr id="12" name="Text 10"/>
          <p:cNvSpPr/>
          <p:nvPr/>
        </p:nvSpPr>
        <p:spPr>
          <a:xfrm>
            <a:off x="1005840" y="3291840"/>
            <a:ext cx="2844698" cy="2560320"/>
          </a:xfrm>
          <a:prstGeom prst="rect">
            <a:avLst/>
          </a:prstGeom>
          <a:noFill/>
          <a:ln/>
        </p:spPr>
        <p:txBody>
          <a:bodyPr wrap="square" lIns="0" tIns="0" rIns="0" bIns="0" rtlCol="0" anchor="ctr"/>
          <a:lstStyle/>
          <a:p>
            <a:pPr indent="0" marL="0">
              <a:lnSpc>
                <a:spcPct val="125000"/>
              </a:lnSpc>
              <a:buNone/>
            </a:pPr>
            <a:r>
              <a:rPr lang="en-US" sz="1350" dirty="0">
                <a:solidFill>
                  <a:srgbClr val="334155"/>
                </a:solidFill>
                <a:latin typeface="Calibri" pitchFamily="34" charset="0"/>
                <a:ea typeface="Calibri" pitchFamily="34" charset="-122"/>
                <a:cs typeface="Calibri" pitchFamily="34" charset="-120"/>
              </a:rPr>
              <a:t>Integrate graph-based genome tools (Minigraph-Cactus / VG) to resolve complex copy number variations and multi-way chromosomal rearrangements across diverse ancestral reference graphs.</a:t>
            </a:r>
            <a:endParaRPr lang="en-US" sz="1350" dirty="0"/>
          </a:p>
        </p:txBody>
      </p:sp>
      <p:sp>
        <p:nvSpPr>
          <p:cNvPr id="13" name="Shape 11"/>
          <p:cNvSpPr/>
          <p:nvPr/>
        </p:nvSpPr>
        <p:spPr>
          <a:xfrm>
            <a:off x="4399178" y="1691640"/>
            <a:ext cx="3393338" cy="4389120"/>
          </a:xfrm>
          <a:prstGeom prst="roundRect">
            <a:avLst>
              <a:gd name="adj" fmla="val 2156"/>
            </a:avLst>
          </a:prstGeom>
          <a:solidFill>
            <a:srgbClr val="FFFFFF"/>
          </a:solidFill>
          <a:ln w="12700">
            <a:solidFill>
              <a:srgbClr val="CBD5E1"/>
            </a:solidFill>
            <a:prstDash val="solid"/>
          </a:ln>
        </p:spPr>
      </p:sp>
      <p:sp>
        <p:nvSpPr>
          <p:cNvPr id="14" name="Text 12"/>
          <p:cNvSpPr/>
          <p:nvPr/>
        </p:nvSpPr>
        <p:spPr>
          <a:xfrm>
            <a:off x="4673498" y="1965960"/>
            <a:ext cx="2844698" cy="411480"/>
          </a:xfrm>
          <a:prstGeom prst="rect">
            <a:avLst/>
          </a:prstGeom>
          <a:noFill/>
          <a:ln/>
        </p:spPr>
        <p:txBody>
          <a:bodyPr wrap="square" lIns="0" tIns="0" rIns="0" bIns="0" rtlCol="0" anchor="ctr"/>
          <a:lstStyle/>
          <a:p>
            <a:pPr indent="0" marL="0">
              <a:buNone/>
            </a:pPr>
            <a:r>
              <a:rPr lang="en-US" sz="2600" b="1" dirty="0">
                <a:solidFill>
                  <a:srgbClr val="7C3AED"/>
                </a:solidFill>
                <a:latin typeface="Calibri" pitchFamily="34" charset="0"/>
                <a:ea typeface="Calibri" pitchFamily="34" charset="-122"/>
                <a:cs typeface="Calibri" pitchFamily="34" charset="-120"/>
              </a:rPr>
              <a:t>02</a:t>
            </a:r>
            <a:endParaRPr lang="en-US" sz="2600" dirty="0"/>
          </a:p>
        </p:txBody>
      </p:sp>
      <p:sp>
        <p:nvSpPr>
          <p:cNvPr id="15" name="Text 13"/>
          <p:cNvSpPr/>
          <p:nvPr/>
        </p:nvSpPr>
        <p:spPr>
          <a:xfrm>
            <a:off x="4673498" y="2423160"/>
            <a:ext cx="2844698" cy="5943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Patient Symptom Integration</a:t>
            </a:r>
            <a:endParaRPr lang="en-US" sz="1800" dirty="0"/>
          </a:p>
        </p:txBody>
      </p:sp>
      <p:sp>
        <p:nvSpPr>
          <p:cNvPr id="16" name="Shape 14"/>
          <p:cNvSpPr/>
          <p:nvPr/>
        </p:nvSpPr>
        <p:spPr>
          <a:xfrm>
            <a:off x="4673498" y="3063240"/>
            <a:ext cx="2844698" cy="0"/>
          </a:xfrm>
          <a:prstGeom prst="line">
            <a:avLst/>
          </a:prstGeom>
          <a:noFill/>
          <a:ln w="12700">
            <a:solidFill>
              <a:srgbClr val="CBD5E1"/>
            </a:solidFill>
            <a:prstDash val="solid"/>
          </a:ln>
        </p:spPr>
      </p:sp>
      <p:sp>
        <p:nvSpPr>
          <p:cNvPr id="17" name="Text 15"/>
          <p:cNvSpPr/>
          <p:nvPr/>
        </p:nvSpPr>
        <p:spPr>
          <a:xfrm>
            <a:off x="4673498" y="3291840"/>
            <a:ext cx="2844698" cy="2560320"/>
          </a:xfrm>
          <a:prstGeom prst="rect">
            <a:avLst/>
          </a:prstGeom>
          <a:noFill/>
          <a:ln/>
        </p:spPr>
        <p:txBody>
          <a:bodyPr wrap="square" lIns="0" tIns="0" rIns="0" bIns="0" rtlCol="0" anchor="ctr"/>
          <a:lstStyle/>
          <a:p>
            <a:pPr indent="0" marL="0">
              <a:lnSpc>
                <a:spcPct val="125000"/>
              </a:lnSpc>
              <a:buNone/>
            </a:pPr>
            <a:r>
              <a:rPr lang="en-US" sz="1350" dirty="0">
                <a:solidFill>
                  <a:srgbClr val="334155"/>
                </a:solidFill>
                <a:latin typeface="Calibri" pitchFamily="34" charset="0"/>
                <a:ea typeface="Calibri" pitchFamily="34" charset="-122"/>
                <a:cs typeface="Calibri" pitchFamily="34" charset="-120"/>
              </a:rPr>
              <a:t>Connect patient hospital records (EHR) and clinical symptom tags (HPO terms) to dynamically boost risk scores for mutations directly linked to the patient's specific physical symptoms.</a:t>
            </a:r>
            <a:endParaRPr lang="en-US" sz="1350" dirty="0"/>
          </a:p>
        </p:txBody>
      </p:sp>
      <p:sp>
        <p:nvSpPr>
          <p:cNvPr id="18" name="Shape 16"/>
          <p:cNvSpPr/>
          <p:nvPr/>
        </p:nvSpPr>
        <p:spPr>
          <a:xfrm>
            <a:off x="8066837" y="1691640"/>
            <a:ext cx="3393338" cy="4389120"/>
          </a:xfrm>
          <a:prstGeom prst="roundRect">
            <a:avLst>
              <a:gd name="adj" fmla="val 2156"/>
            </a:avLst>
          </a:prstGeom>
          <a:solidFill>
            <a:srgbClr val="FFFFFF"/>
          </a:solidFill>
          <a:ln w="12700">
            <a:solidFill>
              <a:srgbClr val="CBD5E1"/>
            </a:solidFill>
            <a:prstDash val="solid"/>
          </a:ln>
        </p:spPr>
      </p:sp>
      <p:sp>
        <p:nvSpPr>
          <p:cNvPr id="19" name="Text 17"/>
          <p:cNvSpPr/>
          <p:nvPr/>
        </p:nvSpPr>
        <p:spPr>
          <a:xfrm>
            <a:off x="8341157" y="1965960"/>
            <a:ext cx="2844698" cy="41148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03</a:t>
            </a:r>
            <a:endParaRPr lang="en-US" sz="2600" dirty="0"/>
          </a:p>
        </p:txBody>
      </p:sp>
      <p:sp>
        <p:nvSpPr>
          <p:cNvPr id="20" name="Text 18"/>
          <p:cNvSpPr/>
          <p:nvPr/>
        </p:nvSpPr>
        <p:spPr>
          <a:xfrm>
            <a:off x="8341157" y="2423160"/>
            <a:ext cx="2844698" cy="5943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Genomic Foundation Models</a:t>
            </a:r>
            <a:endParaRPr lang="en-US" sz="1800" dirty="0"/>
          </a:p>
        </p:txBody>
      </p:sp>
      <p:sp>
        <p:nvSpPr>
          <p:cNvPr id="21" name="Shape 19"/>
          <p:cNvSpPr/>
          <p:nvPr/>
        </p:nvSpPr>
        <p:spPr>
          <a:xfrm>
            <a:off x="8341157" y="3063240"/>
            <a:ext cx="2844698" cy="0"/>
          </a:xfrm>
          <a:prstGeom prst="line">
            <a:avLst/>
          </a:prstGeom>
          <a:noFill/>
          <a:ln w="12700">
            <a:solidFill>
              <a:srgbClr val="CBD5E1"/>
            </a:solidFill>
            <a:prstDash val="solid"/>
          </a:ln>
        </p:spPr>
      </p:sp>
      <p:sp>
        <p:nvSpPr>
          <p:cNvPr id="22" name="Text 20"/>
          <p:cNvSpPr/>
          <p:nvPr/>
        </p:nvSpPr>
        <p:spPr>
          <a:xfrm>
            <a:off x="8341157" y="3291840"/>
            <a:ext cx="2844698" cy="2560320"/>
          </a:xfrm>
          <a:prstGeom prst="rect">
            <a:avLst/>
          </a:prstGeom>
          <a:noFill/>
          <a:ln/>
        </p:spPr>
        <p:txBody>
          <a:bodyPr wrap="square" lIns="0" tIns="0" rIns="0" bIns="0" rtlCol="0" anchor="ctr"/>
          <a:lstStyle/>
          <a:p>
            <a:pPr indent="0" marL="0">
              <a:lnSpc>
                <a:spcPct val="125000"/>
              </a:lnSpc>
              <a:buNone/>
            </a:pPr>
            <a:r>
              <a:rPr lang="en-US" sz="1350" dirty="0">
                <a:solidFill>
                  <a:srgbClr val="334155"/>
                </a:solidFill>
                <a:latin typeface="Calibri" pitchFamily="34" charset="0"/>
                <a:ea typeface="Calibri" pitchFamily="34" charset="-122"/>
                <a:cs typeface="Calibri" pitchFamily="34" charset="-120"/>
              </a:rPr>
              <a:t>Fine-tune pre-trained DNA foundation models (e.g., HyenaDNA, Nucleotide Transformer) on breakpoint sequences to learn deep regulatory patterns directly from raw DNA letters.</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731520" y="822960"/>
            <a:ext cx="10728655" cy="320040"/>
          </a:xfrm>
          <a:prstGeom prst="rect">
            <a:avLst/>
          </a:prstGeom>
          <a:noFill/>
          <a:ln/>
        </p:spPr>
        <p:txBody>
          <a:bodyPr wrap="square" rtlCol="0" anchor="ctr"/>
          <a:lstStyle/>
          <a:p>
            <a:pPr indent="0" marL="0">
              <a:buNone/>
            </a:pPr>
            <a:r>
              <a:rPr lang="en-US" sz="1300" b="1" dirty="0">
                <a:solidFill>
                  <a:srgbClr val="60A5FA"/>
                </a:solidFill>
                <a:latin typeface="Calibri" pitchFamily="34" charset="0"/>
                <a:ea typeface="Calibri" pitchFamily="34" charset="-122"/>
                <a:cs typeface="Calibri" pitchFamily="34" charset="-120"/>
              </a:rPr>
              <a:t>PROJECT SUMMARY &amp; TECHNICAL DEFENSE CONCLUSION</a:t>
            </a:r>
            <a:endParaRPr lang="en-US" sz="1300" dirty="0"/>
          </a:p>
        </p:txBody>
      </p:sp>
      <p:sp>
        <p:nvSpPr>
          <p:cNvPr id="3" name="Text 1"/>
          <p:cNvSpPr/>
          <p:nvPr/>
        </p:nvSpPr>
        <p:spPr>
          <a:xfrm>
            <a:off x="731520" y="1234440"/>
            <a:ext cx="10728655" cy="548640"/>
          </a:xfrm>
          <a:prstGeom prst="rect">
            <a:avLst/>
          </a:prstGeom>
          <a:noFill/>
          <a:ln/>
        </p:spPr>
        <p:txBody>
          <a:bodyPr wrap="square"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Conclusion: Summary of Project Achievements</a:t>
            </a:r>
            <a:endParaRPr lang="en-US" sz="2600" dirty="0"/>
          </a:p>
        </p:txBody>
      </p:sp>
      <p:sp>
        <p:nvSpPr>
          <p:cNvPr id="4" name="Shape 2"/>
          <p:cNvSpPr/>
          <p:nvPr/>
        </p:nvSpPr>
        <p:spPr>
          <a:xfrm>
            <a:off x="731520" y="1920240"/>
            <a:ext cx="3657600" cy="0"/>
          </a:xfrm>
          <a:prstGeom prst="line">
            <a:avLst/>
          </a:prstGeom>
          <a:noFill/>
          <a:ln w="31750">
            <a:solidFill>
              <a:srgbClr val="38BDF8"/>
            </a:solidFill>
            <a:prstDash val="solid"/>
          </a:ln>
        </p:spPr>
      </p:sp>
      <p:sp>
        <p:nvSpPr>
          <p:cNvPr id="5" name="Shape 3"/>
          <p:cNvSpPr/>
          <p:nvPr/>
        </p:nvSpPr>
        <p:spPr>
          <a:xfrm>
            <a:off x="731520" y="2286000"/>
            <a:ext cx="2476424" cy="3749040"/>
          </a:xfrm>
          <a:prstGeom prst="roundRect">
            <a:avLst>
              <a:gd name="adj" fmla="val 2954"/>
            </a:avLst>
          </a:prstGeom>
          <a:solidFill>
            <a:srgbClr val="1E293B"/>
          </a:solidFill>
          <a:ln w="12700">
            <a:solidFill>
              <a:srgbClr val="334155"/>
            </a:solidFill>
            <a:prstDash val="solid"/>
          </a:ln>
        </p:spPr>
      </p:sp>
      <p:sp>
        <p:nvSpPr>
          <p:cNvPr id="6" name="Text 4"/>
          <p:cNvSpPr/>
          <p:nvPr/>
        </p:nvSpPr>
        <p:spPr>
          <a:xfrm>
            <a:off x="960120" y="2514600"/>
            <a:ext cx="2019224" cy="411480"/>
          </a:xfrm>
          <a:prstGeom prst="rect">
            <a:avLst/>
          </a:prstGeom>
          <a:noFill/>
          <a:ln/>
        </p:spPr>
        <p:txBody>
          <a:bodyPr wrap="square" lIns="0" tIns="0" rIns="0" bIns="0" rtlCol="0" anchor="ctr"/>
          <a:lstStyle/>
          <a:p>
            <a:pPr indent="0" marL="0">
              <a:buNone/>
            </a:pPr>
            <a:r>
              <a:rPr lang="en-US" sz="2400" b="1" dirty="0">
                <a:solidFill>
                  <a:srgbClr val="38BDF8"/>
                </a:solidFill>
                <a:latin typeface="Calibri" pitchFamily="34" charset="0"/>
                <a:ea typeface="Calibri" pitchFamily="34" charset="-122"/>
                <a:cs typeface="Calibri" pitchFamily="34" charset="-120"/>
              </a:rPr>
              <a:t>01</a:t>
            </a:r>
            <a:endParaRPr lang="en-US" sz="2400" dirty="0"/>
          </a:p>
        </p:txBody>
      </p:sp>
      <p:sp>
        <p:nvSpPr>
          <p:cNvPr id="7" name="Text 5"/>
          <p:cNvSpPr/>
          <p:nvPr/>
        </p:nvSpPr>
        <p:spPr>
          <a:xfrm>
            <a:off x="960120" y="2971800"/>
            <a:ext cx="2019224" cy="5943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Zero-Leakage Benchmark</a:t>
            </a:r>
            <a:endParaRPr lang="en-US" sz="1600" dirty="0"/>
          </a:p>
        </p:txBody>
      </p:sp>
      <p:sp>
        <p:nvSpPr>
          <p:cNvPr id="8" name="Shape 6"/>
          <p:cNvSpPr/>
          <p:nvPr/>
        </p:nvSpPr>
        <p:spPr>
          <a:xfrm>
            <a:off x="960120" y="3611880"/>
            <a:ext cx="2019224" cy="0"/>
          </a:xfrm>
          <a:prstGeom prst="line">
            <a:avLst/>
          </a:prstGeom>
          <a:noFill/>
          <a:ln w="12700">
            <a:solidFill>
              <a:srgbClr val="334155"/>
            </a:solidFill>
            <a:prstDash val="solid"/>
          </a:ln>
        </p:spPr>
      </p:sp>
      <p:sp>
        <p:nvSpPr>
          <p:cNvPr id="9" name="Text 7"/>
          <p:cNvSpPr/>
          <p:nvPr/>
        </p:nvSpPr>
        <p:spPr>
          <a:xfrm>
            <a:off x="960120" y="3794760"/>
            <a:ext cx="2019224" cy="2057400"/>
          </a:xfrm>
          <a:prstGeom prst="rect">
            <a:avLst/>
          </a:prstGeom>
          <a:noFill/>
          <a:ln/>
        </p:spPr>
        <p:txBody>
          <a:bodyPr wrap="square" lIns="0" tIns="0" rIns="0" bIns="0" rtlCol="0" anchor="ctr"/>
          <a:lstStyle/>
          <a:p>
            <a:pPr indent="0" marL="0">
              <a:lnSpc>
                <a:spcPct val="125000"/>
              </a:lnSpc>
              <a:buNone/>
            </a:pPr>
            <a:r>
              <a:rPr lang="en-US" sz="1250" dirty="0">
                <a:solidFill>
                  <a:srgbClr val="94A3B8"/>
                </a:solidFill>
                <a:latin typeface="Calibri" pitchFamily="34" charset="0"/>
                <a:ea typeface="Calibri" pitchFamily="34" charset="-122"/>
                <a:cs typeface="Calibri" pitchFamily="34" charset="-120"/>
              </a:rPr>
              <a:t>Proved true generalizability by evaluating strictly on unseen holdout Chromosomes 19–22, X, Y (0% data leakage), ensuring reliable real-world performance.</a:t>
            </a:r>
            <a:endParaRPr lang="en-US" sz="1250" dirty="0"/>
          </a:p>
        </p:txBody>
      </p:sp>
      <p:sp>
        <p:nvSpPr>
          <p:cNvPr id="10" name="Shape 8"/>
          <p:cNvSpPr/>
          <p:nvPr/>
        </p:nvSpPr>
        <p:spPr>
          <a:xfrm>
            <a:off x="3482264" y="2286000"/>
            <a:ext cx="2476424" cy="3749040"/>
          </a:xfrm>
          <a:prstGeom prst="roundRect">
            <a:avLst>
              <a:gd name="adj" fmla="val 2954"/>
            </a:avLst>
          </a:prstGeom>
          <a:solidFill>
            <a:srgbClr val="1E293B"/>
          </a:solidFill>
          <a:ln w="12700">
            <a:solidFill>
              <a:srgbClr val="334155"/>
            </a:solidFill>
            <a:prstDash val="solid"/>
          </a:ln>
        </p:spPr>
      </p:sp>
      <p:sp>
        <p:nvSpPr>
          <p:cNvPr id="11" name="Text 9"/>
          <p:cNvSpPr/>
          <p:nvPr/>
        </p:nvSpPr>
        <p:spPr>
          <a:xfrm>
            <a:off x="3710864" y="2514600"/>
            <a:ext cx="2019224" cy="411480"/>
          </a:xfrm>
          <a:prstGeom prst="rect">
            <a:avLst/>
          </a:prstGeom>
          <a:noFill/>
          <a:ln/>
        </p:spPr>
        <p:txBody>
          <a:bodyPr wrap="square" lIns="0" tIns="0" rIns="0" bIns="0" rtlCol="0" anchor="ctr"/>
          <a:lstStyle/>
          <a:p>
            <a:pPr indent="0" marL="0">
              <a:buNone/>
            </a:pPr>
            <a:r>
              <a:rPr lang="en-US" sz="2400" b="1" dirty="0">
                <a:solidFill>
                  <a:srgbClr val="38BDF8"/>
                </a:solidFill>
                <a:latin typeface="Calibri" pitchFamily="34" charset="0"/>
                <a:ea typeface="Calibri" pitchFamily="34" charset="-122"/>
                <a:cs typeface="Calibri" pitchFamily="34" charset="-120"/>
              </a:rPr>
              <a:t>02</a:t>
            </a:r>
            <a:endParaRPr lang="en-US" sz="2400" dirty="0"/>
          </a:p>
        </p:txBody>
      </p:sp>
      <p:sp>
        <p:nvSpPr>
          <p:cNvPr id="12" name="Text 10"/>
          <p:cNvSpPr/>
          <p:nvPr/>
        </p:nvSpPr>
        <p:spPr>
          <a:xfrm>
            <a:off x="3710864" y="2971800"/>
            <a:ext cx="2019224" cy="5943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Slashed Missed Diseases</a:t>
            </a:r>
            <a:endParaRPr lang="en-US" sz="1600" dirty="0"/>
          </a:p>
        </p:txBody>
      </p:sp>
      <p:sp>
        <p:nvSpPr>
          <p:cNvPr id="13" name="Shape 11"/>
          <p:cNvSpPr/>
          <p:nvPr/>
        </p:nvSpPr>
        <p:spPr>
          <a:xfrm>
            <a:off x="3710864" y="3611880"/>
            <a:ext cx="2019224" cy="0"/>
          </a:xfrm>
          <a:prstGeom prst="line">
            <a:avLst/>
          </a:prstGeom>
          <a:noFill/>
          <a:ln w="12700">
            <a:solidFill>
              <a:srgbClr val="334155"/>
            </a:solidFill>
            <a:prstDash val="solid"/>
          </a:ln>
        </p:spPr>
      </p:sp>
      <p:sp>
        <p:nvSpPr>
          <p:cNvPr id="14" name="Text 12"/>
          <p:cNvSpPr/>
          <p:nvPr/>
        </p:nvSpPr>
        <p:spPr>
          <a:xfrm>
            <a:off x="3710864" y="3794760"/>
            <a:ext cx="2019224" cy="2057400"/>
          </a:xfrm>
          <a:prstGeom prst="rect">
            <a:avLst/>
          </a:prstGeom>
          <a:noFill/>
          <a:ln/>
        </p:spPr>
        <p:txBody>
          <a:bodyPr wrap="square" lIns="0" tIns="0" rIns="0" bIns="0" rtlCol="0" anchor="ctr"/>
          <a:lstStyle/>
          <a:p>
            <a:pPr indent="0" marL="0">
              <a:lnSpc>
                <a:spcPct val="125000"/>
              </a:lnSpc>
              <a:buNone/>
            </a:pPr>
            <a:r>
              <a:rPr lang="en-US" sz="1250" dirty="0">
                <a:solidFill>
                  <a:srgbClr val="94A3B8"/>
                </a:solidFill>
                <a:latin typeface="Calibri" pitchFamily="34" charset="0"/>
                <a:ea typeface="Calibri" pitchFamily="34" charset="-122"/>
                <a:cs typeface="Calibri" pitchFamily="34" charset="-120"/>
              </a:rPr>
              <a:t>Our Tabular ResNet deep learning architecture reached 94.4% clinical sensitivity, cutting missed disease mutations from 1,745 down to 414 (&gt;60% reduction vs XGBoost).</a:t>
            </a:r>
            <a:endParaRPr lang="en-US" sz="1250" dirty="0"/>
          </a:p>
        </p:txBody>
      </p:sp>
      <p:sp>
        <p:nvSpPr>
          <p:cNvPr id="15" name="Shape 13"/>
          <p:cNvSpPr/>
          <p:nvPr/>
        </p:nvSpPr>
        <p:spPr>
          <a:xfrm>
            <a:off x="6233008" y="2286000"/>
            <a:ext cx="2476424" cy="3749040"/>
          </a:xfrm>
          <a:prstGeom prst="roundRect">
            <a:avLst>
              <a:gd name="adj" fmla="val 2954"/>
            </a:avLst>
          </a:prstGeom>
          <a:solidFill>
            <a:srgbClr val="1E293B"/>
          </a:solidFill>
          <a:ln w="12700">
            <a:solidFill>
              <a:srgbClr val="334155"/>
            </a:solidFill>
            <a:prstDash val="solid"/>
          </a:ln>
        </p:spPr>
      </p:sp>
      <p:sp>
        <p:nvSpPr>
          <p:cNvPr id="16" name="Text 14"/>
          <p:cNvSpPr/>
          <p:nvPr/>
        </p:nvSpPr>
        <p:spPr>
          <a:xfrm>
            <a:off x="6461608" y="2514600"/>
            <a:ext cx="2019224" cy="411480"/>
          </a:xfrm>
          <a:prstGeom prst="rect">
            <a:avLst/>
          </a:prstGeom>
          <a:noFill/>
          <a:ln/>
        </p:spPr>
        <p:txBody>
          <a:bodyPr wrap="square" lIns="0" tIns="0" rIns="0" bIns="0" rtlCol="0" anchor="ctr"/>
          <a:lstStyle/>
          <a:p>
            <a:pPr indent="0" marL="0">
              <a:buNone/>
            </a:pPr>
            <a:r>
              <a:rPr lang="en-US" sz="2400" b="1" dirty="0">
                <a:solidFill>
                  <a:srgbClr val="38BDF8"/>
                </a:solidFill>
                <a:latin typeface="Calibri" pitchFamily="34" charset="0"/>
                <a:ea typeface="Calibri" pitchFamily="34" charset="-122"/>
                <a:cs typeface="Calibri" pitchFamily="34" charset="-120"/>
              </a:rPr>
              <a:t>03</a:t>
            </a:r>
            <a:endParaRPr lang="en-US" sz="2400" dirty="0"/>
          </a:p>
        </p:txBody>
      </p:sp>
      <p:sp>
        <p:nvSpPr>
          <p:cNvPr id="17" name="Text 15"/>
          <p:cNvSpPr/>
          <p:nvPr/>
        </p:nvSpPr>
        <p:spPr>
          <a:xfrm>
            <a:off x="6461608" y="2971800"/>
            <a:ext cx="2019224" cy="5943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Mathematical Safety Guarantee</a:t>
            </a:r>
            <a:endParaRPr lang="en-US" sz="1600" dirty="0"/>
          </a:p>
        </p:txBody>
      </p:sp>
      <p:sp>
        <p:nvSpPr>
          <p:cNvPr id="18" name="Shape 16"/>
          <p:cNvSpPr/>
          <p:nvPr/>
        </p:nvSpPr>
        <p:spPr>
          <a:xfrm>
            <a:off x="6461608" y="3611880"/>
            <a:ext cx="2019224" cy="0"/>
          </a:xfrm>
          <a:prstGeom prst="line">
            <a:avLst/>
          </a:prstGeom>
          <a:noFill/>
          <a:ln w="12700">
            <a:solidFill>
              <a:srgbClr val="334155"/>
            </a:solidFill>
            <a:prstDash val="solid"/>
          </a:ln>
        </p:spPr>
      </p:sp>
      <p:sp>
        <p:nvSpPr>
          <p:cNvPr id="19" name="Text 17"/>
          <p:cNvSpPr/>
          <p:nvPr/>
        </p:nvSpPr>
        <p:spPr>
          <a:xfrm>
            <a:off x="6461608" y="3794760"/>
            <a:ext cx="2019224" cy="2057400"/>
          </a:xfrm>
          <a:prstGeom prst="rect">
            <a:avLst/>
          </a:prstGeom>
          <a:noFill/>
          <a:ln/>
        </p:spPr>
        <p:txBody>
          <a:bodyPr wrap="square" lIns="0" tIns="0" rIns="0" bIns="0" rtlCol="0" anchor="ctr"/>
          <a:lstStyle/>
          <a:p>
            <a:pPr indent="0" marL="0">
              <a:lnSpc>
                <a:spcPct val="125000"/>
              </a:lnSpc>
              <a:buNone/>
            </a:pPr>
            <a:r>
              <a:rPr lang="en-US" sz="1250" dirty="0">
                <a:solidFill>
                  <a:srgbClr val="94A3B8"/>
                </a:solidFill>
                <a:latin typeface="Calibri" pitchFamily="34" charset="0"/>
                <a:ea typeface="Calibri" pitchFamily="34" charset="-122"/>
                <a:cs typeface="Calibri" pitchFamily="34" charset="-120"/>
              </a:rPr>
              <a:t>Replaced arbitrary guessing with 95% conformal prediction intervals, giving doctors certified safety bounds to avoid overconfident misdiagnoses.</a:t>
            </a:r>
            <a:endParaRPr lang="en-US" sz="1250" dirty="0"/>
          </a:p>
        </p:txBody>
      </p:sp>
      <p:sp>
        <p:nvSpPr>
          <p:cNvPr id="20" name="Shape 18"/>
          <p:cNvSpPr/>
          <p:nvPr/>
        </p:nvSpPr>
        <p:spPr>
          <a:xfrm>
            <a:off x="8983751" y="2286000"/>
            <a:ext cx="2476424" cy="3749040"/>
          </a:xfrm>
          <a:prstGeom prst="roundRect">
            <a:avLst>
              <a:gd name="adj" fmla="val 2954"/>
            </a:avLst>
          </a:prstGeom>
          <a:solidFill>
            <a:srgbClr val="1E293B"/>
          </a:solidFill>
          <a:ln w="12700">
            <a:solidFill>
              <a:srgbClr val="334155"/>
            </a:solidFill>
            <a:prstDash val="solid"/>
          </a:ln>
        </p:spPr>
      </p:sp>
      <p:sp>
        <p:nvSpPr>
          <p:cNvPr id="21" name="Text 19"/>
          <p:cNvSpPr/>
          <p:nvPr/>
        </p:nvSpPr>
        <p:spPr>
          <a:xfrm>
            <a:off x="9212351" y="2514600"/>
            <a:ext cx="2019224" cy="411480"/>
          </a:xfrm>
          <a:prstGeom prst="rect">
            <a:avLst/>
          </a:prstGeom>
          <a:noFill/>
          <a:ln/>
        </p:spPr>
        <p:txBody>
          <a:bodyPr wrap="square" lIns="0" tIns="0" rIns="0" bIns="0" rtlCol="0" anchor="ctr"/>
          <a:lstStyle/>
          <a:p>
            <a:pPr indent="0" marL="0">
              <a:buNone/>
            </a:pPr>
            <a:r>
              <a:rPr lang="en-US" sz="2400" b="1" dirty="0">
                <a:solidFill>
                  <a:srgbClr val="38BDF8"/>
                </a:solidFill>
                <a:latin typeface="Calibri" pitchFamily="34" charset="0"/>
                <a:ea typeface="Calibri" pitchFamily="34" charset="-122"/>
                <a:cs typeface="Calibri" pitchFamily="34" charset="-120"/>
              </a:rPr>
              <a:t>04</a:t>
            </a:r>
            <a:endParaRPr lang="en-US" sz="2400" dirty="0"/>
          </a:p>
        </p:txBody>
      </p:sp>
      <p:sp>
        <p:nvSpPr>
          <p:cNvPr id="22" name="Text 20"/>
          <p:cNvSpPr/>
          <p:nvPr/>
        </p:nvSpPr>
        <p:spPr>
          <a:xfrm>
            <a:off x="9212351" y="2971800"/>
            <a:ext cx="2019224" cy="5943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Real-World VUS Resolution</a:t>
            </a:r>
            <a:endParaRPr lang="en-US" sz="1600" dirty="0"/>
          </a:p>
        </p:txBody>
      </p:sp>
      <p:sp>
        <p:nvSpPr>
          <p:cNvPr id="23" name="Shape 21"/>
          <p:cNvSpPr/>
          <p:nvPr/>
        </p:nvSpPr>
        <p:spPr>
          <a:xfrm>
            <a:off x="9212351" y="3611880"/>
            <a:ext cx="2019224" cy="0"/>
          </a:xfrm>
          <a:prstGeom prst="line">
            <a:avLst/>
          </a:prstGeom>
          <a:noFill/>
          <a:ln w="12700">
            <a:solidFill>
              <a:srgbClr val="334155"/>
            </a:solidFill>
            <a:prstDash val="solid"/>
          </a:ln>
        </p:spPr>
      </p:sp>
      <p:sp>
        <p:nvSpPr>
          <p:cNvPr id="24" name="Text 22"/>
          <p:cNvSpPr/>
          <p:nvPr/>
        </p:nvSpPr>
        <p:spPr>
          <a:xfrm>
            <a:off x="9212351" y="3794760"/>
            <a:ext cx="2019224" cy="2057400"/>
          </a:xfrm>
          <a:prstGeom prst="rect">
            <a:avLst/>
          </a:prstGeom>
          <a:noFill/>
          <a:ln/>
        </p:spPr>
        <p:txBody>
          <a:bodyPr wrap="square" lIns="0" tIns="0" rIns="0" bIns="0" rtlCol="0" anchor="ctr"/>
          <a:lstStyle/>
          <a:p>
            <a:pPr indent="0" marL="0">
              <a:lnSpc>
                <a:spcPct val="125000"/>
              </a:lnSpc>
              <a:buNone/>
            </a:pPr>
            <a:r>
              <a:rPr lang="en-US" sz="1250" dirty="0">
                <a:solidFill>
                  <a:srgbClr val="94A3B8"/>
                </a:solidFill>
                <a:latin typeface="Calibri" pitchFamily="34" charset="0"/>
                <a:ea typeface="Calibri" pitchFamily="34" charset="-122"/>
                <a:cs typeface="Calibri" pitchFamily="34" charset="-120"/>
              </a:rPr>
              <a:t>Successfully triaged 34,466 unreviewed ClinVar variants, resolving 48.8% into clear actionable tiers with fast, visual TreeSHAP explanations in under 5 seconds.</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47472"/>
            <a:ext cx="10728655" cy="256032"/>
          </a:xfrm>
          <a:prstGeom prst="rect">
            <a:avLst/>
          </a:prstGeom>
          <a:noFill/>
          <a:ln/>
        </p:spPr>
        <p:txBody>
          <a:bodyPr wrap="square" rtlCol="0" anchor="ctr"/>
          <a:lstStyle/>
          <a:p>
            <a:pPr indent="0" marL="0">
              <a:buNone/>
            </a:pPr>
            <a:r>
              <a:rPr lang="en-US" sz="1200" b="1" dirty="0">
                <a:solidFill>
                  <a:srgbClr val="2563EB"/>
                </a:solidFill>
                <a:latin typeface="Calibri" pitchFamily="34" charset="0"/>
                <a:ea typeface="Calibri" pitchFamily="34" charset="-122"/>
                <a:cs typeface="Calibri" pitchFamily="34" charset="-120"/>
              </a:rPr>
              <a:t>BIBLIOGRAPHY</a:t>
            </a:r>
            <a:endParaRPr lang="en-US" sz="1200" dirty="0"/>
          </a:p>
        </p:txBody>
      </p:sp>
      <p:sp>
        <p:nvSpPr>
          <p:cNvPr id="3" name="Text 1"/>
          <p:cNvSpPr/>
          <p:nvPr/>
        </p:nvSpPr>
        <p:spPr>
          <a:xfrm>
            <a:off x="731520" y="621792"/>
            <a:ext cx="10728655" cy="457200"/>
          </a:xfrm>
          <a:prstGeom prst="rect">
            <a:avLst/>
          </a:prstGeom>
          <a:noFill/>
          <a:ln/>
        </p:spPr>
        <p:txBody>
          <a:bodyPr wrap="square" lIns="0" tIns="0" rIns="0" bIns="0" rtlCol="0" anchor="ctr"/>
          <a:lstStyle/>
          <a:p>
            <a:pPr indent="0" marL="0">
              <a:buNone/>
            </a:pPr>
            <a:r>
              <a:rPr lang="en-US" sz="2200" b="1" dirty="0">
                <a:solidFill>
                  <a:srgbClr val="0F172A"/>
                </a:solidFill>
                <a:latin typeface="Calibri" pitchFamily="34" charset="0"/>
                <a:ea typeface="Calibri" pitchFamily="34" charset="-122"/>
                <a:cs typeface="Calibri" pitchFamily="34" charset="-120"/>
              </a:rPr>
              <a:t>References</a:t>
            </a:r>
            <a:endParaRPr lang="en-US" sz="2200" dirty="0"/>
          </a:p>
        </p:txBody>
      </p:sp>
      <p:sp>
        <p:nvSpPr>
          <p:cNvPr id="4" name="Text 2"/>
          <p:cNvSpPr/>
          <p:nvPr/>
        </p:nvSpPr>
        <p:spPr>
          <a:xfrm>
            <a:off x="731520" y="1097280"/>
            <a:ext cx="10728655" cy="292608"/>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Selected primary scientific literature and foundational citations</a:t>
            </a:r>
            <a:endParaRPr lang="en-US" sz="1400" dirty="0"/>
          </a:p>
        </p:txBody>
      </p:sp>
      <p:sp>
        <p:nvSpPr>
          <p:cNvPr id="5" name="Shape 3"/>
          <p:cNvSpPr/>
          <p:nvPr/>
        </p:nvSpPr>
        <p:spPr>
          <a:xfrm>
            <a:off x="731520" y="1426464"/>
            <a:ext cx="10728655" cy="0"/>
          </a:xfrm>
          <a:prstGeom prst="line">
            <a:avLst/>
          </a:prstGeom>
          <a:noFill/>
          <a:ln w="12700">
            <a:solidFill>
              <a:srgbClr val="CBD5E1"/>
            </a:solidFill>
            <a:prstDash val="solid"/>
          </a:ln>
        </p:spPr>
      </p:sp>
      <p:sp>
        <p:nvSpPr>
          <p:cNvPr id="6" name="Text 4"/>
          <p:cNvSpPr/>
          <p:nvPr/>
        </p:nvSpPr>
        <p:spPr>
          <a:xfrm>
            <a:off x="731520" y="6355080"/>
            <a:ext cx="7772400" cy="29260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Department of Artificial Intelligence  |  Final Project Review  |  Amrita Vishwa Vidyapeetham</a:t>
            </a:r>
            <a:endParaRPr lang="en-US" sz="1100" dirty="0"/>
          </a:p>
        </p:txBody>
      </p:sp>
      <p:sp>
        <p:nvSpPr>
          <p:cNvPr id="7" name="Text 5"/>
          <p:cNvSpPr/>
          <p:nvPr/>
        </p:nvSpPr>
        <p:spPr>
          <a:xfrm>
            <a:off x="9448495" y="6355080"/>
            <a:ext cx="2011680" cy="292608"/>
          </a:xfrm>
          <a:prstGeom prst="rect">
            <a:avLst/>
          </a:prstGeom>
          <a:noFill/>
          <a:ln/>
        </p:spPr>
        <p:txBody>
          <a:bodyPr wrap="square" rtlCol="0" anchor="ctr"/>
          <a:lstStyle/>
          <a:p>
            <a:pPr algn="r" indent="0" marL="0">
              <a:buNone/>
            </a:pPr>
            <a:r>
              <a:rPr lang="en-US" sz="1100" dirty="0">
                <a:solidFill>
                  <a:srgbClr val="64748B"/>
                </a:solidFill>
                <a:latin typeface="Calibri" pitchFamily="34" charset="0"/>
                <a:ea typeface="Calibri" pitchFamily="34" charset="-122"/>
                <a:cs typeface="Calibri" pitchFamily="34" charset="-120"/>
              </a:rPr>
              <a:t>Slide 24 of 24</a:t>
            </a:r>
            <a:endParaRPr lang="en-US" sz="1100" dirty="0"/>
          </a:p>
        </p:txBody>
      </p:sp>
      <p:sp>
        <p:nvSpPr>
          <p:cNvPr id="8" name="Shape 6"/>
          <p:cNvSpPr/>
          <p:nvPr/>
        </p:nvSpPr>
        <p:spPr>
          <a:xfrm>
            <a:off x="731520" y="1691640"/>
            <a:ext cx="10728655" cy="4389120"/>
          </a:xfrm>
          <a:prstGeom prst="roundRect">
            <a:avLst>
              <a:gd name="adj" fmla="val 1667"/>
            </a:avLst>
          </a:prstGeom>
          <a:solidFill>
            <a:srgbClr val="FFFFFF"/>
          </a:solidFill>
          <a:ln w="12700">
            <a:solidFill>
              <a:srgbClr val="CBD5E1"/>
            </a:solidFill>
            <a:prstDash val="solid"/>
          </a:ln>
        </p:spPr>
      </p:sp>
      <p:sp>
        <p:nvSpPr>
          <p:cNvPr id="9" name="Shape 7"/>
          <p:cNvSpPr/>
          <p:nvPr/>
        </p:nvSpPr>
        <p:spPr>
          <a:xfrm>
            <a:off x="1005840" y="1965960"/>
            <a:ext cx="502920" cy="347472"/>
          </a:xfrm>
          <a:prstGeom prst="roundRect">
            <a:avLst>
              <a:gd name="adj" fmla="val 15789"/>
            </a:avLst>
          </a:prstGeom>
          <a:solidFill>
            <a:srgbClr val="EFF6FF"/>
          </a:solidFill>
          <a:ln w="12700">
            <a:solidFill>
              <a:srgbClr val="2563EB"/>
            </a:solidFill>
            <a:prstDash val="solid"/>
          </a:ln>
        </p:spPr>
      </p:sp>
      <p:sp>
        <p:nvSpPr>
          <p:cNvPr id="10" name="Text 8"/>
          <p:cNvSpPr/>
          <p:nvPr/>
        </p:nvSpPr>
        <p:spPr>
          <a:xfrm>
            <a:off x="1005840" y="1965960"/>
            <a:ext cx="502920" cy="347472"/>
          </a:xfrm>
          <a:prstGeom prst="rect">
            <a:avLst/>
          </a:prstGeom>
          <a:noFill/>
          <a:ln/>
        </p:spPr>
        <p:txBody>
          <a:bodyPr wrap="square" lIns="0" tIns="0" rIns="0" bIns="0" rtlCol="0" anchor="ctr"/>
          <a:lstStyle/>
          <a:p>
            <a:pPr algn="ctr" indent="0" marL="0">
              <a:buNone/>
            </a:pPr>
            <a:r>
              <a:rPr lang="en-US" sz="1100" b="1" dirty="0">
                <a:solidFill>
                  <a:srgbClr val="2563EB"/>
                </a:solidFill>
              </a:rPr>
              <a:t>[1]</a:t>
            </a:r>
            <a:endParaRPr lang="en-US" sz="1100" dirty="0"/>
          </a:p>
        </p:txBody>
      </p:sp>
      <p:sp>
        <p:nvSpPr>
          <p:cNvPr id="11" name="Text 9"/>
          <p:cNvSpPr/>
          <p:nvPr/>
        </p:nvSpPr>
        <p:spPr>
          <a:xfrm>
            <a:off x="1691640" y="1965960"/>
            <a:ext cx="9494215" cy="502920"/>
          </a:xfrm>
          <a:prstGeom prst="rect">
            <a:avLst/>
          </a:prstGeom>
          <a:noFill/>
          <a:ln/>
        </p:spPr>
        <p:txBody>
          <a:bodyPr wrap="square" lIns="0" tIns="0" rIns="0" bIns="0" rtlCol="0" anchor="ctr"/>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Collins, R. L., et al. (2020). A structural variation reference for medical and population genetics. Nature, 581(7809), 444–451.</a:t>
            </a:r>
            <a:endParaRPr lang="en-US" sz="1250" dirty="0"/>
          </a:p>
        </p:txBody>
      </p:sp>
      <p:sp>
        <p:nvSpPr>
          <p:cNvPr id="12" name="Shape 10"/>
          <p:cNvSpPr/>
          <p:nvPr/>
        </p:nvSpPr>
        <p:spPr>
          <a:xfrm>
            <a:off x="1005840" y="2624328"/>
            <a:ext cx="502920" cy="347472"/>
          </a:xfrm>
          <a:prstGeom prst="roundRect">
            <a:avLst>
              <a:gd name="adj" fmla="val 15789"/>
            </a:avLst>
          </a:prstGeom>
          <a:solidFill>
            <a:srgbClr val="EFF6FF"/>
          </a:solidFill>
          <a:ln w="12700">
            <a:solidFill>
              <a:srgbClr val="2563EB"/>
            </a:solidFill>
            <a:prstDash val="solid"/>
          </a:ln>
        </p:spPr>
      </p:sp>
      <p:sp>
        <p:nvSpPr>
          <p:cNvPr id="13" name="Text 11"/>
          <p:cNvSpPr/>
          <p:nvPr/>
        </p:nvSpPr>
        <p:spPr>
          <a:xfrm>
            <a:off x="1005840" y="2624328"/>
            <a:ext cx="502920" cy="347472"/>
          </a:xfrm>
          <a:prstGeom prst="rect">
            <a:avLst/>
          </a:prstGeom>
          <a:noFill/>
          <a:ln/>
        </p:spPr>
        <p:txBody>
          <a:bodyPr wrap="square" lIns="0" tIns="0" rIns="0" bIns="0" rtlCol="0" anchor="ctr"/>
          <a:lstStyle/>
          <a:p>
            <a:pPr algn="ctr" indent="0" marL="0">
              <a:buNone/>
            </a:pPr>
            <a:r>
              <a:rPr lang="en-US" sz="1100" b="1" dirty="0">
                <a:solidFill>
                  <a:srgbClr val="2563EB"/>
                </a:solidFill>
              </a:rPr>
              <a:t>[2]</a:t>
            </a:r>
            <a:endParaRPr lang="en-US" sz="1100" dirty="0"/>
          </a:p>
        </p:txBody>
      </p:sp>
      <p:sp>
        <p:nvSpPr>
          <p:cNvPr id="14" name="Text 12"/>
          <p:cNvSpPr/>
          <p:nvPr/>
        </p:nvSpPr>
        <p:spPr>
          <a:xfrm>
            <a:off x="1691640" y="2624328"/>
            <a:ext cx="9494215" cy="502920"/>
          </a:xfrm>
          <a:prstGeom prst="rect">
            <a:avLst/>
          </a:prstGeom>
          <a:noFill/>
          <a:ln/>
        </p:spPr>
        <p:txBody>
          <a:bodyPr wrap="square" lIns="0" tIns="0" rIns="0" bIns="0" rtlCol="0" anchor="ctr"/>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Rentzsch, P., et al. (2020). CADD-SV: scoring the variant effect of structural variants in the human genome. Genome Biology, 21(1), 1–20.</a:t>
            </a:r>
            <a:endParaRPr lang="en-US" sz="1250" dirty="0"/>
          </a:p>
        </p:txBody>
      </p:sp>
      <p:sp>
        <p:nvSpPr>
          <p:cNvPr id="15" name="Shape 13"/>
          <p:cNvSpPr/>
          <p:nvPr/>
        </p:nvSpPr>
        <p:spPr>
          <a:xfrm>
            <a:off x="1005840" y="3282696"/>
            <a:ext cx="502920" cy="347472"/>
          </a:xfrm>
          <a:prstGeom prst="roundRect">
            <a:avLst>
              <a:gd name="adj" fmla="val 15789"/>
            </a:avLst>
          </a:prstGeom>
          <a:solidFill>
            <a:srgbClr val="EFF6FF"/>
          </a:solidFill>
          <a:ln w="12700">
            <a:solidFill>
              <a:srgbClr val="2563EB"/>
            </a:solidFill>
            <a:prstDash val="solid"/>
          </a:ln>
        </p:spPr>
      </p:sp>
      <p:sp>
        <p:nvSpPr>
          <p:cNvPr id="16" name="Text 14"/>
          <p:cNvSpPr/>
          <p:nvPr/>
        </p:nvSpPr>
        <p:spPr>
          <a:xfrm>
            <a:off x="1005840" y="3282696"/>
            <a:ext cx="502920" cy="347472"/>
          </a:xfrm>
          <a:prstGeom prst="rect">
            <a:avLst/>
          </a:prstGeom>
          <a:noFill/>
          <a:ln/>
        </p:spPr>
        <p:txBody>
          <a:bodyPr wrap="square" lIns="0" tIns="0" rIns="0" bIns="0" rtlCol="0" anchor="ctr"/>
          <a:lstStyle/>
          <a:p>
            <a:pPr algn="ctr" indent="0" marL="0">
              <a:buNone/>
            </a:pPr>
            <a:r>
              <a:rPr lang="en-US" sz="1100" b="1" dirty="0">
                <a:solidFill>
                  <a:srgbClr val="2563EB"/>
                </a:solidFill>
              </a:rPr>
              <a:t>[3]</a:t>
            </a:r>
            <a:endParaRPr lang="en-US" sz="1100" dirty="0"/>
          </a:p>
        </p:txBody>
      </p:sp>
      <p:sp>
        <p:nvSpPr>
          <p:cNvPr id="17" name="Text 15"/>
          <p:cNvSpPr/>
          <p:nvPr/>
        </p:nvSpPr>
        <p:spPr>
          <a:xfrm>
            <a:off x="1691640" y="3282696"/>
            <a:ext cx="9494215" cy="502920"/>
          </a:xfrm>
          <a:prstGeom prst="rect">
            <a:avLst/>
          </a:prstGeom>
          <a:noFill/>
          <a:ln/>
        </p:spPr>
        <p:txBody>
          <a:bodyPr wrap="square" lIns="0" tIns="0" rIns="0" bIns="0" rtlCol="0" anchor="ctr"/>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Landrum, M. J., et al. (2024). ClinVar: improvements to accessing data. Nucleic Acids Research, 52(D1), D1389–D1397.</a:t>
            </a:r>
            <a:endParaRPr lang="en-US" sz="1250" dirty="0"/>
          </a:p>
        </p:txBody>
      </p:sp>
      <p:sp>
        <p:nvSpPr>
          <p:cNvPr id="18" name="Shape 16"/>
          <p:cNvSpPr/>
          <p:nvPr/>
        </p:nvSpPr>
        <p:spPr>
          <a:xfrm>
            <a:off x="1005840" y="3941064"/>
            <a:ext cx="502920" cy="347472"/>
          </a:xfrm>
          <a:prstGeom prst="roundRect">
            <a:avLst>
              <a:gd name="adj" fmla="val 15789"/>
            </a:avLst>
          </a:prstGeom>
          <a:solidFill>
            <a:srgbClr val="EFF6FF"/>
          </a:solidFill>
          <a:ln w="12700">
            <a:solidFill>
              <a:srgbClr val="2563EB"/>
            </a:solidFill>
            <a:prstDash val="solid"/>
          </a:ln>
        </p:spPr>
      </p:sp>
      <p:sp>
        <p:nvSpPr>
          <p:cNvPr id="19" name="Text 17"/>
          <p:cNvSpPr/>
          <p:nvPr/>
        </p:nvSpPr>
        <p:spPr>
          <a:xfrm>
            <a:off x="1005840" y="3941064"/>
            <a:ext cx="502920" cy="347472"/>
          </a:xfrm>
          <a:prstGeom prst="rect">
            <a:avLst/>
          </a:prstGeom>
          <a:noFill/>
          <a:ln/>
        </p:spPr>
        <p:txBody>
          <a:bodyPr wrap="square" lIns="0" tIns="0" rIns="0" bIns="0" rtlCol="0" anchor="ctr"/>
          <a:lstStyle/>
          <a:p>
            <a:pPr algn="ctr" indent="0" marL="0">
              <a:buNone/>
            </a:pPr>
            <a:r>
              <a:rPr lang="en-US" sz="1100" b="1" dirty="0">
                <a:solidFill>
                  <a:srgbClr val="2563EB"/>
                </a:solidFill>
              </a:rPr>
              <a:t>[4]</a:t>
            </a:r>
            <a:endParaRPr lang="en-US" sz="1100" dirty="0"/>
          </a:p>
        </p:txBody>
      </p:sp>
      <p:sp>
        <p:nvSpPr>
          <p:cNvPr id="20" name="Text 18"/>
          <p:cNvSpPr/>
          <p:nvPr/>
        </p:nvSpPr>
        <p:spPr>
          <a:xfrm>
            <a:off x="1691640" y="3941064"/>
            <a:ext cx="9494215" cy="502920"/>
          </a:xfrm>
          <a:prstGeom prst="rect">
            <a:avLst/>
          </a:prstGeom>
          <a:noFill/>
          <a:ln/>
        </p:spPr>
        <p:txBody>
          <a:bodyPr wrap="square" lIns="0" tIns="0" rIns="0" bIns="0" rtlCol="0" anchor="ctr"/>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Lundberg, S. M., et al. (2020). From local explanations to global understanding with explainable AI for trees. Nature Machine Intelligence, 2(1), 56–67.</a:t>
            </a:r>
            <a:endParaRPr lang="en-US" sz="1250" dirty="0"/>
          </a:p>
        </p:txBody>
      </p:sp>
      <p:sp>
        <p:nvSpPr>
          <p:cNvPr id="21" name="Shape 19"/>
          <p:cNvSpPr/>
          <p:nvPr/>
        </p:nvSpPr>
        <p:spPr>
          <a:xfrm>
            <a:off x="1005840" y="4599432"/>
            <a:ext cx="502920" cy="347472"/>
          </a:xfrm>
          <a:prstGeom prst="roundRect">
            <a:avLst>
              <a:gd name="adj" fmla="val 15789"/>
            </a:avLst>
          </a:prstGeom>
          <a:solidFill>
            <a:srgbClr val="EFF6FF"/>
          </a:solidFill>
          <a:ln w="12700">
            <a:solidFill>
              <a:srgbClr val="2563EB"/>
            </a:solidFill>
            <a:prstDash val="solid"/>
          </a:ln>
        </p:spPr>
      </p:sp>
      <p:sp>
        <p:nvSpPr>
          <p:cNvPr id="22" name="Text 20"/>
          <p:cNvSpPr/>
          <p:nvPr/>
        </p:nvSpPr>
        <p:spPr>
          <a:xfrm>
            <a:off x="1005840" y="4599432"/>
            <a:ext cx="502920" cy="347472"/>
          </a:xfrm>
          <a:prstGeom prst="rect">
            <a:avLst/>
          </a:prstGeom>
          <a:noFill/>
          <a:ln/>
        </p:spPr>
        <p:txBody>
          <a:bodyPr wrap="square" lIns="0" tIns="0" rIns="0" bIns="0" rtlCol="0" anchor="ctr"/>
          <a:lstStyle/>
          <a:p>
            <a:pPr algn="ctr" indent="0" marL="0">
              <a:buNone/>
            </a:pPr>
            <a:r>
              <a:rPr lang="en-US" sz="1100" b="1" dirty="0">
                <a:solidFill>
                  <a:srgbClr val="2563EB"/>
                </a:solidFill>
              </a:rPr>
              <a:t>[5]</a:t>
            </a:r>
            <a:endParaRPr lang="en-US" sz="1100" dirty="0"/>
          </a:p>
        </p:txBody>
      </p:sp>
      <p:sp>
        <p:nvSpPr>
          <p:cNvPr id="23" name="Text 21"/>
          <p:cNvSpPr/>
          <p:nvPr/>
        </p:nvSpPr>
        <p:spPr>
          <a:xfrm>
            <a:off x="1691640" y="4599432"/>
            <a:ext cx="9494215" cy="502920"/>
          </a:xfrm>
          <a:prstGeom prst="rect">
            <a:avLst/>
          </a:prstGeom>
          <a:noFill/>
          <a:ln/>
        </p:spPr>
        <p:txBody>
          <a:bodyPr wrap="square" lIns="0" tIns="0" rIns="0" bIns="0" rtlCol="0" anchor="ctr"/>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Angelopoulos, A. N., &amp; Bates, S. (2023). Conformal prediction: A gentle introduction. Foundations and Trends in Machine Learning, 16(4), 494–591.</a:t>
            </a:r>
            <a:endParaRPr lang="en-US" sz="1250" dirty="0"/>
          </a:p>
        </p:txBody>
      </p:sp>
      <p:sp>
        <p:nvSpPr>
          <p:cNvPr id="24" name="Shape 22"/>
          <p:cNvSpPr/>
          <p:nvPr/>
        </p:nvSpPr>
        <p:spPr>
          <a:xfrm>
            <a:off x="1005840" y="5257800"/>
            <a:ext cx="502920" cy="347472"/>
          </a:xfrm>
          <a:prstGeom prst="roundRect">
            <a:avLst>
              <a:gd name="adj" fmla="val 15789"/>
            </a:avLst>
          </a:prstGeom>
          <a:solidFill>
            <a:srgbClr val="EFF6FF"/>
          </a:solidFill>
          <a:ln w="12700">
            <a:solidFill>
              <a:srgbClr val="2563EB"/>
            </a:solidFill>
            <a:prstDash val="solid"/>
          </a:ln>
        </p:spPr>
      </p:sp>
      <p:sp>
        <p:nvSpPr>
          <p:cNvPr id="25" name="Text 23"/>
          <p:cNvSpPr/>
          <p:nvPr/>
        </p:nvSpPr>
        <p:spPr>
          <a:xfrm>
            <a:off x="1005840" y="5257800"/>
            <a:ext cx="502920" cy="347472"/>
          </a:xfrm>
          <a:prstGeom prst="rect">
            <a:avLst/>
          </a:prstGeom>
          <a:noFill/>
          <a:ln/>
        </p:spPr>
        <p:txBody>
          <a:bodyPr wrap="square" lIns="0" tIns="0" rIns="0" bIns="0" rtlCol="0" anchor="ctr"/>
          <a:lstStyle/>
          <a:p>
            <a:pPr algn="ctr" indent="0" marL="0">
              <a:buNone/>
            </a:pPr>
            <a:r>
              <a:rPr lang="en-US" sz="1100" b="1" dirty="0">
                <a:solidFill>
                  <a:srgbClr val="2563EB"/>
                </a:solidFill>
              </a:rPr>
              <a:t>[6]</a:t>
            </a:r>
            <a:endParaRPr lang="en-US" sz="1100" dirty="0"/>
          </a:p>
        </p:txBody>
      </p:sp>
      <p:sp>
        <p:nvSpPr>
          <p:cNvPr id="26" name="Text 24"/>
          <p:cNvSpPr/>
          <p:nvPr/>
        </p:nvSpPr>
        <p:spPr>
          <a:xfrm>
            <a:off x="1691640" y="5257800"/>
            <a:ext cx="9494215" cy="502920"/>
          </a:xfrm>
          <a:prstGeom prst="rect">
            <a:avLst/>
          </a:prstGeom>
          <a:noFill/>
          <a:ln/>
        </p:spPr>
        <p:txBody>
          <a:bodyPr wrap="square" lIns="0" tIns="0" rIns="0" bIns="0" rtlCol="0" anchor="ctr"/>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Sedlazeck, F. J., et al. (2018). Accurate detection of complex structural variations using single-molecule sequencing. Nature Methods, 15(6), 461–468.</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Department of Artificial Intelligence, School of Computing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AI-Based Structural Variant Prioritization from Long-Read Sequencing Using Explainable Machine Learning</dc:title>
  <dc:subject>Final Capstone Project Technical Presentation</dc:subject>
  <dc:creator>Waibhav Jha, Akash Bardia, Anantharaman T S, K S Jagan</dc:creator>
  <cp:lastModifiedBy>Waibhav Jha, Akash Bardia, Anantharaman T S, K S Jagan</cp:lastModifiedBy>
  <cp:revision>1</cp:revision>
  <dcterms:created xsi:type="dcterms:W3CDTF">2026-10-16T18:02:46Z</dcterms:created>
  <dcterms:modified xsi:type="dcterms:W3CDTF">2026-10-16T18:02:46Z</dcterms:modified>
</cp:coreProperties>
</file>