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777240"/>
            <a:ext cx="10728655" cy="320040"/>
          </a:xfrm>
          <a:prstGeom prst="rect">
            <a:avLst/>
          </a:prstGeom>
          <a:noFill/>
          <a:ln/>
        </p:spPr>
        <p:txBody>
          <a:bodyPr wrap="square" rtlCol="0" anchor="ctr"/>
          <a:lstStyle/>
          <a:p>
            <a:pPr indent="0" marL="0">
              <a:buNone/>
            </a:pPr>
            <a:r>
              <a:rPr lang="en-US" sz="1350" b="1" dirty="0">
                <a:solidFill>
                  <a:srgbClr val="60A5FA"/>
                </a:solidFill>
                <a:latin typeface="Calibri" pitchFamily="34" charset="0"/>
                <a:ea typeface="Calibri" pitchFamily="34" charset="-122"/>
                <a:cs typeface="Calibri" pitchFamily="34" charset="-120"/>
              </a:rPr>
              <a:t>ACADEMIC PROJECT REVIEW 1  |  FOUNDATION MILESTONE (~40%)</a:t>
            </a:r>
            <a:endParaRPr lang="en-US" sz="1350" dirty="0"/>
          </a:p>
        </p:txBody>
      </p:sp>
      <p:sp>
        <p:nvSpPr>
          <p:cNvPr id="3" name="Text 1"/>
          <p:cNvSpPr/>
          <p:nvPr/>
        </p:nvSpPr>
        <p:spPr>
          <a:xfrm>
            <a:off x="731520" y="1170432"/>
            <a:ext cx="10728655" cy="1463040"/>
          </a:xfrm>
          <a:prstGeom prst="rect">
            <a:avLst/>
          </a:prstGeom>
          <a:noFill/>
          <a:ln/>
        </p:spPr>
        <p:txBody>
          <a:bodyPr wrap="square" rtlCol="0" anchor="ctr"/>
          <a:lstStyle/>
          <a:p>
            <a:pPr indent="0" marL="0">
              <a:lnSpc>
                <a:spcPct val="115000"/>
              </a:lnSpc>
              <a:buNone/>
            </a:pPr>
            <a:r>
              <a:rPr lang="en-US" sz="2900" b="1" dirty="0">
                <a:solidFill>
                  <a:srgbClr val="FFFFFF"/>
                </a:solidFill>
                <a:latin typeface="Calibri" pitchFamily="34" charset="0"/>
                <a:ea typeface="Calibri" pitchFamily="34" charset="-122"/>
                <a:cs typeface="Calibri" pitchFamily="34" charset="-120"/>
              </a:rPr>
              <a:t>AI-Based Structural Variant Prioritization from</a:t>
            </a:r>
            <a:endParaRPr lang="en-US" sz="2900" dirty="0"/>
          </a:p>
          <a:p>
            <a:pPr indent="0" marL="0">
              <a:lnSpc>
                <a:spcPct val="115000"/>
              </a:lnSpc>
              <a:buNone/>
            </a:pPr>
            <a:r>
              <a:rPr lang="en-US" sz="2900" b="1" dirty="0">
                <a:solidFill>
                  <a:srgbClr val="FFFFFF"/>
                </a:solidFill>
                <a:latin typeface="Calibri" pitchFamily="34" charset="0"/>
                <a:ea typeface="Calibri" pitchFamily="34" charset="-122"/>
                <a:cs typeface="Calibri" pitchFamily="34" charset="-120"/>
              </a:rPr>
              <a:t>Long-Read Sequencing Using Explainable ML</a:t>
            </a:r>
            <a:endParaRPr lang="en-US" sz="2900" dirty="0"/>
          </a:p>
        </p:txBody>
      </p:sp>
      <p:sp>
        <p:nvSpPr>
          <p:cNvPr id="4" name="Text 2"/>
          <p:cNvSpPr/>
          <p:nvPr/>
        </p:nvSpPr>
        <p:spPr>
          <a:xfrm>
            <a:off x="731520" y="2743200"/>
            <a:ext cx="10728655" cy="41148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Multi-Repository Genomic Ingestion, Statistical Hypothesis Validation &amp; Zero-Leakage Architecture</a:t>
            </a:r>
            <a:endParaRPr lang="en-US" sz="1600" dirty="0"/>
          </a:p>
        </p:txBody>
      </p:sp>
      <p:sp>
        <p:nvSpPr>
          <p:cNvPr id="5" name="Shape 3"/>
          <p:cNvSpPr/>
          <p:nvPr/>
        </p:nvSpPr>
        <p:spPr>
          <a:xfrm>
            <a:off x="731520" y="3273552"/>
            <a:ext cx="10728655" cy="0"/>
          </a:xfrm>
          <a:prstGeom prst="line">
            <a:avLst/>
          </a:prstGeom>
          <a:noFill/>
          <a:ln w="19050">
            <a:solidFill>
              <a:srgbClr val="334155"/>
            </a:solidFill>
            <a:prstDash val="solid"/>
          </a:ln>
        </p:spPr>
      </p:sp>
      <p:sp>
        <p:nvSpPr>
          <p:cNvPr id="6" name="Shape 4"/>
          <p:cNvSpPr/>
          <p:nvPr/>
        </p:nvSpPr>
        <p:spPr>
          <a:xfrm>
            <a:off x="731520" y="3520440"/>
            <a:ext cx="3355848" cy="2468880"/>
          </a:xfrm>
          <a:prstGeom prst="roundRect">
            <a:avLst>
              <a:gd name="adj" fmla="val 2963"/>
            </a:avLst>
          </a:prstGeom>
          <a:solidFill>
            <a:srgbClr val="1E293B"/>
          </a:solidFill>
          <a:ln w="12700">
            <a:solidFill>
              <a:srgbClr val="334155"/>
            </a:solidFill>
            <a:prstDash val="solid"/>
          </a:ln>
        </p:spPr>
      </p:sp>
      <p:sp>
        <p:nvSpPr>
          <p:cNvPr id="7" name="Text 5"/>
          <p:cNvSpPr/>
          <p:nvPr/>
        </p:nvSpPr>
        <p:spPr>
          <a:xfrm>
            <a:off x="960120" y="3730752"/>
            <a:ext cx="2898648" cy="256032"/>
          </a:xfrm>
          <a:prstGeom prst="rect">
            <a:avLst/>
          </a:prstGeom>
          <a:noFill/>
          <a:ln/>
        </p:spPr>
        <p:txBody>
          <a:bodyPr wrap="square"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PROJECT TEAM</a:t>
            </a:r>
            <a:endParaRPr lang="en-US" sz="1200" dirty="0"/>
          </a:p>
        </p:txBody>
      </p:sp>
      <p:sp>
        <p:nvSpPr>
          <p:cNvPr id="8" name="Text 6"/>
          <p:cNvSpPr/>
          <p:nvPr/>
        </p:nvSpPr>
        <p:spPr>
          <a:xfrm>
            <a:off x="960120" y="4041648"/>
            <a:ext cx="2898648" cy="438912"/>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Group 15</a:t>
            </a:r>
            <a:endParaRPr lang="en-US" sz="1900" dirty="0"/>
          </a:p>
        </p:txBody>
      </p:sp>
      <p:sp>
        <p:nvSpPr>
          <p:cNvPr id="9" name="Text 7"/>
          <p:cNvSpPr/>
          <p:nvPr/>
        </p:nvSpPr>
        <p:spPr>
          <a:xfrm>
            <a:off x="960120" y="4553712"/>
            <a:ext cx="2898648" cy="1234440"/>
          </a:xfrm>
          <a:prstGeom prst="rect">
            <a:avLst/>
          </a:prstGeom>
          <a:noFill/>
          <a:ln/>
        </p:spPr>
        <p:txBody>
          <a:bodyPr wrap="square" rtlCol="0" anchor="ctr"/>
          <a:lstStyle/>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Computational Genomics &amp; AI</a:t>
            </a:r>
            <a:endParaRPr lang="en-US" sz="1350" dirty="0"/>
          </a:p>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B.Tech Capstone Project</a:t>
            </a:r>
            <a:endParaRPr lang="en-US" sz="1350" dirty="0"/>
          </a:p>
        </p:txBody>
      </p:sp>
      <p:sp>
        <p:nvSpPr>
          <p:cNvPr id="10" name="Shape 8"/>
          <p:cNvSpPr/>
          <p:nvPr/>
        </p:nvSpPr>
        <p:spPr>
          <a:xfrm>
            <a:off x="4416552" y="3520440"/>
            <a:ext cx="3355848" cy="2468880"/>
          </a:xfrm>
          <a:prstGeom prst="roundRect">
            <a:avLst>
              <a:gd name="adj" fmla="val 2963"/>
            </a:avLst>
          </a:prstGeom>
          <a:solidFill>
            <a:srgbClr val="1E293B"/>
          </a:solidFill>
          <a:ln w="12700">
            <a:solidFill>
              <a:srgbClr val="334155"/>
            </a:solidFill>
            <a:prstDash val="solid"/>
          </a:ln>
        </p:spPr>
      </p:sp>
      <p:sp>
        <p:nvSpPr>
          <p:cNvPr id="11" name="Text 9"/>
          <p:cNvSpPr/>
          <p:nvPr/>
        </p:nvSpPr>
        <p:spPr>
          <a:xfrm>
            <a:off x="4645152" y="3730752"/>
            <a:ext cx="2898648" cy="256032"/>
          </a:xfrm>
          <a:prstGeom prst="rect">
            <a:avLst/>
          </a:prstGeom>
          <a:noFill/>
          <a:ln/>
        </p:spPr>
        <p:txBody>
          <a:bodyPr wrap="square"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REVIEW 1 GOAL</a:t>
            </a:r>
            <a:endParaRPr lang="en-US" sz="1200" dirty="0"/>
          </a:p>
        </p:txBody>
      </p:sp>
      <p:sp>
        <p:nvSpPr>
          <p:cNvPr id="12" name="Text 10"/>
          <p:cNvSpPr/>
          <p:nvPr/>
        </p:nvSpPr>
        <p:spPr>
          <a:xfrm>
            <a:off x="4645152" y="4041648"/>
            <a:ext cx="2898648" cy="438912"/>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Data &amp; Validation</a:t>
            </a:r>
            <a:endParaRPr lang="en-US" sz="1900" dirty="0"/>
          </a:p>
        </p:txBody>
      </p:sp>
      <p:sp>
        <p:nvSpPr>
          <p:cNvPr id="13" name="Text 11"/>
          <p:cNvSpPr/>
          <p:nvPr/>
        </p:nvSpPr>
        <p:spPr>
          <a:xfrm>
            <a:off x="4645152" y="4553712"/>
            <a:ext cx="2898648" cy="1234440"/>
          </a:xfrm>
          <a:prstGeom prst="rect">
            <a:avLst/>
          </a:prstGeom>
          <a:noFill/>
          <a:ln/>
        </p:spPr>
        <p:txBody>
          <a:bodyPr wrap="square" rtlCol="0" anchor="ctr"/>
          <a:lstStyle/>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Harmonize ClinVar &amp; gnomAD</a:t>
            </a:r>
            <a:endParaRPr lang="en-US" sz="1350" dirty="0"/>
          </a:p>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Statistical Proof of SV Regimes</a:t>
            </a:r>
            <a:endParaRPr lang="en-US" sz="1350" dirty="0"/>
          </a:p>
        </p:txBody>
      </p:sp>
      <p:sp>
        <p:nvSpPr>
          <p:cNvPr id="14" name="Shape 12"/>
          <p:cNvSpPr/>
          <p:nvPr/>
        </p:nvSpPr>
        <p:spPr>
          <a:xfrm>
            <a:off x="8101584" y="3520440"/>
            <a:ext cx="3355848" cy="2468880"/>
          </a:xfrm>
          <a:prstGeom prst="roundRect">
            <a:avLst>
              <a:gd name="adj" fmla="val 2963"/>
            </a:avLst>
          </a:prstGeom>
          <a:solidFill>
            <a:srgbClr val="1E293B"/>
          </a:solidFill>
          <a:ln w="12700">
            <a:solidFill>
              <a:srgbClr val="334155"/>
            </a:solidFill>
            <a:prstDash val="solid"/>
          </a:ln>
        </p:spPr>
      </p:sp>
      <p:sp>
        <p:nvSpPr>
          <p:cNvPr id="15" name="Text 13"/>
          <p:cNvSpPr/>
          <p:nvPr/>
        </p:nvSpPr>
        <p:spPr>
          <a:xfrm>
            <a:off x="8330184" y="3730752"/>
            <a:ext cx="2898648" cy="256032"/>
          </a:xfrm>
          <a:prstGeom prst="rect">
            <a:avLst/>
          </a:prstGeom>
          <a:noFill/>
          <a:ln/>
        </p:spPr>
        <p:txBody>
          <a:bodyPr wrap="square"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DELIVERABLES</a:t>
            </a:r>
            <a:endParaRPr lang="en-US" sz="1200" dirty="0"/>
          </a:p>
        </p:txBody>
      </p:sp>
      <p:sp>
        <p:nvSpPr>
          <p:cNvPr id="16" name="Text 14"/>
          <p:cNvSpPr/>
          <p:nvPr/>
        </p:nvSpPr>
        <p:spPr>
          <a:xfrm>
            <a:off x="8330184" y="4041648"/>
            <a:ext cx="2898648" cy="438912"/>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Zero-Leakage Design</a:t>
            </a:r>
            <a:endParaRPr lang="en-US" sz="1900" dirty="0"/>
          </a:p>
        </p:txBody>
      </p:sp>
      <p:sp>
        <p:nvSpPr>
          <p:cNvPr id="17" name="Text 15"/>
          <p:cNvSpPr/>
          <p:nvPr/>
        </p:nvSpPr>
        <p:spPr>
          <a:xfrm>
            <a:off x="8330184" y="4553712"/>
            <a:ext cx="2898648" cy="1234440"/>
          </a:xfrm>
          <a:prstGeom prst="rect">
            <a:avLst/>
          </a:prstGeom>
          <a:noFill/>
          <a:ln/>
        </p:spPr>
        <p:txBody>
          <a:bodyPr wrap="square" rtlCol="0" anchor="ctr"/>
          <a:lstStyle/>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Chromosomal Disjoint Partitions</a:t>
            </a:r>
            <a:endParaRPr lang="en-US" sz="1350" dirty="0"/>
          </a:p>
          <a:p>
            <a:pPr indent="0" marL="0">
              <a:lnSpc>
                <a:spcPct val="120000"/>
              </a:lnSpc>
              <a:buNone/>
            </a:pPr>
            <a:r>
              <a:rPr lang="en-US" sz="1350" dirty="0">
                <a:solidFill>
                  <a:srgbClr val="CBD5E1"/>
                </a:solidFill>
                <a:latin typeface="Calibri" pitchFamily="34" charset="0"/>
                <a:ea typeface="Calibri" pitchFamily="34" charset="-122"/>
                <a:cs typeface="Calibri" pitchFamily="34" charset="-120"/>
              </a:rPr>
              <a:t>Feature Matrix &amp; Target Formulation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PROBLEM CONTEXT</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The Structural Variant Interpretation Bottleneck</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High-throughput variant discovery creates an unsustainable manual curation bottleneck</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2 of 18</a:t>
            </a:r>
            <a:endParaRPr lang="en-US" sz="1150" dirty="0"/>
          </a:p>
        </p:txBody>
      </p:sp>
      <p:sp>
        <p:nvSpPr>
          <p:cNvPr id="8" name="Shape 6"/>
          <p:cNvSpPr/>
          <p:nvPr/>
        </p:nvSpPr>
        <p:spPr>
          <a:xfrm>
            <a:off x="731520" y="1600200"/>
            <a:ext cx="3355848" cy="2423160"/>
          </a:xfrm>
          <a:prstGeom prst="roundRect">
            <a:avLst>
              <a:gd name="adj" fmla="val 3019"/>
            </a:avLst>
          </a:prstGeom>
          <a:solidFill>
            <a:srgbClr val="FFFFFF"/>
          </a:solidFill>
          <a:ln w="12700">
            <a:solidFill>
              <a:srgbClr val="E2E8F0"/>
            </a:solidFill>
            <a:prstDash val="solid"/>
          </a:ln>
        </p:spPr>
      </p:sp>
      <p:sp>
        <p:nvSpPr>
          <p:cNvPr id="9" name="Text 7"/>
          <p:cNvSpPr/>
          <p:nvPr/>
        </p:nvSpPr>
        <p:spPr>
          <a:xfrm>
            <a:off x="960120" y="1783080"/>
            <a:ext cx="2898648" cy="594360"/>
          </a:xfrm>
          <a:prstGeom prst="rect">
            <a:avLst/>
          </a:prstGeom>
          <a:noFill/>
          <a:ln/>
        </p:spPr>
        <p:txBody>
          <a:bodyPr wrap="square" rtlCol="0" anchor="ctr"/>
          <a:lstStyle/>
          <a:p>
            <a:pPr indent="0" marL="0">
              <a:buNone/>
            </a:pPr>
            <a:r>
              <a:rPr lang="en-US" sz="3200" b="1" dirty="0">
                <a:solidFill>
                  <a:srgbClr val="2563EB"/>
                </a:solidFill>
                <a:latin typeface="Calibri" pitchFamily="34" charset="0"/>
                <a:ea typeface="Calibri" pitchFamily="34" charset="-122"/>
                <a:cs typeface="Calibri" pitchFamily="34" charset="-120"/>
              </a:rPr>
              <a:t>&gt;20,000</a:t>
            </a:r>
            <a:endParaRPr lang="en-US" sz="3200" dirty="0"/>
          </a:p>
        </p:txBody>
      </p:sp>
      <p:sp>
        <p:nvSpPr>
          <p:cNvPr id="10" name="Text 8"/>
          <p:cNvSpPr/>
          <p:nvPr/>
        </p:nvSpPr>
        <p:spPr>
          <a:xfrm>
            <a:off x="960120" y="2423160"/>
            <a:ext cx="2898648" cy="320040"/>
          </a:xfrm>
          <a:prstGeom prst="rect">
            <a:avLst/>
          </a:prstGeom>
          <a:noFill/>
          <a:ln/>
        </p:spPr>
        <p:txBody>
          <a:bodyPr wrap="square"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SVs Per Genome</a:t>
            </a:r>
            <a:endParaRPr lang="en-US" sz="1550" dirty="0"/>
          </a:p>
        </p:txBody>
      </p:sp>
      <p:sp>
        <p:nvSpPr>
          <p:cNvPr id="11" name="Text 9"/>
          <p:cNvSpPr/>
          <p:nvPr/>
        </p:nvSpPr>
        <p:spPr>
          <a:xfrm>
            <a:off x="960120" y="2788920"/>
            <a:ext cx="2898648" cy="109728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Structural variants (&gt;=50 bp) drive the majority of divergent base pairs and rare Mendelian genetic diseases.</a:t>
            </a:r>
            <a:endParaRPr lang="en-US" sz="1300" dirty="0"/>
          </a:p>
        </p:txBody>
      </p:sp>
      <p:sp>
        <p:nvSpPr>
          <p:cNvPr id="12" name="Shape 10"/>
          <p:cNvSpPr/>
          <p:nvPr/>
        </p:nvSpPr>
        <p:spPr>
          <a:xfrm>
            <a:off x="4416552" y="1600200"/>
            <a:ext cx="3355848" cy="2423160"/>
          </a:xfrm>
          <a:prstGeom prst="roundRect">
            <a:avLst>
              <a:gd name="adj" fmla="val 3019"/>
            </a:avLst>
          </a:prstGeom>
          <a:solidFill>
            <a:srgbClr val="FFFFFF"/>
          </a:solidFill>
          <a:ln w="12700">
            <a:solidFill>
              <a:srgbClr val="E2E8F0"/>
            </a:solidFill>
            <a:prstDash val="solid"/>
          </a:ln>
        </p:spPr>
      </p:sp>
      <p:sp>
        <p:nvSpPr>
          <p:cNvPr id="13" name="Text 11"/>
          <p:cNvSpPr/>
          <p:nvPr/>
        </p:nvSpPr>
        <p:spPr>
          <a:xfrm>
            <a:off x="4645152" y="1783080"/>
            <a:ext cx="2898648" cy="594360"/>
          </a:xfrm>
          <a:prstGeom prst="rect">
            <a:avLst/>
          </a:prstGeom>
          <a:noFill/>
          <a:ln/>
        </p:spPr>
        <p:txBody>
          <a:bodyPr wrap="square" rtlCol="0" anchor="ctr"/>
          <a:lstStyle/>
          <a:p>
            <a:pPr indent="0" marL="0">
              <a:buNone/>
            </a:pPr>
            <a:r>
              <a:rPr lang="en-US" sz="3200" b="1" dirty="0">
                <a:solidFill>
                  <a:srgbClr val="D97706"/>
                </a:solidFill>
                <a:latin typeface="Calibri" pitchFamily="34" charset="0"/>
                <a:ea typeface="Calibri" pitchFamily="34" charset="-122"/>
                <a:cs typeface="Calibri" pitchFamily="34" charset="-120"/>
              </a:rPr>
              <a:t>40.0%</a:t>
            </a:r>
            <a:endParaRPr lang="en-US" sz="3200" dirty="0"/>
          </a:p>
        </p:txBody>
      </p:sp>
      <p:sp>
        <p:nvSpPr>
          <p:cNvPr id="14" name="Text 12"/>
          <p:cNvSpPr/>
          <p:nvPr/>
        </p:nvSpPr>
        <p:spPr>
          <a:xfrm>
            <a:off x="4645152" y="2423160"/>
            <a:ext cx="2898648" cy="320040"/>
          </a:xfrm>
          <a:prstGeom prst="rect">
            <a:avLst/>
          </a:prstGeom>
          <a:noFill/>
          <a:ln/>
        </p:spPr>
        <p:txBody>
          <a:bodyPr wrap="square"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Unresolved VUS</a:t>
            </a:r>
            <a:endParaRPr lang="en-US" sz="1550" dirty="0"/>
          </a:p>
        </p:txBody>
      </p:sp>
      <p:sp>
        <p:nvSpPr>
          <p:cNvPr id="15" name="Text 13"/>
          <p:cNvSpPr/>
          <p:nvPr/>
        </p:nvSpPr>
        <p:spPr>
          <a:xfrm>
            <a:off x="4645152" y="2788920"/>
            <a:ext cx="2898648" cy="109728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40,741 structural variants in ClinVar carry "Uncertain Significance", leaving patients without clear diagnoses.</a:t>
            </a:r>
            <a:endParaRPr lang="en-US" sz="1300" dirty="0"/>
          </a:p>
        </p:txBody>
      </p:sp>
      <p:sp>
        <p:nvSpPr>
          <p:cNvPr id="16" name="Shape 14"/>
          <p:cNvSpPr/>
          <p:nvPr/>
        </p:nvSpPr>
        <p:spPr>
          <a:xfrm>
            <a:off x="8101584" y="1600200"/>
            <a:ext cx="3355848" cy="2423160"/>
          </a:xfrm>
          <a:prstGeom prst="roundRect">
            <a:avLst>
              <a:gd name="adj" fmla="val 3019"/>
            </a:avLst>
          </a:prstGeom>
          <a:solidFill>
            <a:srgbClr val="FFFFFF"/>
          </a:solidFill>
          <a:ln w="12700">
            <a:solidFill>
              <a:srgbClr val="E2E8F0"/>
            </a:solidFill>
            <a:prstDash val="solid"/>
          </a:ln>
        </p:spPr>
      </p:sp>
      <p:sp>
        <p:nvSpPr>
          <p:cNvPr id="17" name="Text 15"/>
          <p:cNvSpPr/>
          <p:nvPr/>
        </p:nvSpPr>
        <p:spPr>
          <a:xfrm>
            <a:off x="8330184" y="1783080"/>
            <a:ext cx="2898648" cy="594360"/>
          </a:xfrm>
          <a:prstGeom prst="rect">
            <a:avLst/>
          </a:prstGeom>
          <a:noFill/>
          <a:ln/>
        </p:spPr>
        <p:txBody>
          <a:bodyPr wrap="square" rtlCol="0" anchor="ctr"/>
          <a:lstStyle/>
          <a:p>
            <a:pPr indent="0" marL="0">
              <a:buNone/>
            </a:pPr>
            <a:r>
              <a:rPr lang="en-US" sz="3200" b="1" dirty="0">
                <a:solidFill>
                  <a:srgbClr val="DC2626"/>
                </a:solidFill>
                <a:latin typeface="Calibri" pitchFamily="34" charset="0"/>
                <a:ea typeface="Calibri" pitchFamily="34" charset="-122"/>
                <a:cs typeface="Calibri" pitchFamily="34" charset="-120"/>
              </a:rPr>
              <a:t>Days / Case</a:t>
            </a:r>
            <a:endParaRPr lang="en-US" sz="3200" dirty="0"/>
          </a:p>
        </p:txBody>
      </p:sp>
      <p:sp>
        <p:nvSpPr>
          <p:cNvPr id="18" name="Text 16"/>
          <p:cNvSpPr/>
          <p:nvPr/>
        </p:nvSpPr>
        <p:spPr>
          <a:xfrm>
            <a:off x="8330184" y="2423160"/>
            <a:ext cx="2898648" cy="320040"/>
          </a:xfrm>
          <a:prstGeom prst="rect">
            <a:avLst/>
          </a:prstGeom>
          <a:noFill/>
          <a:ln/>
        </p:spPr>
        <p:txBody>
          <a:bodyPr wrap="square"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Manual Curation</a:t>
            </a:r>
            <a:endParaRPr lang="en-US" sz="1550" dirty="0"/>
          </a:p>
        </p:txBody>
      </p:sp>
      <p:sp>
        <p:nvSpPr>
          <p:cNvPr id="19" name="Text 17"/>
          <p:cNvSpPr/>
          <p:nvPr/>
        </p:nvSpPr>
        <p:spPr>
          <a:xfrm>
            <a:off x="8330184" y="2788920"/>
            <a:ext cx="2898648" cy="109728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Standard clinical evaluation requires labor-intensive manual guideline scoring, stalling diagnostic throughput.</a:t>
            </a:r>
            <a:endParaRPr lang="en-US" sz="1300" dirty="0"/>
          </a:p>
        </p:txBody>
      </p:sp>
      <p:sp>
        <p:nvSpPr>
          <p:cNvPr id="20" name="Shape 18"/>
          <p:cNvSpPr/>
          <p:nvPr/>
        </p:nvSpPr>
        <p:spPr>
          <a:xfrm>
            <a:off x="731520" y="4206240"/>
            <a:ext cx="10728655" cy="1965960"/>
          </a:xfrm>
          <a:prstGeom prst="roundRect">
            <a:avLst>
              <a:gd name="adj" fmla="val 3721"/>
            </a:avLst>
          </a:prstGeom>
          <a:solidFill>
            <a:srgbClr val="FFFFFF"/>
          </a:solidFill>
          <a:ln w="15240">
            <a:solidFill>
              <a:srgbClr val="BFDBFE"/>
            </a:solidFill>
            <a:prstDash val="solid"/>
          </a:ln>
        </p:spPr>
      </p:sp>
      <p:sp>
        <p:nvSpPr>
          <p:cNvPr id="21" name="Text 19"/>
          <p:cNvSpPr/>
          <p:nvPr/>
        </p:nvSpPr>
        <p:spPr>
          <a:xfrm>
            <a:off x="1005840" y="4370832"/>
            <a:ext cx="10180015"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CORE PROBLEM STATEMENT</a:t>
            </a:r>
            <a:endParaRPr lang="en-US" sz="1300" dirty="0"/>
          </a:p>
        </p:txBody>
      </p:sp>
      <p:sp>
        <p:nvSpPr>
          <p:cNvPr id="22" name="Text 20"/>
          <p:cNvSpPr/>
          <p:nvPr/>
        </p:nvSpPr>
        <p:spPr>
          <a:xfrm>
            <a:off x="1005840" y="4681728"/>
            <a:ext cx="10180015" cy="1325880"/>
          </a:xfrm>
          <a:prstGeom prst="rect">
            <a:avLst/>
          </a:prstGeom>
          <a:noFill/>
          <a:ln/>
        </p:spPr>
        <p:txBody>
          <a:bodyPr wrap="square" rtlCol="0" anchor="ctr"/>
          <a:lstStyle/>
          <a:p>
            <a:pPr indent="0" marL="0">
              <a:lnSpc>
                <a:spcPct val="122000"/>
              </a:lnSpc>
              <a:buNone/>
            </a:pPr>
            <a:r>
              <a:rPr lang="en-US" sz="1400" dirty="0">
                <a:solidFill>
                  <a:srgbClr val="0F172A"/>
                </a:solidFill>
                <a:latin typeface="Calibri" pitchFamily="34" charset="0"/>
                <a:ea typeface="Calibri" pitchFamily="34" charset="-122"/>
                <a:cs typeface="Calibri" pitchFamily="34" charset="-120"/>
              </a:rPr>
              <a:t>While long-read sequencing reliably uncovers thousands of structural variants per patient, clinical genetics teams cannot manually evaluate them at scale. Over 40% of all submitted SVs remain trapped in the ambiguous VUS category. There is an urgent need for an automated, calibrated Machine Learning framework that ranks candidate variants, prioritizes true clinical risks, and explains the biological rationale behind every prediction.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TECHNOLOGY DRIVERS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Motivation: Long-Read Sequencing &amp; Explainable AI</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Leveraging single-molecule long reads and interpretable machine learning</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3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2700">
            <a:solidFill>
              <a:srgbClr val="E2E8F0"/>
            </a:solidFill>
            <a:prstDash val="solid"/>
          </a:ln>
        </p:spPr>
      </p:sp>
      <p:sp>
        <p:nvSpPr>
          <p:cNvPr id="9" name="Text 7"/>
          <p:cNvSpPr/>
          <p:nvPr/>
        </p:nvSpPr>
        <p:spPr>
          <a:xfrm>
            <a:off x="1005840" y="1810512"/>
            <a:ext cx="462686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THE POWER OF LONG-READ SEQUENCING</a:t>
            </a:r>
            <a:endParaRPr lang="en-US" sz="1250" dirty="0"/>
          </a:p>
        </p:txBody>
      </p:sp>
      <p:sp>
        <p:nvSpPr>
          <p:cNvPr id="10" name="Text 8"/>
          <p:cNvSpPr/>
          <p:nvPr/>
        </p:nvSpPr>
        <p:spPr>
          <a:xfrm>
            <a:off x="1005840" y="2103120"/>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PacBio HiFi &amp; Oxford Nanopore (&gt;10 kb Reads)</a:t>
            </a:r>
            <a:endParaRPr lang="en-US" sz="1650" dirty="0"/>
          </a:p>
        </p:txBody>
      </p:sp>
      <p:sp>
        <p:nvSpPr>
          <p:cNvPr id="11" name="Text 9"/>
          <p:cNvSpPr/>
          <p:nvPr/>
        </p:nvSpPr>
        <p:spPr>
          <a:xfrm>
            <a:off x="1005840" y="257860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Spanning Complex Repeats:</a:t>
            </a:r>
            <a:endParaRPr lang="en-US" sz="1350" dirty="0"/>
          </a:p>
        </p:txBody>
      </p:sp>
      <p:sp>
        <p:nvSpPr>
          <p:cNvPr id="12" name="Text 10"/>
          <p:cNvSpPr/>
          <p:nvPr/>
        </p:nvSpPr>
        <p:spPr>
          <a:xfrm>
            <a:off x="1234440" y="287121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Reads &gt;10 kb span repetitive elements, segment duplications, and GC-rich regions inaccessible to short-read Illumina.</a:t>
            </a:r>
            <a:endParaRPr lang="en-US" sz="1300" dirty="0"/>
          </a:p>
        </p:txBody>
      </p:sp>
      <p:sp>
        <p:nvSpPr>
          <p:cNvPr id="13" name="Text 11"/>
          <p:cNvSpPr/>
          <p:nvPr/>
        </p:nvSpPr>
        <p:spPr>
          <a:xfrm>
            <a:off x="1005840" y="376732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Single-Base Breakpoint Precision:</a:t>
            </a:r>
            <a:endParaRPr lang="en-US" sz="1350" dirty="0"/>
          </a:p>
        </p:txBody>
      </p:sp>
      <p:sp>
        <p:nvSpPr>
          <p:cNvPr id="14" name="Text 12"/>
          <p:cNvSpPr/>
          <p:nvPr/>
        </p:nvSpPr>
        <p:spPr>
          <a:xfrm>
            <a:off x="1234440" y="405993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Dedicated SV callers (Sniffles2, cuteSV) resolve precise breakpoint coordinates at near-nucleotide resolution.</a:t>
            </a:r>
            <a:endParaRPr lang="en-US" sz="1300" dirty="0"/>
          </a:p>
        </p:txBody>
      </p:sp>
      <p:sp>
        <p:nvSpPr>
          <p:cNvPr id="15" name="Text 13"/>
          <p:cNvSpPr/>
          <p:nvPr/>
        </p:nvSpPr>
        <p:spPr>
          <a:xfrm>
            <a:off x="1005840" y="495604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Comprehensive Variant Detection:</a:t>
            </a:r>
            <a:endParaRPr lang="en-US" sz="1350" dirty="0"/>
          </a:p>
        </p:txBody>
      </p:sp>
      <p:sp>
        <p:nvSpPr>
          <p:cNvPr id="16" name="Text 14"/>
          <p:cNvSpPr/>
          <p:nvPr/>
        </p:nvSpPr>
        <p:spPr>
          <a:xfrm>
            <a:off x="1234440" y="524865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Simultaneously captures deletions, duplications, balanced inversions, insertions, and complex multi-breakend events.</a:t>
            </a:r>
            <a:endParaRPr lang="en-US" sz="1300" dirty="0"/>
          </a:p>
        </p:txBody>
      </p:sp>
      <p:sp>
        <p:nvSpPr>
          <p:cNvPr id="17" name="Shape 15"/>
          <p:cNvSpPr/>
          <p:nvPr/>
        </p:nvSpPr>
        <p:spPr>
          <a:xfrm>
            <a:off x="6281928" y="1600200"/>
            <a:ext cx="5175504" cy="4553712"/>
          </a:xfrm>
          <a:prstGeom prst="roundRect">
            <a:avLst>
              <a:gd name="adj" fmla="val 1606"/>
            </a:avLst>
          </a:prstGeom>
          <a:solidFill>
            <a:srgbClr val="FFFFFF"/>
          </a:solidFill>
          <a:ln w="12700">
            <a:solidFill>
              <a:srgbClr val="E2E8F0"/>
            </a:solidFill>
            <a:prstDash val="solid"/>
          </a:ln>
        </p:spPr>
      </p:sp>
      <p:sp>
        <p:nvSpPr>
          <p:cNvPr id="18" name="Text 16"/>
          <p:cNvSpPr/>
          <p:nvPr/>
        </p:nvSpPr>
        <p:spPr>
          <a:xfrm>
            <a:off x="6556248" y="1810512"/>
            <a:ext cx="4626864" cy="256032"/>
          </a:xfrm>
          <a:prstGeom prst="rect">
            <a:avLst/>
          </a:prstGeom>
          <a:noFill/>
          <a:ln/>
        </p:spPr>
        <p:txBody>
          <a:bodyPr wrap="square" rtlCol="0" anchor="ctr"/>
          <a:lstStyle/>
          <a:p>
            <a:pPr indent="0" marL="0">
              <a:buNone/>
            </a:pPr>
            <a:r>
              <a:rPr lang="en-US" sz="1250" b="1" dirty="0">
                <a:solidFill>
                  <a:srgbClr val="059669"/>
                </a:solidFill>
                <a:latin typeface="Calibri" pitchFamily="34" charset="0"/>
                <a:ea typeface="Calibri" pitchFamily="34" charset="-122"/>
                <a:cs typeface="Calibri" pitchFamily="34" charset="-120"/>
              </a:rPr>
              <a:t>EXPLAINABLE MACHINE LEARNING</a:t>
            </a:r>
            <a:endParaRPr lang="en-US" sz="1250" dirty="0"/>
          </a:p>
        </p:txBody>
      </p:sp>
      <p:sp>
        <p:nvSpPr>
          <p:cNvPr id="19" name="Text 17"/>
          <p:cNvSpPr/>
          <p:nvPr/>
        </p:nvSpPr>
        <p:spPr>
          <a:xfrm>
            <a:off x="6556248" y="2103120"/>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Calibrated Risk Prioritization &amp; Interpretation</a:t>
            </a:r>
            <a:endParaRPr lang="en-US" sz="1650" dirty="0"/>
          </a:p>
        </p:txBody>
      </p:sp>
      <p:sp>
        <p:nvSpPr>
          <p:cNvPr id="20" name="Text 18"/>
          <p:cNvSpPr/>
          <p:nvPr/>
        </p:nvSpPr>
        <p:spPr>
          <a:xfrm>
            <a:off x="6556248" y="257860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Continuous Prioritization Index:</a:t>
            </a:r>
            <a:endParaRPr lang="en-US" sz="1350" dirty="0"/>
          </a:p>
        </p:txBody>
      </p:sp>
      <p:sp>
        <p:nvSpPr>
          <p:cNvPr id="21" name="Text 19"/>
          <p:cNvSpPr/>
          <p:nvPr/>
        </p:nvSpPr>
        <p:spPr>
          <a:xfrm>
            <a:off x="6784848" y="287121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Outputs a well-calibrated risk probability (0.00 to 1.00) rather than coarse, rigid binary heuristic classifications.</a:t>
            </a:r>
            <a:endParaRPr lang="en-US" sz="1300" dirty="0"/>
          </a:p>
        </p:txBody>
      </p:sp>
      <p:sp>
        <p:nvSpPr>
          <p:cNvPr id="22" name="Text 20"/>
          <p:cNvSpPr/>
          <p:nvPr/>
        </p:nvSpPr>
        <p:spPr>
          <a:xfrm>
            <a:off x="6556248" y="376732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Local TreeSHAP Feature Attribution:</a:t>
            </a:r>
            <a:endParaRPr lang="en-US" sz="1350" dirty="0"/>
          </a:p>
        </p:txBody>
      </p:sp>
      <p:sp>
        <p:nvSpPr>
          <p:cNvPr id="23" name="Text 21"/>
          <p:cNvSpPr/>
          <p:nvPr/>
        </p:nvSpPr>
        <p:spPr>
          <a:xfrm>
            <a:off x="6784848" y="405993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Decomposes every individual variant score into exact additive contributions from population rarity, size, and gene constraint.</a:t>
            </a:r>
            <a:endParaRPr lang="en-US" sz="1300" dirty="0"/>
          </a:p>
        </p:txBody>
      </p:sp>
      <p:sp>
        <p:nvSpPr>
          <p:cNvPr id="24" name="Text 22"/>
          <p:cNvSpPr/>
          <p:nvPr/>
        </p:nvSpPr>
        <p:spPr>
          <a:xfrm>
            <a:off x="6556248" y="4956048"/>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Clinical Actionability Triage:</a:t>
            </a:r>
            <a:endParaRPr lang="en-US" sz="1350" dirty="0"/>
          </a:p>
        </p:txBody>
      </p:sp>
      <p:sp>
        <p:nvSpPr>
          <p:cNvPr id="25" name="Text 23"/>
          <p:cNvSpPr/>
          <p:nvPr/>
        </p:nvSpPr>
        <p:spPr>
          <a:xfrm>
            <a:off x="6784848" y="5248656"/>
            <a:ext cx="4398264" cy="80467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Groups patient variants into 4 actionable clinical tiers (Tier 1 High Risk to Tier 4 Benign) to accelerate medical review.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LITERATURE FOUNDATION</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Background &amp; Literature Review</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Clinical standards, population catalogs, and existing computational tools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4 of 18</a:t>
            </a:r>
            <a:endParaRPr lang="en-US" sz="1150" dirty="0"/>
          </a:p>
        </p:txBody>
      </p:sp>
      <p:sp>
        <p:nvSpPr>
          <p:cNvPr id="8" name="Shape 6"/>
          <p:cNvSpPr/>
          <p:nvPr/>
        </p:nvSpPr>
        <p:spPr>
          <a:xfrm>
            <a:off x="731520" y="1600200"/>
            <a:ext cx="3355848" cy="4553712"/>
          </a:xfrm>
          <a:prstGeom prst="roundRect">
            <a:avLst>
              <a:gd name="adj" fmla="val 2180"/>
            </a:avLst>
          </a:prstGeom>
          <a:solidFill>
            <a:srgbClr val="FFFFFF"/>
          </a:solidFill>
          <a:ln w="12700">
            <a:solidFill>
              <a:srgbClr val="E2E8F0"/>
            </a:solidFill>
            <a:prstDash val="solid"/>
          </a:ln>
        </p:spPr>
      </p:sp>
      <p:sp>
        <p:nvSpPr>
          <p:cNvPr id="9" name="Text 7"/>
          <p:cNvSpPr/>
          <p:nvPr/>
        </p:nvSpPr>
        <p:spPr>
          <a:xfrm>
            <a:off x="960120" y="1828800"/>
            <a:ext cx="2898648"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CLINICAL GUIDELINES</a:t>
            </a:r>
            <a:endParaRPr lang="en-US" sz="1200" dirty="0"/>
          </a:p>
        </p:txBody>
      </p:sp>
      <p:sp>
        <p:nvSpPr>
          <p:cNvPr id="10" name="Text 8"/>
          <p:cNvSpPr/>
          <p:nvPr/>
        </p:nvSpPr>
        <p:spPr>
          <a:xfrm>
            <a:off x="960120" y="2121408"/>
            <a:ext cx="2898648" cy="411480"/>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ACMG/ClinGen Standards</a:t>
            </a:r>
            <a:endParaRPr lang="en-US" sz="1650" dirty="0"/>
          </a:p>
        </p:txBody>
      </p:sp>
      <p:sp>
        <p:nvSpPr>
          <p:cNvPr id="11" name="Text 9"/>
          <p:cNvSpPr/>
          <p:nvPr/>
        </p:nvSpPr>
        <p:spPr>
          <a:xfrm>
            <a:off x="960120" y="2560320"/>
            <a:ext cx="2898648"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Riggs et al., Genetics in Medicine 2020</a:t>
            </a:r>
            <a:endParaRPr lang="en-US" sz="1200" dirty="0"/>
          </a:p>
        </p:txBody>
      </p:sp>
      <p:sp>
        <p:nvSpPr>
          <p:cNvPr id="12" name="Shape 10"/>
          <p:cNvSpPr/>
          <p:nvPr/>
        </p:nvSpPr>
        <p:spPr>
          <a:xfrm>
            <a:off x="960120" y="2999232"/>
            <a:ext cx="2898648" cy="0"/>
          </a:xfrm>
          <a:prstGeom prst="line">
            <a:avLst/>
          </a:prstGeom>
          <a:noFill/>
          <a:ln w="12700">
            <a:solidFill>
              <a:srgbClr val="E2E8F0"/>
            </a:solidFill>
            <a:prstDash val="solid"/>
          </a:ln>
        </p:spPr>
      </p:sp>
      <p:sp>
        <p:nvSpPr>
          <p:cNvPr id="13" name="Text 11"/>
          <p:cNvSpPr/>
          <p:nvPr/>
        </p:nvSpPr>
        <p:spPr>
          <a:xfrm>
            <a:off x="960120" y="316382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Defines a 5-tier point-based scoring rubric for constitutional CNVs.</a:t>
            </a:r>
            <a:endParaRPr lang="en-US" sz="1300" dirty="0"/>
          </a:p>
        </p:txBody>
      </p:sp>
      <p:sp>
        <p:nvSpPr>
          <p:cNvPr id="14" name="Text 12"/>
          <p:cNvSpPr/>
          <p:nvPr/>
        </p:nvSpPr>
        <p:spPr>
          <a:xfrm>
            <a:off x="960120" y="416966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Requires extensive manual literature curation and expert consensus.</a:t>
            </a:r>
            <a:endParaRPr lang="en-US" sz="1300" dirty="0"/>
          </a:p>
        </p:txBody>
      </p:sp>
      <p:sp>
        <p:nvSpPr>
          <p:cNvPr id="15" name="Text 13"/>
          <p:cNvSpPr/>
          <p:nvPr/>
        </p:nvSpPr>
        <p:spPr>
          <a:xfrm>
            <a:off x="960120" y="517550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Struggles with non-coding SVs, complex events, and novel variants.</a:t>
            </a:r>
            <a:endParaRPr lang="en-US" sz="1300" dirty="0"/>
          </a:p>
        </p:txBody>
      </p:sp>
      <p:sp>
        <p:nvSpPr>
          <p:cNvPr id="16" name="Shape 14"/>
          <p:cNvSpPr/>
          <p:nvPr/>
        </p:nvSpPr>
        <p:spPr>
          <a:xfrm>
            <a:off x="4416552" y="1600200"/>
            <a:ext cx="3355848" cy="4553712"/>
          </a:xfrm>
          <a:prstGeom prst="roundRect">
            <a:avLst>
              <a:gd name="adj" fmla="val 2180"/>
            </a:avLst>
          </a:prstGeom>
          <a:solidFill>
            <a:srgbClr val="FFFFFF"/>
          </a:solidFill>
          <a:ln w="12700">
            <a:solidFill>
              <a:srgbClr val="E2E8F0"/>
            </a:solidFill>
            <a:prstDash val="solid"/>
          </a:ln>
        </p:spPr>
      </p:sp>
      <p:sp>
        <p:nvSpPr>
          <p:cNvPr id="17" name="Text 15"/>
          <p:cNvSpPr/>
          <p:nvPr/>
        </p:nvSpPr>
        <p:spPr>
          <a:xfrm>
            <a:off x="4645152" y="1828800"/>
            <a:ext cx="2898648"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POPULATION BASELINE</a:t>
            </a:r>
            <a:endParaRPr lang="en-US" sz="1200" dirty="0"/>
          </a:p>
        </p:txBody>
      </p:sp>
      <p:sp>
        <p:nvSpPr>
          <p:cNvPr id="18" name="Text 16"/>
          <p:cNvSpPr/>
          <p:nvPr/>
        </p:nvSpPr>
        <p:spPr>
          <a:xfrm>
            <a:off x="4645152" y="2121408"/>
            <a:ext cx="2898648" cy="411480"/>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gnomAD SV Reference</a:t>
            </a:r>
            <a:endParaRPr lang="en-US" sz="1650" dirty="0"/>
          </a:p>
        </p:txBody>
      </p:sp>
      <p:sp>
        <p:nvSpPr>
          <p:cNvPr id="19" name="Text 17"/>
          <p:cNvSpPr/>
          <p:nvPr/>
        </p:nvSpPr>
        <p:spPr>
          <a:xfrm>
            <a:off x="4645152" y="2560320"/>
            <a:ext cx="2898648"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Collins et al., Nature 2020</a:t>
            </a:r>
            <a:endParaRPr lang="en-US" sz="1200" dirty="0"/>
          </a:p>
        </p:txBody>
      </p:sp>
      <p:sp>
        <p:nvSpPr>
          <p:cNvPr id="20" name="Shape 18"/>
          <p:cNvSpPr/>
          <p:nvPr/>
        </p:nvSpPr>
        <p:spPr>
          <a:xfrm>
            <a:off x="4645152" y="2999232"/>
            <a:ext cx="2898648" cy="0"/>
          </a:xfrm>
          <a:prstGeom prst="line">
            <a:avLst/>
          </a:prstGeom>
          <a:noFill/>
          <a:ln w="12700">
            <a:solidFill>
              <a:srgbClr val="E2E8F0"/>
            </a:solidFill>
            <a:prstDash val="solid"/>
          </a:ln>
        </p:spPr>
      </p:sp>
      <p:sp>
        <p:nvSpPr>
          <p:cNvPr id="21" name="Text 19"/>
          <p:cNvSpPr/>
          <p:nvPr/>
        </p:nvSpPr>
        <p:spPr>
          <a:xfrm>
            <a:off x="4645152" y="316382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Curated 387,477 SV sites across 10,847 diverse deep human genomes.</a:t>
            </a:r>
            <a:endParaRPr lang="en-US" sz="1300" dirty="0"/>
          </a:p>
        </p:txBody>
      </p:sp>
      <p:sp>
        <p:nvSpPr>
          <p:cNvPr id="22" name="Text 20"/>
          <p:cNvSpPr/>
          <p:nvPr/>
        </p:nvSpPr>
        <p:spPr>
          <a:xfrm>
            <a:off x="4645152" y="416966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Proves that 90.12% of structural variants in healthy cohorts are rare.</a:t>
            </a:r>
            <a:endParaRPr lang="en-US" sz="1300" dirty="0"/>
          </a:p>
        </p:txBody>
      </p:sp>
      <p:sp>
        <p:nvSpPr>
          <p:cNvPr id="23" name="Text 21"/>
          <p:cNvSpPr/>
          <p:nvPr/>
        </p:nvSpPr>
        <p:spPr>
          <a:xfrm>
            <a:off x="4645152" y="517550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Establishes the gold-standard allele frequency baseline across ancestries.</a:t>
            </a:r>
            <a:endParaRPr lang="en-US" sz="1300" dirty="0"/>
          </a:p>
        </p:txBody>
      </p:sp>
      <p:sp>
        <p:nvSpPr>
          <p:cNvPr id="24" name="Shape 22"/>
          <p:cNvSpPr/>
          <p:nvPr/>
        </p:nvSpPr>
        <p:spPr>
          <a:xfrm>
            <a:off x="8101584" y="1600200"/>
            <a:ext cx="3355848" cy="4553712"/>
          </a:xfrm>
          <a:prstGeom prst="roundRect">
            <a:avLst>
              <a:gd name="adj" fmla="val 2180"/>
            </a:avLst>
          </a:prstGeom>
          <a:solidFill>
            <a:srgbClr val="FFFFFF"/>
          </a:solidFill>
          <a:ln w="12700">
            <a:solidFill>
              <a:srgbClr val="E2E8F0"/>
            </a:solidFill>
            <a:prstDash val="solid"/>
          </a:ln>
        </p:spPr>
      </p:sp>
      <p:sp>
        <p:nvSpPr>
          <p:cNvPr id="25" name="Text 23"/>
          <p:cNvSpPr/>
          <p:nvPr/>
        </p:nvSpPr>
        <p:spPr>
          <a:xfrm>
            <a:off x="8330184" y="1828800"/>
            <a:ext cx="2898648"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COMPUTATIONAL TOOLS</a:t>
            </a:r>
            <a:endParaRPr lang="en-US" sz="1200" dirty="0"/>
          </a:p>
        </p:txBody>
      </p:sp>
      <p:sp>
        <p:nvSpPr>
          <p:cNvPr id="26" name="Text 24"/>
          <p:cNvSpPr/>
          <p:nvPr/>
        </p:nvSpPr>
        <p:spPr>
          <a:xfrm>
            <a:off x="8330184" y="2121408"/>
            <a:ext cx="2898648" cy="411480"/>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Existing Variant Scorers</a:t>
            </a:r>
            <a:endParaRPr lang="en-US" sz="1650" dirty="0"/>
          </a:p>
        </p:txBody>
      </p:sp>
      <p:sp>
        <p:nvSpPr>
          <p:cNvPr id="27" name="Text 25"/>
          <p:cNvSpPr/>
          <p:nvPr/>
        </p:nvSpPr>
        <p:spPr>
          <a:xfrm>
            <a:off x="8330184" y="2560320"/>
            <a:ext cx="2898648" cy="36576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AnnotSV, CADD-SV, StrVCTVRE</a:t>
            </a:r>
            <a:endParaRPr lang="en-US" sz="1200" dirty="0"/>
          </a:p>
        </p:txBody>
      </p:sp>
      <p:sp>
        <p:nvSpPr>
          <p:cNvPr id="28" name="Shape 26"/>
          <p:cNvSpPr/>
          <p:nvPr/>
        </p:nvSpPr>
        <p:spPr>
          <a:xfrm>
            <a:off x="8330184" y="2999232"/>
            <a:ext cx="2898648" cy="0"/>
          </a:xfrm>
          <a:prstGeom prst="line">
            <a:avLst/>
          </a:prstGeom>
          <a:noFill/>
          <a:ln w="12700">
            <a:solidFill>
              <a:srgbClr val="E2E8F0"/>
            </a:solidFill>
            <a:prstDash val="solid"/>
          </a:ln>
        </p:spPr>
      </p:sp>
      <p:sp>
        <p:nvSpPr>
          <p:cNvPr id="29" name="Text 27"/>
          <p:cNvSpPr/>
          <p:nvPr/>
        </p:nvSpPr>
        <p:spPr>
          <a:xfrm>
            <a:off x="8330184" y="316382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AnnotSV compiles annotations; CADD-SV calculates heuristic scores.</a:t>
            </a:r>
            <a:endParaRPr lang="en-US" sz="1300" dirty="0"/>
          </a:p>
        </p:txBody>
      </p:sp>
      <p:sp>
        <p:nvSpPr>
          <p:cNvPr id="30" name="Text 28"/>
          <p:cNvSpPr/>
          <p:nvPr/>
        </p:nvSpPr>
        <p:spPr>
          <a:xfrm>
            <a:off x="8330184" y="416966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Published ML models often suffer from post-diagnostic metadata leakage.</a:t>
            </a:r>
            <a:endParaRPr lang="en-US" sz="1300" dirty="0"/>
          </a:p>
        </p:txBody>
      </p:sp>
      <p:sp>
        <p:nvSpPr>
          <p:cNvPr id="31" name="Text 29"/>
          <p:cNvSpPr/>
          <p:nvPr/>
        </p:nvSpPr>
        <p:spPr>
          <a:xfrm>
            <a:off x="8330184" y="5175504"/>
            <a:ext cx="2898648" cy="91440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  Lack patient-specific local explainability for clinical laboratory review.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RESEARCH CHALLENGES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Research Gap: Critical Limitations in Existing Approaches</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Four major scientific and methodological roadblocks identified in current practice</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5 of 18</a:t>
            </a:r>
            <a:endParaRPr lang="en-US" sz="1150" dirty="0"/>
          </a:p>
        </p:txBody>
      </p:sp>
      <p:sp>
        <p:nvSpPr>
          <p:cNvPr id="8" name="Shape 6"/>
          <p:cNvSpPr/>
          <p:nvPr/>
        </p:nvSpPr>
        <p:spPr>
          <a:xfrm>
            <a:off x="731520" y="1600200"/>
            <a:ext cx="5175504" cy="2157984"/>
          </a:xfrm>
          <a:prstGeom prst="roundRect">
            <a:avLst>
              <a:gd name="adj" fmla="val 3390"/>
            </a:avLst>
          </a:prstGeom>
          <a:solidFill>
            <a:srgbClr val="FFFFFF"/>
          </a:solidFill>
          <a:ln w="12700">
            <a:solidFill>
              <a:srgbClr val="E2E8F0"/>
            </a:solidFill>
            <a:prstDash val="solid"/>
          </a:ln>
        </p:spPr>
      </p:sp>
      <p:sp>
        <p:nvSpPr>
          <p:cNvPr id="9" name="Text 7"/>
          <p:cNvSpPr/>
          <p:nvPr/>
        </p:nvSpPr>
        <p:spPr>
          <a:xfrm>
            <a:off x="960120" y="1764792"/>
            <a:ext cx="777240" cy="438912"/>
          </a:xfrm>
          <a:prstGeom prst="rect">
            <a:avLst/>
          </a:prstGeom>
          <a:noFill/>
          <a:ln/>
        </p:spPr>
        <p:txBody>
          <a:bodyPr wrap="square" rtlCol="0" anchor="ctr"/>
          <a:lstStyle/>
          <a:p>
            <a:pPr indent="0" marL="0">
              <a:buNone/>
            </a:pPr>
            <a:r>
              <a:rPr lang="en-US" sz="2400" b="1" dirty="0">
                <a:solidFill>
                  <a:srgbClr val="2563EB"/>
                </a:solidFill>
                <a:latin typeface="Calibri" pitchFamily="34" charset="0"/>
                <a:ea typeface="Calibri" pitchFamily="34" charset="-122"/>
                <a:cs typeface="Calibri" pitchFamily="34" charset="-120"/>
              </a:rPr>
              <a:t>01</a:t>
            </a:r>
            <a:endParaRPr lang="en-US" sz="2400" dirty="0"/>
          </a:p>
        </p:txBody>
      </p:sp>
      <p:sp>
        <p:nvSpPr>
          <p:cNvPr id="10" name="Text 8"/>
          <p:cNvSpPr/>
          <p:nvPr/>
        </p:nvSpPr>
        <p:spPr>
          <a:xfrm>
            <a:off x="1783080" y="1783080"/>
            <a:ext cx="389534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The 40% VUS Dilemma</a:t>
            </a:r>
            <a:endParaRPr lang="en-US" sz="1650" dirty="0"/>
          </a:p>
        </p:txBody>
      </p:sp>
      <p:sp>
        <p:nvSpPr>
          <p:cNvPr id="11" name="Text 9"/>
          <p:cNvSpPr/>
          <p:nvPr/>
        </p:nvSpPr>
        <p:spPr>
          <a:xfrm>
            <a:off x="960120" y="2258568"/>
            <a:ext cx="4718304" cy="132588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40.0% of structural variants in ClinVar remain unresolved as Variants of Uncertain Significance. Current clinical pipelines lack continuous statistical ranking to triage these ambiguous variants.</a:t>
            </a:r>
            <a:endParaRPr lang="en-US" sz="1350" dirty="0"/>
          </a:p>
        </p:txBody>
      </p:sp>
      <p:sp>
        <p:nvSpPr>
          <p:cNvPr id="12" name="Shape 10"/>
          <p:cNvSpPr/>
          <p:nvPr/>
        </p:nvSpPr>
        <p:spPr>
          <a:xfrm>
            <a:off x="6281928" y="1600200"/>
            <a:ext cx="5175504" cy="2157984"/>
          </a:xfrm>
          <a:prstGeom prst="roundRect">
            <a:avLst>
              <a:gd name="adj" fmla="val 3390"/>
            </a:avLst>
          </a:prstGeom>
          <a:solidFill>
            <a:srgbClr val="FFFFFF"/>
          </a:solidFill>
          <a:ln w="12700">
            <a:solidFill>
              <a:srgbClr val="E2E8F0"/>
            </a:solidFill>
            <a:prstDash val="solid"/>
          </a:ln>
        </p:spPr>
      </p:sp>
      <p:sp>
        <p:nvSpPr>
          <p:cNvPr id="13" name="Text 11"/>
          <p:cNvSpPr/>
          <p:nvPr/>
        </p:nvSpPr>
        <p:spPr>
          <a:xfrm>
            <a:off x="6510528" y="1764792"/>
            <a:ext cx="777240" cy="438912"/>
          </a:xfrm>
          <a:prstGeom prst="rect">
            <a:avLst/>
          </a:prstGeom>
          <a:noFill/>
          <a:ln/>
        </p:spPr>
        <p:txBody>
          <a:bodyPr wrap="square" rtlCol="0" anchor="ctr"/>
          <a:lstStyle/>
          <a:p>
            <a:pPr indent="0" marL="0">
              <a:buNone/>
            </a:pPr>
            <a:r>
              <a:rPr lang="en-US" sz="2400" b="1" dirty="0">
                <a:solidFill>
                  <a:srgbClr val="2563EB"/>
                </a:solidFill>
                <a:latin typeface="Calibri" pitchFamily="34" charset="0"/>
                <a:ea typeface="Calibri" pitchFamily="34" charset="-122"/>
                <a:cs typeface="Calibri" pitchFamily="34" charset="-120"/>
              </a:rPr>
              <a:t>02</a:t>
            </a:r>
            <a:endParaRPr lang="en-US" sz="2400" dirty="0"/>
          </a:p>
        </p:txBody>
      </p:sp>
      <p:sp>
        <p:nvSpPr>
          <p:cNvPr id="14" name="Text 12"/>
          <p:cNvSpPr/>
          <p:nvPr/>
        </p:nvSpPr>
        <p:spPr>
          <a:xfrm>
            <a:off x="7333488" y="1783080"/>
            <a:ext cx="389534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Severe Metadata Leakage</a:t>
            </a:r>
            <a:endParaRPr lang="en-US" sz="1650" dirty="0"/>
          </a:p>
        </p:txBody>
      </p:sp>
      <p:sp>
        <p:nvSpPr>
          <p:cNvPr id="15" name="Text 13"/>
          <p:cNvSpPr/>
          <p:nvPr/>
        </p:nvSpPr>
        <p:spPr>
          <a:xfrm>
            <a:off x="6510528" y="2258568"/>
            <a:ext cx="4718304" cy="132588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Published ML tools frequently include post-diagnostic clinical metadata (ReviewStatus stars, submitter counts, disease strings), creating inflated, non-generalizable accuracy.</a:t>
            </a:r>
            <a:endParaRPr lang="en-US" sz="1350" dirty="0"/>
          </a:p>
        </p:txBody>
      </p:sp>
      <p:sp>
        <p:nvSpPr>
          <p:cNvPr id="16" name="Shape 14"/>
          <p:cNvSpPr/>
          <p:nvPr/>
        </p:nvSpPr>
        <p:spPr>
          <a:xfrm>
            <a:off x="731520" y="3904488"/>
            <a:ext cx="5175504" cy="2157984"/>
          </a:xfrm>
          <a:prstGeom prst="roundRect">
            <a:avLst>
              <a:gd name="adj" fmla="val 3390"/>
            </a:avLst>
          </a:prstGeom>
          <a:solidFill>
            <a:srgbClr val="FFFFFF"/>
          </a:solidFill>
          <a:ln w="12700">
            <a:solidFill>
              <a:srgbClr val="E2E8F0"/>
            </a:solidFill>
            <a:prstDash val="solid"/>
          </a:ln>
        </p:spPr>
      </p:sp>
      <p:sp>
        <p:nvSpPr>
          <p:cNvPr id="17" name="Text 15"/>
          <p:cNvSpPr/>
          <p:nvPr/>
        </p:nvSpPr>
        <p:spPr>
          <a:xfrm>
            <a:off x="960120" y="4069080"/>
            <a:ext cx="777240" cy="438912"/>
          </a:xfrm>
          <a:prstGeom prst="rect">
            <a:avLst/>
          </a:prstGeom>
          <a:noFill/>
          <a:ln/>
        </p:spPr>
        <p:txBody>
          <a:bodyPr wrap="square" rtlCol="0" anchor="ctr"/>
          <a:lstStyle/>
          <a:p>
            <a:pPr indent="0" marL="0">
              <a:buNone/>
            </a:pPr>
            <a:r>
              <a:rPr lang="en-US" sz="2400" b="1" dirty="0">
                <a:solidFill>
                  <a:srgbClr val="2563EB"/>
                </a:solidFill>
                <a:latin typeface="Calibri" pitchFamily="34" charset="0"/>
                <a:ea typeface="Calibri" pitchFamily="34" charset="-122"/>
                <a:cs typeface="Calibri" pitchFamily="34" charset="-120"/>
              </a:rPr>
              <a:t>03</a:t>
            </a:r>
            <a:endParaRPr lang="en-US" sz="2400" dirty="0"/>
          </a:p>
        </p:txBody>
      </p:sp>
      <p:sp>
        <p:nvSpPr>
          <p:cNvPr id="18" name="Text 16"/>
          <p:cNvSpPr/>
          <p:nvPr/>
        </p:nvSpPr>
        <p:spPr>
          <a:xfrm>
            <a:off x="1783080" y="4087368"/>
            <a:ext cx="389534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Genomic Locus Leakage</a:t>
            </a:r>
            <a:endParaRPr lang="en-US" sz="1650" dirty="0"/>
          </a:p>
        </p:txBody>
      </p:sp>
      <p:sp>
        <p:nvSpPr>
          <p:cNvPr id="19" name="Text 17"/>
          <p:cNvSpPr/>
          <p:nvPr/>
        </p:nvSpPr>
        <p:spPr>
          <a:xfrm>
            <a:off x="960120" y="4562856"/>
            <a:ext cx="4718304" cy="132588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Standard random train/test splits allow variants from the same gene or CNV hotspot (e.g., 22q11.2, 16p11.2) to enter both folds, masking true out-of-sample generalization failure.</a:t>
            </a:r>
            <a:endParaRPr lang="en-US" sz="1350" dirty="0"/>
          </a:p>
        </p:txBody>
      </p:sp>
      <p:sp>
        <p:nvSpPr>
          <p:cNvPr id="20" name="Shape 18"/>
          <p:cNvSpPr/>
          <p:nvPr/>
        </p:nvSpPr>
        <p:spPr>
          <a:xfrm>
            <a:off x="6281928" y="3904488"/>
            <a:ext cx="5175504" cy="2157984"/>
          </a:xfrm>
          <a:prstGeom prst="roundRect">
            <a:avLst>
              <a:gd name="adj" fmla="val 3390"/>
            </a:avLst>
          </a:prstGeom>
          <a:solidFill>
            <a:srgbClr val="FFFFFF"/>
          </a:solidFill>
          <a:ln w="12700">
            <a:solidFill>
              <a:srgbClr val="E2E8F0"/>
            </a:solidFill>
            <a:prstDash val="solid"/>
          </a:ln>
        </p:spPr>
      </p:sp>
      <p:sp>
        <p:nvSpPr>
          <p:cNvPr id="21" name="Text 19"/>
          <p:cNvSpPr/>
          <p:nvPr/>
        </p:nvSpPr>
        <p:spPr>
          <a:xfrm>
            <a:off x="6510528" y="4069080"/>
            <a:ext cx="777240" cy="438912"/>
          </a:xfrm>
          <a:prstGeom prst="rect">
            <a:avLst/>
          </a:prstGeom>
          <a:noFill/>
          <a:ln/>
        </p:spPr>
        <p:txBody>
          <a:bodyPr wrap="square" rtlCol="0" anchor="ctr"/>
          <a:lstStyle/>
          <a:p>
            <a:pPr indent="0" marL="0">
              <a:buNone/>
            </a:pPr>
            <a:r>
              <a:rPr lang="en-US" sz="2400" b="1" dirty="0">
                <a:solidFill>
                  <a:srgbClr val="2563EB"/>
                </a:solidFill>
                <a:latin typeface="Calibri" pitchFamily="34" charset="0"/>
                <a:ea typeface="Calibri" pitchFamily="34" charset="-122"/>
                <a:cs typeface="Calibri" pitchFamily="34" charset="-120"/>
              </a:rPr>
              <a:t>04</a:t>
            </a:r>
            <a:endParaRPr lang="en-US" sz="2400" dirty="0"/>
          </a:p>
        </p:txBody>
      </p:sp>
      <p:sp>
        <p:nvSpPr>
          <p:cNvPr id="22" name="Text 20"/>
          <p:cNvSpPr/>
          <p:nvPr/>
        </p:nvSpPr>
        <p:spPr>
          <a:xfrm>
            <a:off x="7333488" y="4087368"/>
            <a:ext cx="389534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Black-Box Opacity</a:t>
            </a:r>
            <a:endParaRPr lang="en-US" sz="1650" dirty="0"/>
          </a:p>
        </p:txBody>
      </p:sp>
      <p:sp>
        <p:nvSpPr>
          <p:cNvPr id="23" name="Text 21"/>
          <p:cNvSpPr/>
          <p:nvPr/>
        </p:nvSpPr>
        <p:spPr>
          <a:xfrm>
            <a:off x="6510528" y="4562856"/>
            <a:ext cx="4718304" cy="132588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Existing computational tools output opaque risk scores without explaining the exact biological drivers (gene constraint vs population rarity) necessary for clinical confidence.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SCOPE &amp; ROADMAP</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Project Objectives &amp; Scope: 1st Review Milestone</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Demarcating the completed foundation (~40% milestone) from downstream phases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6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9050">
            <a:solidFill>
              <a:srgbClr val="059669"/>
            </a:solidFill>
            <a:prstDash val="solid"/>
          </a:ln>
        </p:spPr>
      </p:sp>
      <p:sp>
        <p:nvSpPr>
          <p:cNvPr id="9" name="Text 7"/>
          <p:cNvSpPr/>
          <p:nvPr/>
        </p:nvSpPr>
        <p:spPr>
          <a:xfrm>
            <a:off x="1005840" y="1810512"/>
            <a:ext cx="4626864" cy="256032"/>
          </a:xfrm>
          <a:prstGeom prst="rect">
            <a:avLst/>
          </a:prstGeom>
          <a:noFill/>
          <a:ln/>
        </p:spPr>
        <p:txBody>
          <a:bodyPr wrap="square" rtlCol="0" anchor="ctr"/>
          <a:lstStyle/>
          <a:p>
            <a:pPr indent="0" marL="0">
              <a:buNone/>
            </a:pPr>
            <a:r>
              <a:rPr lang="en-US" sz="1250" b="1" dirty="0">
                <a:solidFill>
                  <a:srgbClr val="059669"/>
                </a:solidFill>
                <a:latin typeface="Calibri" pitchFamily="34" charset="0"/>
                <a:ea typeface="Calibri" pitchFamily="34" charset="-122"/>
                <a:cs typeface="Calibri" pitchFamily="34" charset="-120"/>
              </a:rPr>
              <a:t>WORK COMPLETED SO FAR (REVIEW 1 SCOPE)</a:t>
            </a:r>
            <a:endParaRPr lang="en-US" sz="1250" dirty="0"/>
          </a:p>
        </p:txBody>
      </p:sp>
      <p:sp>
        <p:nvSpPr>
          <p:cNvPr id="10" name="Text 8"/>
          <p:cNvSpPr/>
          <p:nvPr/>
        </p:nvSpPr>
        <p:spPr>
          <a:xfrm>
            <a:off x="1005840"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Data Foundation &amp; Statistical Validation (~40%)</a:t>
            </a:r>
            <a:endParaRPr lang="en-US" sz="1650" dirty="0"/>
          </a:p>
        </p:txBody>
      </p:sp>
      <p:sp>
        <p:nvSpPr>
          <p:cNvPr id="11" name="Text 9"/>
          <p:cNvSpPr/>
          <p:nvPr/>
        </p:nvSpPr>
        <p:spPr>
          <a:xfrm>
            <a:off x="1005840" y="2560320"/>
            <a:ext cx="4626864" cy="256032"/>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[Done]  Multi-Source Data Ingestion</a:t>
            </a:r>
            <a:endParaRPr lang="en-US" sz="1400" dirty="0"/>
          </a:p>
        </p:txBody>
      </p:sp>
      <p:sp>
        <p:nvSpPr>
          <p:cNvPr id="12" name="Text 10"/>
          <p:cNvSpPr/>
          <p:nvPr/>
        </p:nvSpPr>
        <p:spPr>
          <a:xfrm>
            <a:off x="1234440" y="2834640"/>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Audited and ingested ClinVar (101k SVs), gnomAD SV (387k sites), and dbVar (79k calls).</a:t>
            </a:r>
            <a:endParaRPr lang="en-US" sz="1300" dirty="0"/>
          </a:p>
        </p:txBody>
      </p:sp>
      <p:sp>
        <p:nvSpPr>
          <p:cNvPr id="13" name="Text 11"/>
          <p:cNvSpPr/>
          <p:nvPr/>
        </p:nvSpPr>
        <p:spPr>
          <a:xfrm>
            <a:off x="1005840" y="3493008"/>
            <a:ext cx="4626864" cy="256032"/>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[Done]  Statistical Hypothesis Validation</a:t>
            </a:r>
            <a:endParaRPr lang="en-US" sz="1400" dirty="0"/>
          </a:p>
        </p:txBody>
      </p:sp>
      <p:sp>
        <p:nvSpPr>
          <p:cNvPr id="14" name="Text 12"/>
          <p:cNvSpPr/>
          <p:nvPr/>
        </p:nvSpPr>
        <p:spPr>
          <a:xfrm>
            <a:off x="1234440" y="3767328"/>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Formally proved size and type significance via Mann-Whitney U and Chi-Square tests.</a:t>
            </a:r>
            <a:endParaRPr lang="en-US" sz="1300" dirty="0"/>
          </a:p>
        </p:txBody>
      </p:sp>
      <p:sp>
        <p:nvSpPr>
          <p:cNvPr id="15" name="Text 13"/>
          <p:cNvSpPr/>
          <p:nvPr/>
        </p:nvSpPr>
        <p:spPr>
          <a:xfrm>
            <a:off x="1005840" y="4425696"/>
            <a:ext cx="4626864" cy="256032"/>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[Done]  Leakage-Free Feature Design</a:t>
            </a:r>
            <a:endParaRPr lang="en-US" sz="1400" dirty="0"/>
          </a:p>
        </p:txBody>
      </p:sp>
      <p:sp>
        <p:nvSpPr>
          <p:cNvPr id="16" name="Text 14"/>
          <p:cNvSpPr/>
          <p:nvPr/>
        </p:nvSpPr>
        <p:spPr>
          <a:xfrm>
            <a:off x="1234440" y="4700016"/>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Neutralized metadata, phenotype, and gene-memorization leakage channels.</a:t>
            </a:r>
            <a:endParaRPr lang="en-US" sz="1300" dirty="0"/>
          </a:p>
        </p:txBody>
      </p:sp>
      <p:sp>
        <p:nvSpPr>
          <p:cNvPr id="17" name="Text 15"/>
          <p:cNvSpPr/>
          <p:nvPr/>
        </p:nvSpPr>
        <p:spPr>
          <a:xfrm>
            <a:off x="1005840" y="5358384"/>
            <a:ext cx="4626864" cy="256032"/>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[Done]  Chromosomal Split Architecture</a:t>
            </a:r>
            <a:endParaRPr lang="en-US" sz="1400" dirty="0"/>
          </a:p>
        </p:txBody>
      </p:sp>
      <p:sp>
        <p:nvSpPr>
          <p:cNvPr id="18" name="Text 16"/>
          <p:cNvSpPr/>
          <p:nvPr/>
        </p:nvSpPr>
        <p:spPr>
          <a:xfrm>
            <a:off x="1234440" y="5632704"/>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Formulated strict 0.0% genomic overlap train/val/test chromosomal partitions.</a:t>
            </a:r>
            <a:endParaRPr lang="en-US" sz="1300" dirty="0"/>
          </a:p>
        </p:txBody>
      </p:sp>
      <p:sp>
        <p:nvSpPr>
          <p:cNvPr id="19" name="Shape 17"/>
          <p:cNvSpPr/>
          <p:nvPr/>
        </p:nvSpPr>
        <p:spPr>
          <a:xfrm>
            <a:off x="6281928" y="1600200"/>
            <a:ext cx="5175504" cy="4553712"/>
          </a:xfrm>
          <a:prstGeom prst="roundRect">
            <a:avLst>
              <a:gd name="adj" fmla="val 1606"/>
            </a:avLst>
          </a:prstGeom>
          <a:solidFill>
            <a:srgbClr val="FFFFFF"/>
          </a:solidFill>
          <a:ln w="12700">
            <a:solidFill>
              <a:srgbClr val="E2E8F0"/>
            </a:solidFill>
            <a:prstDash val="solid"/>
          </a:ln>
        </p:spPr>
      </p:sp>
      <p:sp>
        <p:nvSpPr>
          <p:cNvPr id="20" name="Text 18"/>
          <p:cNvSpPr/>
          <p:nvPr/>
        </p:nvSpPr>
        <p:spPr>
          <a:xfrm>
            <a:off x="6556248" y="1810512"/>
            <a:ext cx="462686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FUTURE WORK (REVIEW 2 &amp; BEYOND)</a:t>
            </a:r>
            <a:endParaRPr lang="en-US" sz="1250" dirty="0"/>
          </a:p>
        </p:txBody>
      </p:sp>
      <p:sp>
        <p:nvSpPr>
          <p:cNvPr id="21" name="Text 19"/>
          <p:cNvSpPr/>
          <p:nvPr/>
        </p:nvSpPr>
        <p:spPr>
          <a:xfrm>
            <a:off x="6556248"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Modeling, Explainability &amp; Clinical CLI</a:t>
            </a:r>
            <a:endParaRPr lang="en-US" sz="1650" dirty="0"/>
          </a:p>
        </p:txBody>
      </p:sp>
      <p:sp>
        <p:nvSpPr>
          <p:cNvPr id="22" name="Text 20"/>
          <p:cNvSpPr/>
          <p:nvPr/>
        </p:nvSpPr>
        <p:spPr>
          <a:xfrm>
            <a:off x="6556248" y="2560320"/>
            <a:ext cx="4626864" cy="25603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[Planned]  ML Classifier Benchmarking</a:t>
            </a:r>
            <a:endParaRPr lang="en-US" sz="1400" dirty="0"/>
          </a:p>
        </p:txBody>
      </p:sp>
      <p:sp>
        <p:nvSpPr>
          <p:cNvPr id="23" name="Text 21"/>
          <p:cNvSpPr/>
          <p:nvPr/>
        </p:nvSpPr>
        <p:spPr>
          <a:xfrm>
            <a:off x="6784848" y="2834640"/>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Train Logistic Regression, Random Forest, LightGBM, and XGBoost on chromosomal splits.</a:t>
            </a:r>
            <a:endParaRPr lang="en-US" sz="1300" dirty="0"/>
          </a:p>
        </p:txBody>
      </p:sp>
      <p:sp>
        <p:nvSpPr>
          <p:cNvPr id="24" name="Text 22"/>
          <p:cNvSpPr/>
          <p:nvPr/>
        </p:nvSpPr>
        <p:spPr>
          <a:xfrm>
            <a:off x="6556248" y="3493008"/>
            <a:ext cx="4626864" cy="25603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[Planned]  PR-AUC Imbalance Optimization</a:t>
            </a:r>
            <a:endParaRPr lang="en-US" sz="1400" dirty="0"/>
          </a:p>
        </p:txBody>
      </p:sp>
      <p:sp>
        <p:nvSpPr>
          <p:cNvPr id="25" name="Text 23"/>
          <p:cNvSpPr/>
          <p:nvPr/>
        </p:nvSpPr>
        <p:spPr>
          <a:xfrm>
            <a:off x="6784848" y="3767328"/>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Handle the 3.4:1 class imbalance using scale_pos_weight and threshold tuning.</a:t>
            </a:r>
            <a:endParaRPr lang="en-US" sz="1300" dirty="0"/>
          </a:p>
        </p:txBody>
      </p:sp>
      <p:sp>
        <p:nvSpPr>
          <p:cNvPr id="26" name="Text 24"/>
          <p:cNvSpPr/>
          <p:nvPr/>
        </p:nvSpPr>
        <p:spPr>
          <a:xfrm>
            <a:off x="6556248" y="4425696"/>
            <a:ext cx="4626864" cy="25603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[Planned]  TreeSHAP Explainability Engine</a:t>
            </a:r>
            <a:endParaRPr lang="en-US" sz="1400" dirty="0"/>
          </a:p>
        </p:txBody>
      </p:sp>
      <p:sp>
        <p:nvSpPr>
          <p:cNvPr id="27" name="Text 25"/>
          <p:cNvSpPr/>
          <p:nvPr/>
        </p:nvSpPr>
        <p:spPr>
          <a:xfrm>
            <a:off x="6784848" y="4700016"/>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Generate global feature attributions and local patient single-variant waterfall plots.</a:t>
            </a:r>
            <a:endParaRPr lang="en-US" sz="1300" dirty="0"/>
          </a:p>
        </p:txBody>
      </p:sp>
      <p:sp>
        <p:nvSpPr>
          <p:cNvPr id="28" name="Text 26"/>
          <p:cNvSpPr/>
          <p:nvPr/>
        </p:nvSpPr>
        <p:spPr>
          <a:xfrm>
            <a:off x="6556248" y="5358384"/>
            <a:ext cx="4626864" cy="256032"/>
          </a:xfrm>
          <a:prstGeom prst="rect">
            <a:avLst/>
          </a:prstGeom>
          <a:noFill/>
          <a:ln/>
        </p:spPr>
        <p:txBody>
          <a:bodyPr wrap="square"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[Planned]  40k VUS Clinical Prioritization</a:t>
            </a:r>
            <a:endParaRPr lang="en-US" sz="1400" dirty="0"/>
          </a:p>
        </p:txBody>
      </p:sp>
      <p:sp>
        <p:nvSpPr>
          <p:cNvPr id="29" name="Text 27"/>
          <p:cNvSpPr/>
          <p:nvPr/>
        </p:nvSpPr>
        <p:spPr>
          <a:xfrm>
            <a:off x="6784848" y="5632704"/>
            <a:ext cx="4398264" cy="594360"/>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Score and categorize all 40,741 ClinVar VUS variants into 4 actionable risk tiers.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DATA ACQUISITION</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Dataset Ingestion &amp; Comprehensive Data Inventory</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Systematic multi-repository audit across ClinVar, gnomAD SV, and dbVar</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7 of 18</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728655" cy="2743200"/>
        </p:xfrm>
        <a:graphic>
          <a:graphicData uri="http://schemas.openxmlformats.org/drawingml/2006/table">
            <a:tbl>
              <a:tblPr/>
              <a:tblGrid>
                <a:gridCol w="1645920"/>
                <a:gridCol w="2011680"/>
                <a:gridCol w="1645920"/>
                <a:gridCol w="5425135"/>
              </a:tblGrid>
              <a:tr h="685800">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Database</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Records Analyzed</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Genome Build</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Extracted Features &amp; Role in Project</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685800">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ClinVar</a:t>
                      </a:r>
                      <a:endParaRPr lang="en-US" sz="1300" dirty="0">
                        <a:latin typeface="Calibri" charset="0"/>
                        <a:ea typeface="Calibri" charset="0"/>
                        <a:cs typeface="Calibri" charset="0"/>
                      </a:endParaRPr>
                    </a:p>
                    <a:p>
                      <a:pPr algn="l" indent="0" marL="0">
                        <a:buNone/>
                      </a:pPr>
                      <a:r>
                        <a:rPr lang="en-US" sz="1300" b="1" dirty="0">
                          <a:solidFill>
                            <a:srgbClr val="0F172A"/>
                          </a:solidFill>
                          <a:latin typeface="Calibri" pitchFamily="34" charset="0"/>
                          <a:ea typeface="Calibri" pitchFamily="34" charset="-122"/>
                          <a:cs typeface="Calibri" pitchFamily="34" charset="-120"/>
                        </a:rPr>
                        <a:t>(NCBI)</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b="1" dirty="0">
                          <a:solidFill>
                            <a:srgbClr val="2563EB"/>
                          </a:solidFill>
                          <a:latin typeface="Calibri" pitchFamily="34" charset="0"/>
                          <a:ea typeface="Calibri" pitchFamily="34" charset="-122"/>
                          <a:cs typeface="Calibri" pitchFamily="34" charset="-120"/>
                        </a:rPr>
                        <a:t>101,891 SVs</a:t>
                      </a:r>
                      <a:endParaRPr lang="en-US" sz="1300" dirty="0">
                        <a:latin typeface="Calibri" charset="0"/>
                        <a:ea typeface="Calibri" charset="0"/>
                        <a:cs typeface="Calibri" charset="0"/>
                      </a:endParaRPr>
                    </a:p>
                    <a:p>
                      <a:pPr algn="l" indent="0" marL="0">
                        <a:buNone/>
                      </a:pPr>
                      <a:r>
                        <a:rPr lang="en-US" sz="1300" b="1" dirty="0">
                          <a:solidFill>
                            <a:srgbClr val="2563EB"/>
                          </a:solidFill>
                          <a:latin typeface="Calibri" pitchFamily="34" charset="0"/>
                          <a:ea typeface="Calibri" pitchFamily="34" charset="-122"/>
                          <a:cs typeface="Calibri" pitchFamily="34" charset="-120"/>
                        </a:rPr>
                        <a:t>(&gt;= 50 bp)</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Dual</a:t>
                      </a:r>
                      <a:endParaRPr lang="en-US" sz="1300" dirty="0">
                        <a:latin typeface="Calibri" charset="0"/>
                        <a:ea typeface="Calibri" charset="0"/>
                        <a:cs typeface="Calibri" charset="0"/>
                      </a:endParaRPr>
                    </a:p>
                    <a:p>
                      <a:pPr algn="l" indent="0" marL="0">
                        <a:buNone/>
                      </a:pPr>
                      <a:r>
                        <a:rPr lang="en-US" sz="1300" dirty="0">
                          <a:solidFill>
                            <a:srgbClr val="334155"/>
                          </a:solidFill>
                          <a:latin typeface="Calibri" pitchFamily="34" charset="0"/>
                          <a:ea typeface="Calibri" pitchFamily="34" charset="-122"/>
                          <a:cs typeface="Calibri" pitchFamily="34" charset="-120"/>
                        </a:rPr>
                        <a:t>(GRCh37 / 38)</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Ground truth clinical classifications (Pathogenic, Benign, VUS), gene symbols, and molecular variant types.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85800">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gnomAD SV</a:t>
                      </a:r>
                      <a:endParaRPr lang="en-US" sz="1300" dirty="0">
                        <a:latin typeface="Calibri" charset="0"/>
                        <a:ea typeface="Calibri" charset="0"/>
                        <a:cs typeface="Calibri" charset="0"/>
                      </a:endParaRPr>
                    </a:p>
                    <a:p>
                      <a:pPr algn="l" indent="0" marL="0">
                        <a:buNone/>
                      </a:pPr>
                      <a:r>
                        <a:rPr lang="en-US" sz="1300" b="1" dirty="0">
                          <a:solidFill>
                            <a:srgbClr val="0F172A"/>
                          </a:solidFill>
                          <a:latin typeface="Calibri" pitchFamily="34" charset="0"/>
                          <a:ea typeface="Calibri" pitchFamily="34" charset="-122"/>
                          <a:cs typeface="Calibri" pitchFamily="34" charset="-120"/>
                        </a:rPr>
                        <a:t>(v2.1 / Broad)</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b="1" dirty="0">
                          <a:solidFill>
                            <a:srgbClr val="2563EB"/>
                          </a:solidFill>
                          <a:latin typeface="Calibri" pitchFamily="34" charset="0"/>
                          <a:ea typeface="Calibri" pitchFamily="34" charset="-122"/>
                          <a:cs typeface="Calibri" pitchFamily="34" charset="-120"/>
                        </a:rPr>
                        <a:t>387,477 sites</a:t>
                      </a:r>
                      <a:endParaRPr lang="en-US" sz="1300" dirty="0">
                        <a:latin typeface="Calibri" charset="0"/>
                        <a:ea typeface="Calibri" charset="0"/>
                        <a:cs typeface="Calibri" charset="0"/>
                      </a:endParaRPr>
                    </a:p>
                    <a:p>
                      <a:pPr algn="l" indent="0" marL="0">
                        <a:buNone/>
                      </a:pPr>
                      <a:r>
                        <a:rPr lang="en-US" sz="1300" b="1" dirty="0">
                          <a:solidFill>
                            <a:srgbClr val="2563EB"/>
                          </a:solidFill>
                          <a:latin typeface="Calibri" pitchFamily="34" charset="0"/>
                          <a:ea typeface="Calibri" pitchFamily="34" charset="-122"/>
                          <a:cs typeface="Calibri" pitchFamily="34" charset="-120"/>
                        </a:rPr>
                        <a:t>(10,847 genomes)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GRCh37</a:t>
                      </a:r>
                      <a:endParaRPr lang="en-US" sz="1300" dirty="0">
                        <a:latin typeface="Calibri" charset="0"/>
                        <a:ea typeface="Calibri" charset="0"/>
                        <a:cs typeface="Calibri" charset="0"/>
                      </a:endParaRPr>
                    </a:p>
                    <a:p>
                      <a:pPr algn="l" indent="0" marL="0">
                        <a:buNone/>
                      </a:pPr>
                      <a:r>
                        <a:rPr lang="en-US" sz="1300" dirty="0">
                          <a:solidFill>
                            <a:srgbClr val="334155"/>
                          </a:solidFill>
                          <a:latin typeface="Calibri" pitchFamily="34" charset="0"/>
                          <a:ea typeface="Calibri" pitchFamily="34" charset="-122"/>
                          <a:cs typeface="Calibri" pitchFamily="34" charset="-120"/>
                        </a:rPr>
                        <a:t>(Harmonized)</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Global population allele frequencies (AF, POPMAX_AF), loss-of-function flags, and promoter overlap annotations.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685800">
                <a:tc>
                  <a:txBody>
                    <a:bodyPr/>
                    <a:lstStyle/>
                    <a:p>
                      <a:pPr algn="l" indent="0" marL="0">
                        <a:buNone/>
                      </a:pPr>
                      <a:r>
                        <a:rPr lang="en-US" sz="1300" b="1" dirty="0">
                          <a:solidFill>
                            <a:srgbClr val="0F172A"/>
                          </a:solidFill>
                          <a:latin typeface="Calibri" pitchFamily="34" charset="0"/>
                          <a:ea typeface="Calibri" pitchFamily="34" charset="-122"/>
                          <a:cs typeface="Calibri" pitchFamily="34" charset="-120"/>
                        </a:rPr>
                        <a:t>dbVar</a:t>
                      </a:r>
                      <a:endParaRPr lang="en-US" sz="1300" dirty="0">
                        <a:latin typeface="Calibri" charset="0"/>
                        <a:ea typeface="Calibri" charset="0"/>
                        <a:cs typeface="Calibri" charset="0"/>
                      </a:endParaRPr>
                    </a:p>
                    <a:p>
                      <a:pPr algn="l" indent="0" marL="0">
                        <a:buNone/>
                      </a:pPr>
                      <a:r>
                        <a:rPr lang="en-US" sz="1300" b="1" dirty="0">
                          <a:solidFill>
                            <a:srgbClr val="0F172A"/>
                          </a:solidFill>
                          <a:latin typeface="Calibri" pitchFamily="34" charset="0"/>
                          <a:ea typeface="Calibri" pitchFamily="34" charset="-122"/>
                          <a:cs typeface="Calibri" pitchFamily="34" charset="-120"/>
                        </a:rPr>
                        <a:t>(NCBI)</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b="1" dirty="0">
                          <a:solidFill>
                            <a:srgbClr val="2563EB"/>
                          </a:solidFill>
                          <a:latin typeface="Calibri" pitchFamily="34" charset="0"/>
                          <a:ea typeface="Calibri" pitchFamily="34" charset="-122"/>
                          <a:cs typeface="Calibri" pitchFamily="34" charset="-120"/>
                        </a:rPr>
                        <a:t>79,808 calls</a:t>
                      </a:r>
                      <a:endParaRPr lang="en-US" sz="1300" dirty="0">
                        <a:latin typeface="Calibri" charset="0"/>
                        <a:ea typeface="Calibri" charset="0"/>
                        <a:cs typeface="Calibri" charset="0"/>
                      </a:endParaRPr>
                    </a:p>
                    <a:p>
                      <a:pPr algn="l" indent="0" marL="0">
                        <a:buNone/>
                      </a:pPr>
                      <a:r>
                        <a:rPr lang="en-US" sz="1300" b="1" dirty="0">
                          <a:solidFill>
                            <a:srgbClr val="2563EB"/>
                          </a:solidFill>
                          <a:latin typeface="Calibri" pitchFamily="34" charset="0"/>
                          <a:ea typeface="Calibri" pitchFamily="34" charset="-122"/>
                          <a:cs typeface="Calibri" pitchFamily="34" charset="-120"/>
                        </a:rPr>
                        <a:t>(Clinical sets)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GRCh38</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334155"/>
                          </a:solidFill>
                          <a:latin typeface="Calibri" pitchFamily="34" charset="0"/>
                          <a:ea typeface="Calibri" pitchFamily="34" charset="-122"/>
                          <a:cs typeface="Calibri" pitchFamily="34" charset="-120"/>
                        </a:rPr>
                        <a:t>Clinical callsets evaluated for cross-validation; confirmed as duplicate mirror of ClinVar submissions.</a:t>
                      </a:r>
                      <a:endParaRPr lang="en-US" sz="13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9" name="Shape 6"/>
          <p:cNvSpPr/>
          <p:nvPr/>
        </p:nvSpPr>
        <p:spPr>
          <a:xfrm>
            <a:off x="731520" y="4480560"/>
            <a:ext cx="10728655" cy="1691640"/>
          </a:xfrm>
          <a:prstGeom prst="roundRect">
            <a:avLst>
              <a:gd name="adj" fmla="val 4324"/>
            </a:avLst>
          </a:prstGeom>
          <a:solidFill>
            <a:srgbClr val="FFFFFF"/>
          </a:solidFill>
          <a:ln w="15240">
            <a:solidFill>
              <a:srgbClr val="BFDBFE"/>
            </a:solidFill>
            <a:prstDash val="solid"/>
          </a:ln>
        </p:spPr>
      </p:sp>
      <p:sp>
        <p:nvSpPr>
          <p:cNvPr id="10" name="Text 7"/>
          <p:cNvSpPr/>
          <p:nvPr/>
        </p:nvSpPr>
        <p:spPr>
          <a:xfrm>
            <a:off x="1005840" y="4645152"/>
            <a:ext cx="10180015"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KEY DATA AUDIT FINDINGS</a:t>
            </a:r>
            <a:endParaRPr lang="en-US" sz="1300" dirty="0"/>
          </a:p>
        </p:txBody>
      </p:sp>
      <p:sp>
        <p:nvSpPr>
          <p:cNvPr id="11" name="Text 8"/>
          <p:cNvSpPr/>
          <p:nvPr/>
        </p:nvSpPr>
        <p:spPr>
          <a:xfrm>
            <a:off x="1005840" y="4937760"/>
            <a:ext cx="10180015" cy="1143000"/>
          </a:xfrm>
          <a:prstGeom prst="rect">
            <a:avLst/>
          </a:prstGeom>
          <a:noFill/>
          <a:ln/>
        </p:spPr>
        <p:txBody>
          <a:bodyPr wrap="square" rtlCol="0" anchor="ctr"/>
          <a:lstStyle/>
          <a:p>
            <a:pPr indent="0" marL="0">
              <a:lnSpc>
                <a:spcPct val="120000"/>
              </a:lnSpc>
              <a:buNone/>
            </a:pPr>
            <a:r>
              <a:rPr lang="en-US" sz="1350" dirty="0">
                <a:solidFill>
                  <a:srgbClr val="0F172A"/>
                </a:solidFill>
                <a:latin typeface="Calibri" pitchFamily="34" charset="0"/>
                <a:ea typeface="Calibri" pitchFamily="34" charset="-122"/>
                <a:cs typeface="Calibri" pitchFamily="34" charset="-120"/>
              </a:rPr>
              <a:t>•  ClinVar provides the authoritative ground truth clinical labels (N = 101,891), while gnomAD SV (N = 387,477) provides the non-redundant healthy population frequency baseline.</a:t>
            </a:r>
            <a:endParaRPr lang="en-US" sz="1350" dirty="0"/>
          </a:p>
          <a:p>
            <a:pPr indent="0" marL="0">
              <a:lnSpc>
                <a:spcPct val="120000"/>
              </a:lnSpc>
              <a:buNone/>
            </a:pPr>
            <a:r>
              <a:rPr lang="en-US" sz="1350" dirty="0">
                <a:solidFill>
                  <a:srgbClr val="0F172A"/>
                </a:solidFill>
                <a:latin typeface="Calibri" pitchFamily="34" charset="0"/>
                <a:ea typeface="Calibri" pitchFamily="34" charset="-122"/>
                <a:cs typeface="Calibri" pitchFamily="34" charset="-120"/>
              </a:rPr>
              <a:t>•  dbVar clinical partition VCFs duplicate ClinVar submissions without contributing independent quantitative features (99.8% unpopulated experiment metadata). Therefore, ClinVar (Labels) + gnomAD SV (Population Frequencies) form our unified feature store.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LABEL ANALYSIS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Ground Truth Label Distribution &amp; Class Imbalance</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Categorization of 101,891 ClinVar SVs and formulation of training cohorts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8 of 18</a:t>
            </a:r>
            <a:endParaRPr lang="en-US" sz="1150" dirty="0"/>
          </a:p>
        </p:txBody>
      </p:sp>
      <p:sp>
        <p:nvSpPr>
          <p:cNvPr id="8" name="Shape 6"/>
          <p:cNvSpPr/>
          <p:nvPr/>
        </p:nvSpPr>
        <p:spPr>
          <a:xfrm>
            <a:off x="731520" y="1600200"/>
            <a:ext cx="5175504" cy="1042416"/>
          </a:xfrm>
          <a:prstGeom prst="roundRect">
            <a:avLst>
              <a:gd name="adj" fmla="val 7018"/>
            </a:avLst>
          </a:prstGeom>
          <a:solidFill>
            <a:srgbClr val="FFFFFF"/>
          </a:solidFill>
          <a:ln w="12700">
            <a:solidFill>
              <a:srgbClr val="E2E8F0"/>
            </a:solidFill>
            <a:prstDash val="solid"/>
          </a:ln>
        </p:spPr>
      </p:sp>
      <p:sp>
        <p:nvSpPr>
          <p:cNvPr id="9" name="Text 7"/>
          <p:cNvSpPr/>
          <p:nvPr/>
        </p:nvSpPr>
        <p:spPr>
          <a:xfrm>
            <a:off x="960120" y="1737360"/>
            <a:ext cx="2651760" cy="365760"/>
          </a:xfrm>
          <a:prstGeom prst="rect">
            <a:avLst/>
          </a:prstGeom>
          <a:noFill/>
          <a:ln/>
        </p:spPr>
        <p:txBody>
          <a:bodyPr wrap="square" rtlCol="0" anchor="ctr"/>
          <a:lstStyle/>
          <a:p>
            <a:pPr indent="0" marL="0">
              <a:buNone/>
            </a:pPr>
            <a:r>
              <a:rPr lang="en-US" sz="1800" b="1" dirty="0">
                <a:solidFill>
                  <a:srgbClr val="DC2626"/>
                </a:solidFill>
                <a:latin typeface="Calibri" pitchFamily="34" charset="0"/>
                <a:ea typeface="Calibri" pitchFamily="34" charset="-122"/>
                <a:cs typeface="Calibri" pitchFamily="34" charset="-120"/>
              </a:rPr>
              <a:t>45,277 (44.4%)</a:t>
            </a:r>
            <a:endParaRPr lang="en-US" sz="1800" dirty="0"/>
          </a:p>
        </p:txBody>
      </p:sp>
      <p:sp>
        <p:nvSpPr>
          <p:cNvPr id="10" name="Text 8"/>
          <p:cNvSpPr/>
          <p:nvPr/>
        </p:nvSpPr>
        <p:spPr>
          <a:xfrm>
            <a:off x="960120" y="2130552"/>
            <a:ext cx="2926080" cy="41148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Pathogenic / Likely Pathogenic</a:t>
            </a:r>
            <a:endParaRPr lang="en-US" sz="1350" dirty="0"/>
          </a:p>
        </p:txBody>
      </p:sp>
      <p:sp>
        <p:nvSpPr>
          <p:cNvPr id="11" name="Text 9"/>
          <p:cNvSpPr/>
          <p:nvPr/>
        </p:nvSpPr>
        <p:spPr>
          <a:xfrm>
            <a:off x="3566160" y="1920240"/>
            <a:ext cx="2112264" cy="411480"/>
          </a:xfrm>
          <a:prstGeom prst="rect">
            <a:avLst/>
          </a:prstGeom>
          <a:noFill/>
          <a:ln/>
        </p:spPr>
        <p:txBody>
          <a:bodyPr wrap="square" rtlCol="0" anchor="ctr"/>
          <a:lstStyle/>
          <a:p>
            <a:pPr algn="r" indent="0" marL="0">
              <a:buNone/>
            </a:pPr>
            <a:r>
              <a:rPr lang="en-US" sz="1300" dirty="0">
                <a:solidFill>
                  <a:srgbClr val="334155"/>
                </a:solidFill>
                <a:latin typeface="Calibri" pitchFamily="34" charset="0"/>
                <a:ea typeface="Calibri" pitchFamily="34" charset="-122"/>
                <a:cs typeface="Calibri" pitchFamily="34" charset="-120"/>
              </a:rPr>
              <a:t>Training Positive Class (Y = 1)</a:t>
            </a:r>
            <a:endParaRPr lang="en-US" sz="1300" dirty="0"/>
          </a:p>
        </p:txBody>
      </p:sp>
      <p:sp>
        <p:nvSpPr>
          <p:cNvPr id="12" name="Shape 10"/>
          <p:cNvSpPr/>
          <p:nvPr/>
        </p:nvSpPr>
        <p:spPr>
          <a:xfrm>
            <a:off x="731520" y="2734056"/>
            <a:ext cx="5175504" cy="1042416"/>
          </a:xfrm>
          <a:prstGeom prst="roundRect">
            <a:avLst>
              <a:gd name="adj" fmla="val 7018"/>
            </a:avLst>
          </a:prstGeom>
          <a:solidFill>
            <a:srgbClr val="FFFFFF"/>
          </a:solidFill>
          <a:ln w="12700">
            <a:solidFill>
              <a:srgbClr val="E2E8F0"/>
            </a:solidFill>
            <a:prstDash val="solid"/>
          </a:ln>
        </p:spPr>
      </p:sp>
      <p:sp>
        <p:nvSpPr>
          <p:cNvPr id="13" name="Text 11"/>
          <p:cNvSpPr/>
          <p:nvPr/>
        </p:nvSpPr>
        <p:spPr>
          <a:xfrm>
            <a:off x="960120" y="2871216"/>
            <a:ext cx="2651760" cy="365760"/>
          </a:xfrm>
          <a:prstGeom prst="rect">
            <a:avLst/>
          </a:prstGeom>
          <a:noFill/>
          <a:ln/>
        </p:spPr>
        <p:txBody>
          <a:bodyPr wrap="square" rtlCol="0" anchor="ctr"/>
          <a:lstStyle/>
          <a:p>
            <a:pPr indent="0" marL="0">
              <a:buNone/>
            </a:pPr>
            <a:r>
              <a:rPr lang="en-US" sz="1800" b="1" dirty="0">
                <a:solidFill>
                  <a:srgbClr val="059669"/>
                </a:solidFill>
                <a:latin typeface="Calibri" pitchFamily="34" charset="0"/>
                <a:ea typeface="Calibri" pitchFamily="34" charset="-122"/>
                <a:cs typeface="Calibri" pitchFamily="34" charset="-120"/>
              </a:rPr>
              <a:t>13,306 (13.1%)</a:t>
            </a:r>
            <a:endParaRPr lang="en-US" sz="1800" dirty="0"/>
          </a:p>
        </p:txBody>
      </p:sp>
      <p:sp>
        <p:nvSpPr>
          <p:cNvPr id="14" name="Text 12"/>
          <p:cNvSpPr/>
          <p:nvPr/>
        </p:nvSpPr>
        <p:spPr>
          <a:xfrm>
            <a:off x="960120" y="3264408"/>
            <a:ext cx="2926080" cy="41148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Benign / Likely Benign</a:t>
            </a:r>
            <a:endParaRPr lang="en-US" sz="1350" dirty="0"/>
          </a:p>
        </p:txBody>
      </p:sp>
      <p:sp>
        <p:nvSpPr>
          <p:cNvPr id="15" name="Text 13"/>
          <p:cNvSpPr/>
          <p:nvPr/>
        </p:nvSpPr>
        <p:spPr>
          <a:xfrm>
            <a:off x="3566160" y="3054096"/>
            <a:ext cx="2112264" cy="411480"/>
          </a:xfrm>
          <a:prstGeom prst="rect">
            <a:avLst/>
          </a:prstGeom>
          <a:noFill/>
          <a:ln/>
        </p:spPr>
        <p:txBody>
          <a:bodyPr wrap="square" rtlCol="0" anchor="ctr"/>
          <a:lstStyle/>
          <a:p>
            <a:pPr algn="r" indent="0" marL="0">
              <a:buNone/>
            </a:pPr>
            <a:r>
              <a:rPr lang="en-US" sz="1300" dirty="0">
                <a:solidFill>
                  <a:srgbClr val="334155"/>
                </a:solidFill>
                <a:latin typeface="Calibri" pitchFamily="34" charset="0"/>
                <a:ea typeface="Calibri" pitchFamily="34" charset="-122"/>
                <a:cs typeface="Calibri" pitchFamily="34" charset="-120"/>
              </a:rPr>
              <a:t>Training Negative Class (Y = 0)</a:t>
            </a:r>
            <a:endParaRPr lang="en-US" sz="1300" dirty="0"/>
          </a:p>
        </p:txBody>
      </p:sp>
      <p:sp>
        <p:nvSpPr>
          <p:cNvPr id="16" name="Shape 14"/>
          <p:cNvSpPr/>
          <p:nvPr/>
        </p:nvSpPr>
        <p:spPr>
          <a:xfrm>
            <a:off x="731520" y="3867912"/>
            <a:ext cx="5175504" cy="1042416"/>
          </a:xfrm>
          <a:prstGeom prst="roundRect">
            <a:avLst>
              <a:gd name="adj" fmla="val 7018"/>
            </a:avLst>
          </a:prstGeom>
          <a:solidFill>
            <a:srgbClr val="FFFFFF"/>
          </a:solidFill>
          <a:ln w="12700">
            <a:solidFill>
              <a:srgbClr val="E2E8F0"/>
            </a:solidFill>
            <a:prstDash val="solid"/>
          </a:ln>
        </p:spPr>
      </p:sp>
      <p:sp>
        <p:nvSpPr>
          <p:cNvPr id="17" name="Text 15"/>
          <p:cNvSpPr/>
          <p:nvPr/>
        </p:nvSpPr>
        <p:spPr>
          <a:xfrm>
            <a:off x="960120" y="4005072"/>
            <a:ext cx="2651760" cy="365760"/>
          </a:xfrm>
          <a:prstGeom prst="rect">
            <a:avLst/>
          </a:prstGeom>
          <a:noFill/>
          <a:ln/>
        </p:spPr>
        <p:txBody>
          <a:bodyPr wrap="square" rtlCol="0" anchor="ctr"/>
          <a:lstStyle/>
          <a:p>
            <a:pPr indent="0" marL="0">
              <a:buNone/>
            </a:pPr>
            <a:r>
              <a:rPr lang="en-US" sz="1800" b="1" dirty="0">
                <a:solidFill>
                  <a:srgbClr val="D97706"/>
                </a:solidFill>
                <a:latin typeface="Calibri" pitchFamily="34" charset="0"/>
                <a:ea typeface="Calibri" pitchFamily="34" charset="-122"/>
                <a:cs typeface="Calibri" pitchFamily="34" charset="-120"/>
              </a:rPr>
              <a:t>40,741 (40.0%)</a:t>
            </a:r>
            <a:endParaRPr lang="en-US" sz="1800" dirty="0"/>
          </a:p>
        </p:txBody>
      </p:sp>
      <p:sp>
        <p:nvSpPr>
          <p:cNvPr id="18" name="Text 16"/>
          <p:cNvSpPr/>
          <p:nvPr/>
        </p:nvSpPr>
        <p:spPr>
          <a:xfrm>
            <a:off x="960120" y="4398264"/>
            <a:ext cx="2926080" cy="41148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Variants of Uncertain Significance (VUS)</a:t>
            </a:r>
            <a:endParaRPr lang="en-US" sz="1350" dirty="0"/>
          </a:p>
        </p:txBody>
      </p:sp>
      <p:sp>
        <p:nvSpPr>
          <p:cNvPr id="19" name="Text 17"/>
          <p:cNvSpPr/>
          <p:nvPr/>
        </p:nvSpPr>
        <p:spPr>
          <a:xfrm>
            <a:off x="3566160" y="4187952"/>
            <a:ext cx="2112264" cy="411480"/>
          </a:xfrm>
          <a:prstGeom prst="rect">
            <a:avLst/>
          </a:prstGeom>
          <a:noFill/>
          <a:ln/>
        </p:spPr>
        <p:txBody>
          <a:bodyPr wrap="square" rtlCol="0" anchor="ctr"/>
          <a:lstStyle/>
          <a:p>
            <a:pPr algn="r" indent="0" marL="0">
              <a:buNone/>
            </a:pPr>
            <a:r>
              <a:rPr lang="en-US" sz="1300" dirty="0">
                <a:solidFill>
                  <a:srgbClr val="334155"/>
                </a:solidFill>
                <a:latin typeface="Calibri" pitchFamily="34" charset="0"/>
                <a:ea typeface="Calibri" pitchFamily="34" charset="-122"/>
                <a:cs typeface="Calibri" pitchFamily="34" charset="-120"/>
              </a:rPr>
              <a:t>Primary Post-Hoc Prioritization Target</a:t>
            </a:r>
            <a:endParaRPr lang="en-US" sz="1300" dirty="0"/>
          </a:p>
        </p:txBody>
      </p:sp>
      <p:sp>
        <p:nvSpPr>
          <p:cNvPr id="20" name="Shape 18"/>
          <p:cNvSpPr/>
          <p:nvPr/>
        </p:nvSpPr>
        <p:spPr>
          <a:xfrm>
            <a:off x="731520" y="5001768"/>
            <a:ext cx="5175504" cy="1042416"/>
          </a:xfrm>
          <a:prstGeom prst="roundRect">
            <a:avLst>
              <a:gd name="adj" fmla="val 7018"/>
            </a:avLst>
          </a:prstGeom>
          <a:solidFill>
            <a:srgbClr val="FFFFFF"/>
          </a:solidFill>
          <a:ln w="12700">
            <a:solidFill>
              <a:srgbClr val="E2E8F0"/>
            </a:solidFill>
            <a:prstDash val="solid"/>
          </a:ln>
        </p:spPr>
      </p:sp>
      <p:sp>
        <p:nvSpPr>
          <p:cNvPr id="21" name="Text 19"/>
          <p:cNvSpPr/>
          <p:nvPr/>
        </p:nvSpPr>
        <p:spPr>
          <a:xfrm>
            <a:off x="960120" y="5138928"/>
            <a:ext cx="2651760" cy="365760"/>
          </a:xfrm>
          <a:prstGeom prst="rect">
            <a:avLst/>
          </a:prstGeom>
          <a:noFill/>
          <a:ln/>
        </p:spPr>
        <p:txBody>
          <a:bodyPr wrap="square" rtlCol="0" anchor="ctr"/>
          <a:lstStyle/>
          <a:p>
            <a:pPr indent="0" marL="0">
              <a:buNone/>
            </a:pPr>
            <a:r>
              <a:rPr lang="en-US" sz="1800" b="1" dirty="0">
                <a:solidFill>
                  <a:srgbClr val="64748B"/>
                </a:solidFill>
                <a:latin typeface="Calibri" pitchFamily="34" charset="0"/>
                <a:ea typeface="Calibri" pitchFamily="34" charset="-122"/>
                <a:cs typeface="Calibri" pitchFamily="34" charset="-120"/>
              </a:rPr>
              <a:t>2,567 (2.5%)</a:t>
            </a:r>
            <a:endParaRPr lang="en-US" sz="1800" dirty="0"/>
          </a:p>
        </p:txBody>
      </p:sp>
      <p:sp>
        <p:nvSpPr>
          <p:cNvPr id="22" name="Text 20"/>
          <p:cNvSpPr/>
          <p:nvPr/>
        </p:nvSpPr>
        <p:spPr>
          <a:xfrm>
            <a:off x="960120" y="5532120"/>
            <a:ext cx="2926080" cy="41148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Conflicting / Other Classifications</a:t>
            </a:r>
            <a:endParaRPr lang="en-US" sz="1350" dirty="0"/>
          </a:p>
        </p:txBody>
      </p:sp>
      <p:sp>
        <p:nvSpPr>
          <p:cNvPr id="23" name="Text 21"/>
          <p:cNvSpPr/>
          <p:nvPr/>
        </p:nvSpPr>
        <p:spPr>
          <a:xfrm>
            <a:off x="3566160" y="5321808"/>
            <a:ext cx="2112264" cy="411480"/>
          </a:xfrm>
          <a:prstGeom prst="rect">
            <a:avLst/>
          </a:prstGeom>
          <a:noFill/>
          <a:ln/>
        </p:spPr>
        <p:txBody>
          <a:bodyPr wrap="square" rtlCol="0" anchor="ctr"/>
          <a:lstStyle/>
          <a:p>
            <a:pPr algn="r" indent="0" marL="0">
              <a:buNone/>
            </a:pPr>
            <a:r>
              <a:rPr lang="en-US" sz="1300" dirty="0">
                <a:solidFill>
                  <a:srgbClr val="334155"/>
                </a:solidFill>
                <a:latin typeface="Calibri" pitchFamily="34" charset="0"/>
                <a:ea typeface="Calibri" pitchFamily="34" charset="-122"/>
                <a:cs typeface="Calibri" pitchFamily="34" charset="-120"/>
              </a:rPr>
              <a:t>Excluded from Binary Training Set</a:t>
            </a:r>
            <a:endParaRPr lang="en-US" sz="1300" dirty="0"/>
          </a:p>
        </p:txBody>
      </p:sp>
      <p:pic>
        <p:nvPicPr>
          <p:cNvPr id="24" name="Image 0" descr="C:\Users\waibhav\Documents\DNA\data\figures\01_clinical_label_distribution.png">    </p:cNvPr>
          <p:cNvPicPr>
            <a:picLocks noChangeAspect="1"/>
          </p:cNvPicPr>
          <p:nvPr/>
        </p:nvPicPr>
        <p:blipFill>
          <a:blip r:embed="rId1"/>
          <a:stretch>
            <a:fillRect/>
          </a:stretch>
        </p:blipFill>
        <p:spPr>
          <a:xfrm>
            <a:off x="6281928" y="1600200"/>
            <a:ext cx="5175504" cy="45537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VARIANT CHARACTERISTICS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Structural Variant Types &amp; Clinical Proportions</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Deletions dominate clinical submissions and show strong pathogenic enrichment</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9 of 18</a:t>
            </a:r>
            <a:endParaRPr lang="en-US" sz="1150" dirty="0"/>
          </a:p>
        </p:txBody>
      </p:sp>
      <p:sp>
        <p:nvSpPr>
          <p:cNvPr id="8" name="Shape 6"/>
          <p:cNvSpPr/>
          <p:nvPr/>
        </p:nvSpPr>
        <p:spPr>
          <a:xfrm>
            <a:off x="731520" y="1600200"/>
            <a:ext cx="5175504" cy="1664208"/>
          </a:xfrm>
          <a:prstGeom prst="roundRect">
            <a:avLst>
              <a:gd name="adj" fmla="val 4396"/>
            </a:avLst>
          </a:prstGeom>
          <a:solidFill>
            <a:srgbClr val="FFFFFF"/>
          </a:solidFill>
          <a:ln w="12700">
            <a:solidFill>
              <a:srgbClr val="E2E8F0"/>
            </a:solidFill>
            <a:prstDash val="solid"/>
          </a:ln>
        </p:spPr>
      </p:sp>
      <p:sp>
        <p:nvSpPr>
          <p:cNvPr id="9" name="Text 7"/>
          <p:cNvSpPr/>
          <p:nvPr/>
        </p:nvSpPr>
        <p:spPr>
          <a:xfrm>
            <a:off x="960120" y="1746504"/>
            <a:ext cx="3291840" cy="347472"/>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Deletions &amp; Copy Number Loss</a:t>
            </a:r>
            <a:endParaRPr lang="en-US" sz="1650" dirty="0"/>
          </a:p>
        </p:txBody>
      </p:sp>
      <p:sp>
        <p:nvSpPr>
          <p:cNvPr id="10" name="Text 8"/>
          <p:cNvSpPr/>
          <p:nvPr/>
        </p:nvSpPr>
        <p:spPr>
          <a:xfrm>
            <a:off x="4023360" y="1746504"/>
            <a:ext cx="1655064" cy="347472"/>
          </a:xfrm>
          <a:prstGeom prst="rect">
            <a:avLst/>
          </a:prstGeom>
          <a:noFill/>
          <a:ln/>
        </p:spPr>
        <p:txBody>
          <a:bodyPr wrap="square" rtlCol="0" anchor="ctr"/>
          <a:lstStyle/>
          <a:p>
            <a:pPr algn="r" indent="0" marL="0">
              <a:buNone/>
            </a:pPr>
            <a:r>
              <a:rPr lang="en-US" sz="1350" b="1" dirty="0">
                <a:solidFill>
                  <a:srgbClr val="DC2626"/>
                </a:solidFill>
                <a:latin typeface="Calibri" pitchFamily="34" charset="0"/>
                <a:ea typeface="Calibri" pitchFamily="34" charset="-122"/>
                <a:cs typeface="Calibri" pitchFamily="34" charset="-120"/>
              </a:rPr>
              <a:t>58.1% of Total SVs</a:t>
            </a:r>
            <a:endParaRPr lang="en-US" sz="1350" dirty="0"/>
          </a:p>
        </p:txBody>
      </p:sp>
      <p:sp>
        <p:nvSpPr>
          <p:cNvPr id="11" name="Text 9"/>
          <p:cNvSpPr/>
          <p:nvPr/>
        </p:nvSpPr>
        <p:spPr>
          <a:xfrm>
            <a:off x="960120" y="2130552"/>
            <a:ext cx="4718304" cy="105156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45,862 Deletions + 23,892 Copy Number Loss events.</a:t>
            </a:r>
            <a:endParaRPr lang="en-US" sz="1350" dirty="0"/>
          </a:p>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Strongly enriched for pathogenic outcomes due to haploinsufficiency and loss of essential coding sequences.</a:t>
            </a:r>
            <a:endParaRPr lang="en-US" sz="1350" dirty="0"/>
          </a:p>
        </p:txBody>
      </p:sp>
      <p:sp>
        <p:nvSpPr>
          <p:cNvPr id="12" name="Shape 10"/>
          <p:cNvSpPr/>
          <p:nvPr/>
        </p:nvSpPr>
        <p:spPr>
          <a:xfrm>
            <a:off x="731520" y="3383280"/>
            <a:ext cx="5175504" cy="1664208"/>
          </a:xfrm>
          <a:prstGeom prst="roundRect">
            <a:avLst>
              <a:gd name="adj" fmla="val 4396"/>
            </a:avLst>
          </a:prstGeom>
          <a:solidFill>
            <a:srgbClr val="FFFFFF"/>
          </a:solidFill>
          <a:ln w="12700">
            <a:solidFill>
              <a:srgbClr val="E2E8F0"/>
            </a:solidFill>
            <a:prstDash val="solid"/>
          </a:ln>
        </p:spPr>
      </p:sp>
      <p:sp>
        <p:nvSpPr>
          <p:cNvPr id="13" name="Text 11"/>
          <p:cNvSpPr/>
          <p:nvPr/>
        </p:nvSpPr>
        <p:spPr>
          <a:xfrm>
            <a:off x="960120" y="3529584"/>
            <a:ext cx="3291840" cy="347472"/>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Duplications &amp; Copy Number Gain</a:t>
            </a:r>
            <a:endParaRPr lang="en-US" sz="1650" dirty="0"/>
          </a:p>
        </p:txBody>
      </p:sp>
      <p:sp>
        <p:nvSpPr>
          <p:cNvPr id="14" name="Text 12"/>
          <p:cNvSpPr/>
          <p:nvPr/>
        </p:nvSpPr>
        <p:spPr>
          <a:xfrm>
            <a:off x="4023360" y="3529584"/>
            <a:ext cx="1655064" cy="347472"/>
          </a:xfrm>
          <a:prstGeom prst="rect">
            <a:avLst/>
          </a:prstGeom>
          <a:noFill/>
          <a:ln/>
        </p:spPr>
        <p:txBody>
          <a:bodyPr wrap="square" rtlCol="0" anchor="ctr"/>
          <a:lstStyle/>
          <a:p>
            <a:pPr algn="r" indent="0" marL="0">
              <a:buNone/>
            </a:pPr>
            <a:r>
              <a:rPr lang="en-US" sz="1350" b="1" dirty="0">
                <a:solidFill>
                  <a:srgbClr val="059669"/>
                </a:solidFill>
                <a:latin typeface="Calibri" pitchFamily="34" charset="0"/>
                <a:ea typeface="Calibri" pitchFamily="34" charset="-122"/>
                <a:cs typeface="Calibri" pitchFamily="34" charset="-120"/>
              </a:rPr>
              <a:t>40.7% of Total SVs</a:t>
            </a:r>
            <a:endParaRPr lang="en-US" sz="1350" dirty="0"/>
          </a:p>
        </p:txBody>
      </p:sp>
      <p:sp>
        <p:nvSpPr>
          <p:cNvPr id="15" name="Text 13"/>
          <p:cNvSpPr/>
          <p:nvPr/>
        </p:nvSpPr>
        <p:spPr>
          <a:xfrm>
            <a:off x="960120" y="3913632"/>
            <a:ext cx="4718304" cy="1051560"/>
          </a:xfrm>
          <a:prstGeom prst="rect">
            <a:avLst/>
          </a:prstGeom>
          <a:noFill/>
          <a:ln/>
        </p:spPr>
        <p:txBody>
          <a:bodyPr wrap="square" rtlCol="0" anchor="ctr"/>
          <a:lstStyle/>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21,798 Copy Number Gain + 8,735 Duplication events.</a:t>
            </a:r>
            <a:endParaRPr lang="en-US" sz="1350" dirty="0"/>
          </a:p>
          <a:p>
            <a:pPr indent="0" marL="0">
              <a:lnSpc>
                <a:spcPct val="120000"/>
              </a:lnSpc>
              <a:buNone/>
            </a:pPr>
            <a:r>
              <a:rPr lang="en-US" sz="1350" dirty="0">
                <a:solidFill>
                  <a:srgbClr val="334155"/>
                </a:solidFill>
                <a:latin typeface="Calibri" pitchFamily="34" charset="0"/>
                <a:ea typeface="Calibri" pitchFamily="34" charset="-122"/>
                <a:cs typeface="Calibri" pitchFamily="34" charset="-120"/>
              </a:rPr>
              <a:t>More frequently tolerated as benign copy number polymorphisms across healthy human populations.</a:t>
            </a:r>
            <a:endParaRPr lang="en-US" sz="1350" dirty="0"/>
          </a:p>
        </p:txBody>
      </p:sp>
      <p:sp>
        <p:nvSpPr>
          <p:cNvPr id="16" name="Shape 14"/>
          <p:cNvSpPr/>
          <p:nvPr/>
        </p:nvSpPr>
        <p:spPr>
          <a:xfrm>
            <a:off x="731520" y="5257800"/>
            <a:ext cx="5175504" cy="896112"/>
          </a:xfrm>
          <a:prstGeom prst="roundRect">
            <a:avLst>
              <a:gd name="adj" fmla="val 8163"/>
            </a:avLst>
          </a:prstGeom>
          <a:solidFill>
            <a:srgbClr val="FFFBEB"/>
          </a:solidFill>
          <a:ln w="12700">
            <a:solidFill>
              <a:srgbClr val="D97706"/>
            </a:solidFill>
            <a:prstDash val="solid"/>
          </a:ln>
        </p:spPr>
      </p:sp>
      <p:sp>
        <p:nvSpPr>
          <p:cNvPr id="17" name="Text 15"/>
          <p:cNvSpPr/>
          <p:nvPr/>
        </p:nvSpPr>
        <p:spPr>
          <a:xfrm>
            <a:off x="960120" y="5358384"/>
            <a:ext cx="4718304" cy="256032"/>
          </a:xfrm>
          <a:prstGeom prst="rect">
            <a:avLst/>
          </a:prstGeom>
          <a:noFill/>
          <a:ln/>
        </p:spPr>
        <p:txBody>
          <a:bodyPr wrap="square"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CRITICAL OBSERVATION: 4.8x PATHOGENIC ODDS</a:t>
            </a:r>
            <a:endParaRPr lang="en-US" sz="1250" dirty="0"/>
          </a:p>
        </p:txBody>
      </p:sp>
      <p:sp>
        <p:nvSpPr>
          <p:cNvPr id="18" name="Text 16"/>
          <p:cNvSpPr/>
          <p:nvPr/>
        </p:nvSpPr>
        <p:spPr>
          <a:xfrm>
            <a:off x="960120" y="5632704"/>
            <a:ext cx="4718304" cy="438912"/>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Deletions exhibit 4.8x higher pathogenic odds compared to duplications of equivalent genomic length.</a:t>
            </a:r>
            <a:endParaRPr lang="en-US" sz="1300" dirty="0"/>
          </a:p>
        </p:txBody>
      </p:sp>
      <p:pic>
        <p:nvPicPr>
          <p:cNvPr id="19" name="Image 0" descr="C:\Users\waibhav\Documents\DNA\data\figures\02_sv_type_distribution.png">    </p:cNvPr>
          <p:cNvPicPr>
            <a:picLocks noChangeAspect="1"/>
          </p:cNvPicPr>
          <p:nvPr/>
        </p:nvPicPr>
        <p:blipFill>
          <a:blip r:embed="rId1"/>
          <a:stretch>
            <a:fillRect/>
          </a:stretch>
        </p:blipFill>
        <p:spPr>
          <a:xfrm>
            <a:off x="6281928" y="1600200"/>
            <a:ext cx="5175504" cy="45537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SIZE DYNAMICS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Genomic Length Spectrum &amp; Bimodal Distributions</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Pathogenic and benign structural variants occupy distinct genomic length regimes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10 of 18</a:t>
            </a:r>
            <a:endParaRPr lang="en-US" sz="1150" dirty="0"/>
          </a:p>
        </p:txBody>
      </p:sp>
      <p:sp>
        <p:nvSpPr>
          <p:cNvPr id="8" name="Shape 6"/>
          <p:cNvSpPr/>
          <p:nvPr/>
        </p:nvSpPr>
        <p:spPr>
          <a:xfrm>
            <a:off x="731520" y="1600200"/>
            <a:ext cx="2496312" cy="1325880"/>
          </a:xfrm>
          <a:prstGeom prst="roundRect">
            <a:avLst>
              <a:gd name="adj" fmla="val 5517"/>
            </a:avLst>
          </a:prstGeom>
          <a:solidFill>
            <a:srgbClr val="FFFFFF"/>
          </a:solidFill>
          <a:ln w="12700">
            <a:solidFill>
              <a:srgbClr val="E2E8F0"/>
            </a:solidFill>
            <a:prstDash val="solid"/>
          </a:ln>
        </p:spPr>
      </p:sp>
      <p:sp>
        <p:nvSpPr>
          <p:cNvPr id="9" name="Text 7"/>
          <p:cNvSpPr/>
          <p:nvPr/>
        </p:nvSpPr>
        <p:spPr>
          <a:xfrm>
            <a:off x="868680" y="1737360"/>
            <a:ext cx="2221992" cy="256032"/>
          </a:xfrm>
          <a:prstGeom prst="rect">
            <a:avLst/>
          </a:prstGeom>
          <a:noFill/>
          <a:ln/>
        </p:spPr>
        <p:txBody>
          <a:bodyPr wrap="square"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PATHOGENIC MEDIAN</a:t>
            </a:r>
            <a:endParaRPr lang="en-US" sz="1200" dirty="0"/>
          </a:p>
        </p:txBody>
      </p:sp>
      <p:sp>
        <p:nvSpPr>
          <p:cNvPr id="10" name="Text 8"/>
          <p:cNvSpPr/>
          <p:nvPr/>
        </p:nvSpPr>
        <p:spPr>
          <a:xfrm>
            <a:off x="868680" y="1993392"/>
            <a:ext cx="2221992" cy="438912"/>
          </a:xfrm>
          <a:prstGeom prst="rect">
            <a:avLst/>
          </a:prstGeom>
          <a:noFill/>
          <a:ln/>
        </p:spPr>
        <p:txBody>
          <a:bodyPr wrap="square"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51,100 bp (51.1 kb)</a:t>
            </a:r>
            <a:endParaRPr lang="en-US" sz="1900" dirty="0"/>
          </a:p>
        </p:txBody>
      </p:sp>
      <p:sp>
        <p:nvSpPr>
          <p:cNvPr id="11" name="Text 9"/>
          <p:cNvSpPr/>
          <p:nvPr/>
        </p:nvSpPr>
        <p:spPr>
          <a:xfrm>
            <a:off x="868680" y="2468880"/>
            <a:ext cx="2221992" cy="347472"/>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IQR: 2.9 kb – 1.58 Mb</a:t>
            </a:r>
            <a:endParaRPr lang="en-US" sz="1300" dirty="0"/>
          </a:p>
        </p:txBody>
      </p:sp>
      <p:sp>
        <p:nvSpPr>
          <p:cNvPr id="12" name="Shape 10"/>
          <p:cNvSpPr/>
          <p:nvPr/>
        </p:nvSpPr>
        <p:spPr>
          <a:xfrm>
            <a:off x="3410712" y="1600200"/>
            <a:ext cx="2496312" cy="1325880"/>
          </a:xfrm>
          <a:prstGeom prst="roundRect">
            <a:avLst>
              <a:gd name="adj" fmla="val 5517"/>
            </a:avLst>
          </a:prstGeom>
          <a:solidFill>
            <a:srgbClr val="FFFFFF"/>
          </a:solidFill>
          <a:ln w="12700">
            <a:solidFill>
              <a:srgbClr val="E2E8F0"/>
            </a:solidFill>
            <a:prstDash val="solid"/>
          </a:ln>
        </p:spPr>
      </p:sp>
      <p:sp>
        <p:nvSpPr>
          <p:cNvPr id="13" name="Text 11"/>
          <p:cNvSpPr/>
          <p:nvPr/>
        </p:nvSpPr>
        <p:spPr>
          <a:xfrm>
            <a:off x="3547872" y="1737360"/>
            <a:ext cx="2221992" cy="256032"/>
          </a:xfrm>
          <a:prstGeom prst="rect">
            <a:avLst/>
          </a:prstGeom>
          <a:noFill/>
          <a:ln/>
        </p:spPr>
        <p:txBody>
          <a:bodyPr wrap="square"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BENIGN MEDIAN</a:t>
            </a:r>
            <a:endParaRPr lang="en-US" sz="1200" dirty="0"/>
          </a:p>
        </p:txBody>
      </p:sp>
      <p:sp>
        <p:nvSpPr>
          <p:cNvPr id="14" name="Text 12"/>
          <p:cNvSpPr/>
          <p:nvPr/>
        </p:nvSpPr>
        <p:spPr>
          <a:xfrm>
            <a:off x="3547872" y="1993392"/>
            <a:ext cx="2221992" cy="438912"/>
          </a:xfrm>
          <a:prstGeom prst="rect">
            <a:avLst/>
          </a:prstGeom>
          <a:noFill/>
          <a:ln/>
        </p:spPr>
        <p:txBody>
          <a:bodyPr wrap="square" rtlCol="0" anchor="ctr"/>
          <a:lstStyle/>
          <a:p>
            <a:pPr indent="0" marL="0">
              <a:buNone/>
            </a:pPr>
            <a:r>
              <a:rPr lang="en-US" sz="1900" b="1" dirty="0">
                <a:solidFill>
                  <a:srgbClr val="0F172A"/>
                </a:solidFill>
                <a:latin typeface="Calibri" pitchFamily="34" charset="0"/>
                <a:ea typeface="Calibri" pitchFamily="34" charset="-122"/>
                <a:cs typeface="Calibri" pitchFamily="34" charset="-120"/>
              </a:rPr>
              <a:t>153,420 bp (153.4 kb)</a:t>
            </a:r>
            <a:endParaRPr lang="en-US" sz="1900" dirty="0"/>
          </a:p>
        </p:txBody>
      </p:sp>
      <p:sp>
        <p:nvSpPr>
          <p:cNvPr id="15" name="Text 13"/>
          <p:cNvSpPr/>
          <p:nvPr/>
        </p:nvSpPr>
        <p:spPr>
          <a:xfrm>
            <a:off x="3547872" y="2468880"/>
            <a:ext cx="2221992" cy="347472"/>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IQR: 56.2 kb – 401.2 kb</a:t>
            </a:r>
            <a:endParaRPr lang="en-US" sz="1300" dirty="0"/>
          </a:p>
        </p:txBody>
      </p:sp>
      <p:sp>
        <p:nvSpPr>
          <p:cNvPr id="16" name="Shape 14"/>
          <p:cNvSpPr/>
          <p:nvPr/>
        </p:nvSpPr>
        <p:spPr>
          <a:xfrm>
            <a:off x="731520" y="3035808"/>
            <a:ext cx="5175504" cy="3118104"/>
          </a:xfrm>
          <a:prstGeom prst="roundRect">
            <a:avLst>
              <a:gd name="adj" fmla="val 2346"/>
            </a:avLst>
          </a:prstGeom>
          <a:solidFill>
            <a:srgbClr val="FFFFFF"/>
          </a:solidFill>
          <a:ln w="12700">
            <a:solidFill>
              <a:srgbClr val="E2E8F0"/>
            </a:solidFill>
            <a:prstDash val="solid"/>
          </a:ln>
        </p:spPr>
      </p:sp>
      <p:sp>
        <p:nvSpPr>
          <p:cNvPr id="17" name="Text 15"/>
          <p:cNvSpPr/>
          <p:nvPr/>
        </p:nvSpPr>
        <p:spPr>
          <a:xfrm>
            <a:off x="960120" y="3218688"/>
            <a:ext cx="4718304"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BIMODAL PATHOGENIC PROFILE</a:t>
            </a:r>
            <a:endParaRPr lang="en-US" sz="1300" dirty="0"/>
          </a:p>
        </p:txBody>
      </p:sp>
      <p:sp>
        <p:nvSpPr>
          <p:cNvPr id="18" name="Text 16"/>
          <p:cNvSpPr/>
          <p:nvPr/>
        </p:nvSpPr>
        <p:spPr>
          <a:xfrm>
            <a:off x="960120" y="3529584"/>
            <a:ext cx="471830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1. Focal Coding Disruptions (1 kb – 10 kb):</a:t>
            </a:r>
            <a:endParaRPr lang="en-US" sz="1350" dirty="0"/>
          </a:p>
        </p:txBody>
      </p:sp>
      <p:sp>
        <p:nvSpPr>
          <p:cNvPr id="19" name="Text 17"/>
          <p:cNvSpPr/>
          <p:nvPr/>
        </p:nvSpPr>
        <p:spPr>
          <a:xfrm>
            <a:off x="1143000" y="3785616"/>
            <a:ext cx="4535424" cy="53035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High-impact single-exon deletions and frame-shifts in critical haploinsufficient genes.</a:t>
            </a:r>
            <a:endParaRPr lang="en-US" sz="1300" dirty="0"/>
          </a:p>
        </p:txBody>
      </p:sp>
      <p:sp>
        <p:nvSpPr>
          <p:cNvPr id="20" name="Text 18"/>
          <p:cNvSpPr/>
          <p:nvPr/>
        </p:nvSpPr>
        <p:spPr>
          <a:xfrm>
            <a:off x="960120" y="4352544"/>
            <a:ext cx="471830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2. Megabase Chromosomal Syndromes (&gt;1 Mb):</a:t>
            </a:r>
            <a:endParaRPr lang="en-US" sz="1350" dirty="0"/>
          </a:p>
        </p:txBody>
      </p:sp>
      <p:sp>
        <p:nvSpPr>
          <p:cNvPr id="21" name="Text 19"/>
          <p:cNvSpPr/>
          <p:nvPr/>
        </p:nvSpPr>
        <p:spPr>
          <a:xfrm>
            <a:off x="1143000" y="4608576"/>
            <a:ext cx="4535424" cy="53035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Large multi-gene deletions and copy number aberrations affecting critical developmental loci.</a:t>
            </a:r>
            <a:endParaRPr lang="en-US" sz="1300" dirty="0"/>
          </a:p>
        </p:txBody>
      </p:sp>
      <p:sp>
        <p:nvSpPr>
          <p:cNvPr id="22" name="Text 20"/>
          <p:cNvSpPr/>
          <p:nvPr/>
        </p:nvSpPr>
        <p:spPr>
          <a:xfrm>
            <a:off x="960120" y="5175504"/>
            <a:ext cx="471830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3. Benign Intermediate Clustering (50 kb – 300 kb):</a:t>
            </a:r>
            <a:endParaRPr lang="en-US" sz="1350" dirty="0"/>
          </a:p>
        </p:txBody>
      </p:sp>
      <p:sp>
        <p:nvSpPr>
          <p:cNvPr id="23" name="Text 21"/>
          <p:cNvSpPr/>
          <p:nvPr/>
        </p:nvSpPr>
        <p:spPr>
          <a:xfrm>
            <a:off x="1143000" y="5431536"/>
            <a:ext cx="4535424" cy="530352"/>
          </a:xfrm>
          <a:prstGeom prst="rect">
            <a:avLst/>
          </a:prstGeom>
          <a:noFill/>
          <a:ln/>
        </p:spPr>
        <p:txBody>
          <a:bodyPr wrap="square" rtlCol="0" anchor="ctr"/>
          <a:lstStyle/>
          <a:p>
            <a:pPr indent="0" marL="0">
              <a:lnSpc>
                <a:spcPct val="115000"/>
              </a:lnSpc>
              <a:buNone/>
            </a:pPr>
            <a:r>
              <a:rPr lang="en-US" sz="1300" dirty="0">
                <a:solidFill>
                  <a:srgbClr val="334155"/>
                </a:solidFill>
                <a:latin typeface="Calibri" pitchFamily="34" charset="0"/>
                <a:ea typeface="Calibri" pitchFamily="34" charset="-122"/>
                <a:cs typeface="Calibri" pitchFamily="34" charset="-120"/>
              </a:rPr>
              <a:t>Reported benign variants cluster in non-coding polymorphic copy number segments.</a:t>
            </a:r>
            <a:endParaRPr lang="en-US" sz="1300" dirty="0"/>
          </a:p>
        </p:txBody>
      </p:sp>
      <p:pic>
        <p:nvPicPr>
          <p:cNvPr id="24" name="Image 0" descr="C:\Users\waibhav\Documents\DNA\data\figures\03_sv_length_distribution.png">    </p:cNvPr>
          <p:cNvPicPr>
            <a:picLocks noChangeAspect="1"/>
          </p:cNvPicPr>
          <p:nvPr/>
        </p:nvPicPr>
        <p:blipFill>
          <a:blip r:embed="rId1"/>
          <a:stretch>
            <a:fillRect/>
          </a:stretch>
        </p:blipFill>
        <p:spPr>
          <a:xfrm>
            <a:off x="6281928" y="1600200"/>
            <a:ext cx="5175504" cy="45537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POPULATION GENETICS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Population Allele Frequencies &amp; Purifying Selection</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gnomAD SV v2.1 baseline reveals extreme purifying selection on functional SVs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11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2700">
            <a:solidFill>
              <a:srgbClr val="E2E8F0"/>
            </a:solidFill>
            <a:prstDash val="solid"/>
          </a:ln>
        </p:spPr>
      </p:sp>
      <p:sp>
        <p:nvSpPr>
          <p:cNvPr id="9" name="Text 7"/>
          <p:cNvSpPr/>
          <p:nvPr/>
        </p:nvSpPr>
        <p:spPr>
          <a:xfrm>
            <a:off x="960120" y="1810512"/>
            <a:ext cx="471830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ALLELE FREQUENCY SPECTRUM (N = 387,477)</a:t>
            </a:r>
            <a:endParaRPr lang="en-US" sz="1250" dirty="0"/>
          </a:p>
        </p:txBody>
      </p:sp>
      <p:sp>
        <p:nvSpPr>
          <p:cNvPr id="10" name="Text 8"/>
          <p:cNvSpPr/>
          <p:nvPr/>
        </p:nvSpPr>
        <p:spPr>
          <a:xfrm>
            <a:off x="960120" y="2139696"/>
            <a:ext cx="1371600" cy="365760"/>
          </a:xfrm>
          <a:prstGeom prst="rect">
            <a:avLst/>
          </a:prstGeom>
          <a:noFill/>
          <a:ln/>
        </p:spPr>
        <p:txBody>
          <a:bodyPr wrap="square" rtlCol="0" anchor="ctr"/>
          <a:lstStyle/>
          <a:p>
            <a:pPr indent="0" marL="0">
              <a:buNone/>
            </a:pPr>
            <a:r>
              <a:rPr lang="en-US" sz="2100" b="1" dirty="0">
                <a:solidFill>
                  <a:srgbClr val="2563EB"/>
                </a:solidFill>
                <a:latin typeface="Calibri" pitchFamily="34" charset="0"/>
                <a:ea typeface="Calibri" pitchFamily="34" charset="-122"/>
                <a:cs typeface="Calibri" pitchFamily="34" charset="-120"/>
              </a:rPr>
              <a:t>90.12%</a:t>
            </a:r>
            <a:endParaRPr lang="en-US" sz="2100" dirty="0"/>
          </a:p>
        </p:txBody>
      </p:sp>
      <p:sp>
        <p:nvSpPr>
          <p:cNvPr id="11" name="Text 9"/>
          <p:cNvSpPr/>
          <p:nvPr/>
        </p:nvSpPr>
        <p:spPr>
          <a:xfrm>
            <a:off x="2377440" y="2139696"/>
            <a:ext cx="33009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Rare in Population (AF &lt; 1%)</a:t>
            </a:r>
            <a:endParaRPr lang="en-US" sz="1350" dirty="0"/>
          </a:p>
        </p:txBody>
      </p:sp>
      <p:sp>
        <p:nvSpPr>
          <p:cNvPr id="12" name="Text 10"/>
          <p:cNvSpPr/>
          <p:nvPr/>
        </p:nvSpPr>
        <p:spPr>
          <a:xfrm>
            <a:off x="2377440" y="2395728"/>
            <a:ext cx="330098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349,202 SV sites are observed at less than 1% frequency across 10,847 healthy human genomes.</a:t>
            </a:r>
            <a:endParaRPr lang="en-US" sz="1250" dirty="0"/>
          </a:p>
        </p:txBody>
      </p:sp>
      <p:sp>
        <p:nvSpPr>
          <p:cNvPr id="13" name="Text 11"/>
          <p:cNvSpPr/>
          <p:nvPr/>
        </p:nvSpPr>
        <p:spPr>
          <a:xfrm>
            <a:off x="960120" y="3054096"/>
            <a:ext cx="1371600" cy="365760"/>
          </a:xfrm>
          <a:prstGeom prst="rect">
            <a:avLst/>
          </a:prstGeom>
          <a:noFill/>
          <a:ln/>
        </p:spPr>
        <p:txBody>
          <a:bodyPr wrap="square" rtlCol="0" anchor="ctr"/>
          <a:lstStyle/>
          <a:p>
            <a:pPr indent="0" marL="0">
              <a:buNone/>
            </a:pPr>
            <a:r>
              <a:rPr lang="en-US" sz="2100" b="1" dirty="0">
                <a:solidFill>
                  <a:srgbClr val="2563EB"/>
                </a:solidFill>
                <a:latin typeface="Calibri" pitchFamily="34" charset="0"/>
                <a:ea typeface="Calibri" pitchFamily="34" charset="-122"/>
                <a:cs typeface="Calibri" pitchFamily="34" charset="-120"/>
              </a:rPr>
              <a:t>39.39%</a:t>
            </a:r>
            <a:endParaRPr lang="en-US" sz="2100" dirty="0"/>
          </a:p>
        </p:txBody>
      </p:sp>
      <p:sp>
        <p:nvSpPr>
          <p:cNvPr id="14" name="Text 12"/>
          <p:cNvSpPr/>
          <p:nvPr/>
        </p:nvSpPr>
        <p:spPr>
          <a:xfrm>
            <a:off x="2377440" y="3054096"/>
            <a:ext cx="33009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Ultra-Rare Singletons (AF &lt;= 0.0046%)</a:t>
            </a:r>
            <a:endParaRPr lang="en-US" sz="1350" dirty="0"/>
          </a:p>
        </p:txBody>
      </p:sp>
      <p:sp>
        <p:nvSpPr>
          <p:cNvPr id="15" name="Text 13"/>
          <p:cNvSpPr/>
          <p:nvPr/>
        </p:nvSpPr>
        <p:spPr>
          <a:xfrm>
            <a:off x="2377440" y="3310128"/>
            <a:ext cx="330098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152,640 SVs appear exactly once in the entire population dataset.</a:t>
            </a:r>
            <a:endParaRPr lang="en-US" sz="1250" dirty="0"/>
          </a:p>
        </p:txBody>
      </p:sp>
      <p:sp>
        <p:nvSpPr>
          <p:cNvPr id="16" name="Text 14"/>
          <p:cNvSpPr/>
          <p:nvPr/>
        </p:nvSpPr>
        <p:spPr>
          <a:xfrm>
            <a:off x="960120" y="3968496"/>
            <a:ext cx="1371600" cy="365760"/>
          </a:xfrm>
          <a:prstGeom prst="rect">
            <a:avLst/>
          </a:prstGeom>
          <a:noFill/>
          <a:ln/>
        </p:spPr>
        <p:txBody>
          <a:bodyPr wrap="square" rtlCol="0" anchor="ctr"/>
          <a:lstStyle/>
          <a:p>
            <a:pPr indent="0" marL="0">
              <a:buNone/>
            </a:pPr>
            <a:r>
              <a:rPr lang="en-US" sz="2100" b="1" dirty="0">
                <a:solidFill>
                  <a:srgbClr val="2563EB"/>
                </a:solidFill>
                <a:latin typeface="Calibri" pitchFamily="34" charset="0"/>
                <a:ea typeface="Calibri" pitchFamily="34" charset="-122"/>
                <a:cs typeface="Calibri" pitchFamily="34" charset="-120"/>
              </a:rPr>
              <a:t>9.88%</a:t>
            </a:r>
            <a:endParaRPr lang="en-US" sz="2100" dirty="0"/>
          </a:p>
        </p:txBody>
      </p:sp>
      <p:sp>
        <p:nvSpPr>
          <p:cNvPr id="17" name="Text 15"/>
          <p:cNvSpPr/>
          <p:nvPr/>
        </p:nvSpPr>
        <p:spPr>
          <a:xfrm>
            <a:off x="2377440" y="3968496"/>
            <a:ext cx="33009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Common Polymorphisms (AF &gt;= 1%)</a:t>
            </a:r>
            <a:endParaRPr lang="en-US" sz="1350" dirty="0"/>
          </a:p>
        </p:txBody>
      </p:sp>
      <p:sp>
        <p:nvSpPr>
          <p:cNvPr id="18" name="Text 16"/>
          <p:cNvSpPr/>
          <p:nvPr/>
        </p:nvSpPr>
        <p:spPr>
          <a:xfrm>
            <a:off x="2377440" y="4224528"/>
            <a:ext cx="330098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Only 38,275 SVs are common benign variants tolerated across global ancestries.</a:t>
            </a:r>
            <a:endParaRPr lang="en-US" sz="1250" dirty="0"/>
          </a:p>
        </p:txBody>
      </p:sp>
      <p:sp>
        <p:nvSpPr>
          <p:cNvPr id="19" name="Shape 17"/>
          <p:cNvSpPr/>
          <p:nvPr/>
        </p:nvSpPr>
        <p:spPr>
          <a:xfrm>
            <a:off x="960120" y="4937760"/>
            <a:ext cx="4718304" cy="1097280"/>
          </a:xfrm>
          <a:prstGeom prst="roundRect">
            <a:avLst>
              <a:gd name="adj" fmla="val 6667"/>
            </a:avLst>
          </a:prstGeom>
          <a:solidFill>
            <a:srgbClr val="EFF6FF"/>
          </a:solidFill>
          <a:ln w="12700">
            <a:solidFill>
              <a:srgbClr val="BFDBFE"/>
            </a:solidFill>
            <a:prstDash val="solid"/>
          </a:ln>
        </p:spPr>
      </p:sp>
      <p:sp>
        <p:nvSpPr>
          <p:cNvPr id="20" name="Text 18"/>
          <p:cNvSpPr/>
          <p:nvPr/>
        </p:nvSpPr>
        <p:spPr>
          <a:xfrm>
            <a:off x="1143000" y="5029200"/>
            <a:ext cx="4352544" cy="219456"/>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PURIFYING SELECTION TAKEAWAY</a:t>
            </a:r>
            <a:endParaRPr lang="en-US" sz="1200" dirty="0"/>
          </a:p>
        </p:txBody>
      </p:sp>
      <p:sp>
        <p:nvSpPr>
          <p:cNvPr id="21" name="Text 19"/>
          <p:cNvSpPr/>
          <p:nvPr/>
        </p:nvSpPr>
        <p:spPr>
          <a:xfrm>
            <a:off x="1143000" y="5257800"/>
            <a:ext cx="4352544" cy="713232"/>
          </a:xfrm>
          <a:prstGeom prst="rect">
            <a:avLst/>
          </a:prstGeom>
          <a:noFill/>
          <a:ln/>
        </p:spPr>
        <p:txBody>
          <a:bodyPr wrap="square" rtlCol="0" anchor="ctr"/>
          <a:lstStyle/>
          <a:p>
            <a:pPr indent="0" marL="0">
              <a:lnSpc>
                <a:spcPct val="115000"/>
              </a:lnSpc>
              <a:buNone/>
            </a:pPr>
            <a:r>
              <a:rPr lang="en-US" sz="1250" dirty="0">
                <a:solidFill>
                  <a:srgbClr val="0F172A"/>
                </a:solidFill>
                <a:latin typeface="Calibri" pitchFamily="34" charset="0"/>
                <a:ea typeface="Calibri" pitchFamily="34" charset="-122"/>
                <a:cs typeface="Calibri" pitchFamily="34" charset="-120"/>
              </a:rPr>
              <a:t>91.8% of Loss-of-Function (LoF) SVs and 84.3% of promoter SVs are ultra-rare (AF &lt; 0.1%). Common population frequency (AF &gt; 1%) is a highly reliable negative indicator of pathogenicity.</a:t>
            </a:r>
            <a:endParaRPr lang="en-US" sz="1250" dirty="0"/>
          </a:p>
        </p:txBody>
      </p:sp>
      <p:pic>
        <p:nvPicPr>
          <p:cNvPr id="22" name="Image 0" descr="C:\Users\waibhav\Documents\DNA\data\figures\04_allele_frequency_distribution.png">    </p:cNvPr>
          <p:cNvPicPr>
            <a:picLocks noChangeAspect="1"/>
          </p:cNvPicPr>
          <p:nvPr/>
        </p:nvPicPr>
        <p:blipFill>
          <a:blip r:embed="rId1"/>
          <a:stretch>
            <a:fillRect/>
          </a:stretch>
        </p:blipFill>
        <p:spPr>
          <a:xfrm>
            <a:off x="6281928" y="1600200"/>
            <a:ext cx="5175504" cy="45537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STATISTICAL VALIDATION</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Statistical Hypothesis Testing: Biological Differences</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Formal pre-training statistical validation of size and variant type associations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12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2700">
            <a:solidFill>
              <a:srgbClr val="E2E8F0"/>
            </a:solidFill>
            <a:prstDash val="solid"/>
          </a:ln>
        </p:spPr>
      </p:sp>
      <p:sp>
        <p:nvSpPr>
          <p:cNvPr id="9" name="Text 7"/>
          <p:cNvSpPr/>
          <p:nvPr/>
        </p:nvSpPr>
        <p:spPr>
          <a:xfrm>
            <a:off x="1005840" y="1810512"/>
            <a:ext cx="462686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HYPOTHESIS 1: LENGTH VS PATHOGENICITY</a:t>
            </a:r>
            <a:endParaRPr lang="en-US" sz="1250" dirty="0"/>
          </a:p>
        </p:txBody>
      </p:sp>
      <p:sp>
        <p:nvSpPr>
          <p:cNvPr id="10" name="Text 8"/>
          <p:cNvSpPr/>
          <p:nvPr/>
        </p:nvSpPr>
        <p:spPr>
          <a:xfrm>
            <a:off x="1005840"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Mann-Whitney U Non-Parametric Test</a:t>
            </a:r>
            <a:endParaRPr lang="en-US" sz="1650" dirty="0"/>
          </a:p>
        </p:txBody>
      </p:sp>
      <p:sp>
        <p:nvSpPr>
          <p:cNvPr id="11" name="Text 9"/>
          <p:cNvSpPr/>
          <p:nvPr/>
        </p:nvSpPr>
        <p:spPr>
          <a:xfrm>
            <a:off x="1005840" y="256032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Null Hypothesis (H0):</a:t>
            </a:r>
            <a:endParaRPr lang="en-US" sz="1300" dirty="0"/>
          </a:p>
        </p:txBody>
      </p:sp>
      <p:sp>
        <p:nvSpPr>
          <p:cNvPr id="12" name="Text 10"/>
          <p:cNvSpPr/>
          <p:nvPr/>
        </p:nvSpPr>
        <p:spPr>
          <a:xfrm>
            <a:off x="2880360" y="256032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Pathogenic and benign SVs have identical length distributions.</a:t>
            </a:r>
            <a:endParaRPr lang="en-US" sz="1300" dirty="0"/>
          </a:p>
        </p:txBody>
      </p:sp>
      <p:sp>
        <p:nvSpPr>
          <p:cNvPr id="13" name="Text 11"/>
          <p:cNvSpPr/>
          <p:nvPr/>
        </p:nvSpPr>
        <p:spPr>
          <a:xfrm>
            <a:off x="1005840" y="315468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Pathogenic Median Length:</a:t>
            </a:r>
            <a:endParaRPr lang="en-US" sz="1300" dirty="0"/>
          </a:p>
        </p:txBody>
      </p:sp>
      <p:sp>
        <p:nvSpPr>
          <p:cNvPr id="14" name="Text 12"/>
          <p:cNvSpPr/>
          <p:nvPr/>
        </p:nvSpPr>
        <p:spPr>
          <a:xfrm>
            <a:off x="2880360" y="315468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51,100 bp (IQR: 2.9 kb – 1.58 Mb)</a:t>
            </a:r>
            <a:endParaRPr lang="en-US" sz="1300" dirty="0"/>
          </a:p>
        </p:txBody>
      </p:sp>
      <p:sp>
        <p:nvSpPr>
          <p:cNvPr id="15" name="Text 13"/>
          <p:cNvSpPr/>
          <p:nvPr/>
        </p:nvSpPr>
        <p:spPr>
          <a:xfrm>
            <a:off x="1005840" y="374904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Benign Median Length:</a:t>
            </a:r>
            <a:endParaRPr lang="en-US" sz="1300" dirty="0"/>
          </a:p>
        </p:txBody>
      </p:sp>
      <p:sp>
        <p:nvSpPr>
          <p:cNvPr id="16" name="Text 14"/>
          <p:cNvSpPr/>
          <p:nvPr/>
        </p:nvSpPr>
        <p:spPr>
          <a:xfrm>
            <a:off x="2880360" y="374904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153,420 bp (IQR: 56.2 kb – 401.2 kb)</a:t>
            </a:r>
            <a:endParaRPr lang="en-US" sz="1300" dirty="0"/>
          </a:p>
        </p:txBody>
      </p:sp>
      <p:sp>
        <p:nvSpPr>
          <p:cNvPr id="17" name="Text 15"/>
          <p:cNvSpPr/>
          <p:nvPr/>
        </p:nvSpPr>
        <p:spPr>
          <a:xfrm>
            <a:off x="1005840" y="434340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Test Statistic:</a:t>
            </a:r>
            <a:endParaRPr lang="en-US" sz="1300" dirty="0"/>
          </a:p>
        </p:txBody>
      </p:sp>
      <p:sp>
        <p:nvSpPr>
          <p:cNvPr id="18" name="Text 16"/>
          <p:cNvSpPr/>
          <p:nvPr/>
        </p:nvSpPr>
        <p:spPr>
          <a:xfrm>
            <a:off x="2880360" y="434340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U = 2.69 x 10^8</a:t>
            </a:r>
            <a:endParaRPr lang="en-US" sz="1300" dirty="0"/>
          </a:p>
        </p:txBody>
      </p:sp>
      <p:sp>
        <p:nvSpPr>
          <p:cNvPr id="19" name="Shape 17"/>
          <p:cNvSpPr/>
          <p:nvPr/>
        </p:nvSpPr>
        <p:spPr>
          <a:xfrm>
            <a:off x="1005840" y="4892040"/>
            <a:ext cx="4626864" cy="1143000"/>
          </a:xfrm>
          <a:prstGeom prst="roundRect">
            <a:avLst>
              <a:gd name="adj" fmla="val 6400"/>
            </a:avLst>
          </a:prstGeom>
          <a:solidFill>
            <a:srgbClr val="ECFDF5"/>
          </a:solidFill>
          <a:ln w="15240">
            <a:solidFill>
              <a:srgbClr val="059669"/>
            </a:solidFill>
            <a:prstDash val="solid"/>
          </a:ln>
        </p:spPr>
      </p:sp>
      <p:sp>
        <p:nvSpPr>
          <p:cNvPr id="20" name="Text 18"/>
          <p:cNvSpPr/>
          <p:nvPr/>
        </p:nvSpPr>
        <p:spPr>
          <a:xfrm>
            <a:off x="1143000" y="5010912"/>
            <a:ext cx="4352544" cy="310896"/>
          </a:xfrm>
          <a:prstGeom prst="rect">
            <a:avLst/>
          </a:prstGeom>
          <a:noFill/>
          <a:ln/>
        </p:spPr>
        <p:txBody>
          <a:bodyPr wrap="square"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p-value: 3.04 x 10^-77  (Statistically Significant)</a:t>
            </a:r>
            <a:endParaRPr lang="en-US" sz="1450" dirty="0"/>
          </a:p>
        </p:txBody>
      </p:sp>
      <p:sp>
        <p:nvSpPr>
          <p:cNvPr id="21" name="Text 19"/>
          <p:cNvSpPr/>
          <p:nvPr/>
        </p:nvSpPr>
        <p:spPr>
          <a:xfrm>
            <a:off x="1143000" y="5340096"/>
            <a:ext cx="4352544" cy="621792"/>
          </a:xfrm>
          <a:prstGeom prst="rect">
            <a:avLst/>
          </a:prstGeom>
          <a:noFill/>
          <a:ln/>
        </p:spPr>
        <p:txBody>
          <a:bodyPr wrap="square" rtlCol="0" anchor="ctr"/>
          <a:lstStyle/>
          <a:p>
            <a:pPr indent="0" marL="0">
              <a:lnSpc>
                <a:spcPct val="115000"/>
              </a:lnSpc>
              <a:buNone/>
            </a:pPr>
            <a:r>
              <a:rPr lang="en-US" sz="1250" dirty="0">
                <a:solidFill>
                  <a:srgbClr val="0F172A"/>
                </a:solidFill>
                <a:latin typeface="Calibri" pitchFamily="34" charset="0"/>
                <a:ea typeface="Calibri" pitchFamily="34" charset="-122"/>
                <a:cs typeface="Calibri" pitchFamily="34" charset="-120"/>
              </a:rPr>
              <a:t>Rejects H0. Proves that pathogenic and benign variants follow fundamentally distinct genomic length distributions.</a:t>
            </a:r>
            <a:endParaRPr lang="en-US" sz="1250" dirty="0"/>
          </a:p>
        </p:txBody>
      </p:sp>
      <p:sp>
        <p:nvSpPr>
          <p:cNvPr id="22" name="Shape 20"/>
          <p:cNvSpPr/>
          <p:nvPr/>
        </p:nvSpPr>
        <p:spPr>
          <a:xfrm>
            <a:off x="6281928" y="1600200"/>
            <a:ext cx="5175504" cy="4553712"/>
          </a:xfrm>
          <a:prstGeom prst="roundRect">
            <a:avLst>
              <a:gd name="adj" fmla="val 1606"/>
            </a:avLst>
          </a:prstGeom>
          <a:solidFill>
            <a:srgbClr val="FFFFFF"/>
          </a:solidFill>
          <a:ln w="12700">
            <a:solidFill>
              <a:srgbClr val="E2E8F0"/>
            </a:solidFill>
            <a:prstDash val="solid"/>
          </a:ln>
        </p:spPr>
      </p:sp>
      <p:sp>
        <p:nvSpPr>
          <p:cNvPr id="23" name="Text 21"/>
          <p:cNvSpPr/>
          <p:nvPr/>
        </p:nvSpPr>
        <p:spPr>
          <a:xfrm>
            <a:off x="6556248" y="1810512"/>
            <a:ext cx="462686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HYPOTHESIS 2: SV TYPE VS PATHOGENICITY</a:t>
            </a:r>
            <a:endParaRPr lang="en-US" sz="1250" dirty="0"/>
          </a:p>
        </p:txBody>
      </p:sp>
      <p:sp>
        <p:nvSpPr>
          <p:cNvPr id="24" name="Text 22"/>
          <p:cNvSpPr/>
          <p:nvPr/>
        </p:nvSpPr>
        <p:spPr>
          <a:xfrm>
            <a:off x="6556248"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Pearson's Chi-Square Contingency Test</a:t>
            </a:r>
            <a:endParaRPr lang="en-US" sz="1650" dirty="0"/>
          </a:p>
        </p:txBody>
      </p:sp>
      <p:sp>
        <p:nvSpPr>
          <p:cNvPr id="25" name="Text 23"/>
          <p:cNvSpPr/>
          <p:nvPr/>
        </p:nvSpPr>
        <p:spPr>
          <a:xfrm>
            <a:off x="6556248" y="256032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Null Hypothesis (H0):</a:t>
            </a:r>
            <a:endParaRPr lang="en-US" sz="1300" dirty="0"/>
          </a:p>
        </p:txBody>
      </p:sp>
      <p:sp>
        <p:nvSpPr>
          <p:cNvPr id="26" name="Text 24"/>
          <p:cNvSpPr/>
          <p:nvPr/>
        </p:nvSpPr>
        <p:spPr>
          <a:xfrm>
            <a:off x="8430768" y="256032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SV type is independent of clinical classification.</a:t>
            </a:r>
            <a:endParaRPr lang="en-US" sz="1300" dirty="0"/>
          </a:p>
        </p:txBody>
      </p:sp>
      <p:sp>
        <p:nvSpPr>
          <p:cNvPr id="27" name="Text 25"/>
          <p:cNvSpPr/>
          <p:nvPr/>
        </p:nvSpPr>
        <p:spPr>
          <a:xfrm>
            <a:off x="6556248" y="315468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Contingency Table:</a:t>
            </a:r>
            <a:endParaRPr lang="en-US" sz="1300" dirty="0"/>
          </a:p>
        </p:txBody>
      </p:sp>
      <p:sp>
        <p:nvSpPr>
          <p:cNvPr id="28" name="Text 26"/>
          <p:cNvSpPr/>
          <p:nvPr/>
        </p:nvSpPr>
        <p:spPr>
          <a:xfrm>
            <a:off x="8430768" y="315468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Deletions: 23,781 Path / 624 Benign (4.8x odds)</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Duplications: 5,479 Path / 7,579 Benign</a:t>
            </a:r>
            <a:endParaRPr lang="en-US" sz="1300" dirty="0"/>
          </a:p>
        </p:txBody>
      </p:sp>
      <p:sp>
        <p:nvSpPr>
          <p:cNvPr id="29" name="Text 27"/>
          <p:cNvSpPr/>
          <p:nvPr/>
        </p:nvSpPr>
        <p:spPr>
          <a:xfrm>
            <a:off x="6556248" y="374904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Degrees of Freedom:</a:t>
            </a:r>
            <a:endParaRPr lang="en-US" sz="1300" dirty="0"/>
          </a:p>
        </p:txBody>
      </p:sp>
      <p:sp>
        <p:nvSpPr>
          <p:cNvPr id="30" name="Text 28"/>
          <p:cNvSpPr/>
          <p:nvPr/>
        </p:nvSpPr>
        <p:spPr>
          <a:xfrm>
            <a:off x="8430768" y="374904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dof = 11</a:t>
            </a:r>
            <a:endParaRPr lang="en-US" sz="1300" dirty="0"/>
          </a:p>
        </p:txBody>
      </p:sp>
      <p:sp>
        <p:nvSpPr>
          <p:cNvPr id="31" name="Text 29"/>
          <p:cNvSpPr/>
          <p:nvPr/>
        </p:nvSpPr>
        <p:spPr>
          <a:xfrm>
            <a:off x="6556248" y="4343400"/>
            <a:ext cx="2103120" cy="256032"/>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Test Statistic:</a:t>
            </a:r>
            <a:endParaRPr lang="en-US" sz="1300" dirty="0"/>
          </a:p>
        </p:txBody>
      </p:sp>
      <p:sp>
        <p:nvSpPr>
          <p:cNvPr id="32" name="Text 30"/>
          <p:cNvSpPr/>
          <p:nvPr/>
        </p:nvSpPr>
        <p:spPr>
          <a:xfrm>
            <a:off x="8430768" y="4343400"/>
            <a:ext cx="2752344" cy="530352"/>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Chi-Square = 15,769.58</a:t>
            </a:r>
            <a:endParaRPr lang="en-US" sz="1300" dirty="0"/>
          </a:p>
        </p:txBody>
      </p:sp>
      <p:sp>
        <p:nvSpPr>
          <p:cNvPr id="33" name="Shape 31"/>
          <p:cNvSpPr/>
          <p:nvPr/>
        </p:nvSpPr>
        <p:spPr>
          <a:xfrm>
            <a:off x="6556248" y="4892040"/>
            <a:ext cx="4626864" cy="1143000"/>
          </a:xfrm>
          <a:prstGeom prst="roundRect">
            <a:avLst>
              <a:gd name="adj" fmla="val 6400"/>
            </a:avLst>
          </a:prstGeom>
          <a:solidFill>
            <a:srgbClr val="ECFDF5"/>
          </a:solidFill>
          <a:ln w="15240">
            <a:solidFill>
              <a:srgbClr val="059669"/>
            </a:solidFill>
            <a:prstDash val="solid"/>
          </a:ln>
        </p:spPr>
      </p:sp>
      <p:sp>
        <p:nvSpPr>
          <p:cNvPr id="34" name="Text 32"/>
          <p:cNvSpPr/>
          <p:nvPr/>
        </p:nvSpPr>
        <p:spPr>
          <a:xfrm>
            <a:off x="6693408" y="5010912"/>
            <a:ext cx="4352544" cy="310896"/>
          </a:xfrm>
          <a:prstGeom prst="rect">
            <a:avLst/>
          </a:prstGeom>
          <a:noFill/>
          <a:ln/>
        </p:spPr>
        <p:txBody>
          <a:bodyPr wrap="square" rtlCol="0" anchor="ctr"/>
          <a:lstStyle/>
          <a:p>
            <a:pPr indent="0" marL="0">
              <a:buNone/>
            </a:pPr>
            <a:r>
              <a:rPr lang="en-US" sz="1450" b="1" dirty="0">
                <a:solidFill>
                  <a:srgbClr val="059669"/>
                </a:solidFill>
                <a:latin typeface="Calibri" pitchFamily="34" charset="0"/>
                <a:ea typeface="Calibri" pitchFamily="34" charset="-122"/>
                <a:cs typeface="Calibri" pitchFamily="34" charset="-120"/>
              </a:rPr>
              <a:t>p-value: 0.0000 (p &lt; 10^-300)  (Significant)</a:t>
            </a:r>
            <a:endParaRPr lang="en-US" sz="1450" dirty="0"/>
          </a:p>
        </p:txBody>
      </p:sp>
      <p:sp>
        <p:nvSpPr>
          <p:cNvPr id="35" name="Text 33"/>
          <p:cNvSpPr/>
          <p:nvPr/>
        </p:nvSpPr>
        <p:spPr>
          <a:xfrm>
            <a:off x="6693408" y="5340096"/>
            <a:ext cx="4352544" cy="621792"/>
          </a:xfrm>
          <a:prstGeom prst="rect">
            <a:avLst/>
          </a:prstGeom>
          <a:noFill/>
          <a:ln/>
        </p:spPr>
        <p:txBody>
          <a:bodyPr wrap="square" rtlCol="0" anchor="ctr"/>
          <a:lstStyle/>
          <a:p>
            <a:pPr indent="0" marL="0">
              <a:lnSpc>
                <a:spcPct val="115000"/>
              </a:lnSpc>
              <a:buNone/>
            </a:pPr>
            <a:r>
              <a:rPr lang="en-US" sz="1250" dirty="0">
                <a:solidFill>
                  <a:srgbClr val="0F172A"/>
                </a:solidFill>
                <a:latin typeface="Calibri" pitchFamily="34" charset="0"/>
                <a:ea typeface="Calibri" pitchFamily="34" charset="-122"/>
                <a:cs typeface="Calibri" pitchFamily="34" charset="-120"/>
              </a:rPr>
              <a:t>Rejects H0. Confirms a strong non-random biological dependency between structural variant type and clinical outcome.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DATA INTEGRATION</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Cross-Dataset Interval Matching &amp; Harmonization</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Resolving coordinate discrepancies and fuzzy breakpoints across databases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13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2700">
            <a:solidFill>
              <a:srgbClr val="E2E8F0"/>
            </a:solidFill>
            <a:prstDash val="solid"/>
          </a:ln>
        </p:spPr>
      </p:sp>
      <p:sp>
        <p:nvSpPr>
          <p:cNvPr id="9" name="Text 7"/>
          <p:cNvSpPr/>
          <p:nvPr/>
        </p:nvSpPr>
        <p:spPr>
          <a:xfrm>
            <a:off x="1005840" y="1810512"/>
            <a:ext cx="4626864" cy="256032"/>
          </a:xfrm>
          <a:prstGeom prst="rect">
            <a:avLst/>
          </a:prstGeom>
          <a:noFill/>
          <a:ln/>
        </p:spPr>
        <p:txBody>
          <a:bodyPr wrap="square"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CHALLENGES IN SV MATCHING</a:t>
            </a:r>
            <a:endParaRPr lang="en-US" sz="1200" dirty="0"/>
          </a:p>
        </p:txBody>
      </p:sp>
      <p:sp>
        <p:nvSpPr>
          <p:cNvPr id="10" name="Text 8"/>
          <p:cNvSpPr/>
          <p:nvPr/>
        </p:nvSpPr>
        <p:spPr>
          <a:xfrm>
            <a:off x="1005840"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Why Exact String / ID Joins Fail</a:t>
            </a:r>
            <a:endParaRPr lang="en-US" sz="1650" dirty="0"/>
          </a:p>
        </p:txBody>
      </p:sp>
      <p:sp>
        <p:nvSpPr>
          <p:cNvPr id="11" name="Text 9"/>
          <p:cNvSpPr/>
          <p:nvPr/>
        </p:nvSpPr>
        <p:spPr>
          <a:xfrm>
            <a:off x="1005840" y="256032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Exact Identifier Match: 0.0% Overlap</a:t>
            </a:r>
            <a:endParaRPr lang="en-US" sz="1350" dirty="0"/>
          </a:p>
        </p:txBody>
      </p:sp>
      <p:sp>
        <p:nvSpPr>
          <p:cNvPr id="12" name="Text 10"/>
          <p:cNvSpPr/>
          <p:nvPr/>
        </p:nvSpPr>
        <p:spPr>
          <a:xfrm>
            <a:off x="1234440" y="2852928"/>
            <a:ext cx="4398264" cy="80467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ClinVar uses Allele IDs, dbVar uses nsv/esv strings, and gnomAD uses synthetic coordinate names. There is zero global primary key overlap.</a:t>
            </a:r>
            <a:endParaRPr lang="en-US" sz="1250" dirty="0"/>
          </a:p>
        </p:txBody>
      </p:sp>
      <p:sp>
        <p:nvSpPr>
          <p:cNvPr id="13" name="Text 11"/>
          <p:cNvSpPr/>
          <p:nvPr/>
        </p:nvSpPr>
        <p:spPr>
          <a:xfrm>
            <a:off x="1005840" y="374904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Strict Breakpoint Window (&lt;= 100 bp): 0.38% Match</a:t>
            </a:r>
            <a:endParaRPr lang="en-US" sz="1350" dirty="0"/>
          </a:p>
        </p:txBody>
      </p:sp>
      <p:sp>
        <p:nvSpPr>
          <p:cNvPr id="14" name="Text 12"/>
          <p:cNvSpPr/>
          <p:nvPr/>
        </p:nvSpPr>
        <p:spPr>
          <a:xfrm>
            <a:off x="1234440" y="4041648"/>
            <a:ext cx="4398264" cy="80467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Legacy microarray and short-read ClinVar entries have breakpoint uncertainty windows (+/- 50 to 500 bp), making strict coordinate matching fail.</a:t>
            </a:r>
            <a:endParaRPr lang="en-US" sz="1250" dirty="0"/>
          </a:p>
        </p:txBody>
      </p:sp>
      <p:sp>
        <p:nvSpPr>
          <p:cNvPr id="15" name="Text 13"/>
          <p:cNvSpPr/>
          <p:nvPr/>
        </p:nvSpPr>
        <p:spPr>
          <a:xfrm>
            <a:off x="1005840" y="493776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Assembly Differences (GRCh37 vs GRCh38)</a:t>
            </a:r>
            <a:endParaRPr lang="en-US" sz="1350" dirty="0"/>
          </a:p>
        </p:txBody>
      </p:sp>
      <p:sp>
        <p:nvSpPr>
          <p:cNvPr id="16" name="Text 14"/>
          <p:cNvSpPr/>
          <p:nvPr/>
        </p:nvSpPr>
        <p:spPr>
          <a:xfrm>
            <a:off x="1234440" y="5230368"/>
            <a:ext cx="4398264" cy="80467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gnomAD SV v2.1 uses GRCh37, while modern clinical workflows use GRCh38. Direct coordinate comparisons without LiftOver cause severe false negatives.</a:t>
            </a:r>
            <a:endParaRPr lang="en-US" sz="1250" dirty="0"/>
          </a:p>
        </p:txBody>
      </p:sp>
      <p:sp>
        <p:nvSpPr>
          <p:cNvPr id="17" name="Shape 15"/>
          <p:cNvSpPr/>
          <p:nvPr/>
        </p:nvSpPr>
        <p:spPr>
          <a:xfrm>
            <a:off x="6281928" y="1600200"/>
            <a:ext cx="5175504" cy="4553712"/>
          </a:xfrm>
          <a:prstGeom prst="roundRect">
            <a:avLst>
              <a:gd name="adj" fmla="val 1606"/>
            </a:avLst>
          </a:prstGeom>
          <a:solidFill>
            <a:srgbClr val="FFFFFF"/>
          </a:solidFill>
          <a:ln w="15240">
            <a:solidFill>
              <a:srgbClr val="059669"/>
            </a:solidFill>
            <a:prstDash val="solid"/>
          </a:ln>
        </p:spPr>
      </p:sp>
      <p:sp>
        <p:nvSpPr>
          <p:cNvPr id="18" name="Text 16"/>
          <p:cNvSpPr/>
          <p:nvPr/>
        </p:nvSpPr>
        <p:spPr>
          <a:xfrm>
            <a:off x="6556248" y="1810512"/>
            <a:ext cx="4626864" cy="256032"/>
          </a:xfrm>
          <a:prstGeom prst="rect">
            <a:avLst/>
          </a:prstGeom>
          <a:noFill/>
          <a:ln/>
        </p:spPr>
        <p:txBody>
          <a:bodyPr wrap="square" rtlCol="0" anchor="ctr"/>
          <a:lstStyle/>
          <a:p>
            <a:pPr indent="0" marL="0">
              <a:buNone/>
            </a:pPr>
            <a:r>
              <a:rPr lang="en-US" sz="1250" b="1" dirty="0">
                <a:solidFill>
                  <a:srgbClr val="059669"/>
                </a:solidFill>
                <a:latin typeface="Calibri" pitchFamily="34" charset="0"/>
                <a:ea typeface="Calibri" pitchFamily="34" charset="-122"/>
                <a:cs typeface="Calibri" pitchFamily="34" charset="-120"/>
              </a:rPr>
              <a:t>STANDARDIZED PROTOCOL</a:t>
            </a:r>
            <a:endParaRPr lang="en-US" sz="1250" dirty="0"/>
          </a:p>
        </p:txBody>
      </p:sp>
      <p:sp>
        <p:nvSpPr>
          <p:cNvPr id="19" name="Text 17"/>
          <p:cNvSpPr/>
          <p:nvPr/>
        </p:nvSpPr>
        <p:spPr>
          <a:xfrm>
            <a:off x="6556248"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Hierarchical Reciprocal Overlap Protocol</a:t>
            </a:r>
            <a:endParaRPr lang="en-US" sz="1650" dirty="0"/>
          </a:p>
        </p:txBody>
      </p:sp>
      <p:sp>
        <p:nvSpPr>
          <p:cNvPr id="20" name="Text 18"/>
          <p:cNvSpPr/>
          <p:nvPr/>
        </p:nvSpPr>
        <p:spPr>
          <a:xfrm>
            <a:off x="6556248" y="2560320"/>
            <a:ext cx="914400" cy="256032"/>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Step 1</a:t>
            </a:r>
            <a:endParaRPr lang="en-US" sz="1300" dirty="0"/>
          </a:p>
        </p:txBody>
      </p:sp>
      <p:sp>
        <p:nvSpPr>
          <p:cNvPr id="21" name="Text 19"/>
          <p:cNvSpPr/>
          <p:nvPr/>
        </p:nvSpPr>
        <p:spPr>
          <a:xfrm>
            <a:off x="7424928" y="2560320"/>
            <a:ext cx="37581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Genome Assembly LiftOver</a:t>
            </a:r>
            <a:endParaRPr lang="en-US" sz="1350" dirty="0"/>
          </a:p>
        </p:txBody>
      </p:sp>
      <p:sp>
        <p:nvSpPr>
          <p:cNvPr id="22" name="Text 20"/>
          <p:cNvSpPr/>
          <p:nvPr/>
        </p:nvSpPr>
        <p:spPr>
          <a:xfrm>
            <a:off x="7424928" y="2816352"/>
            <a:ext cx="3758184" cy="566928"/>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Standardize all gnomAD and ClinVar records to GRCh38 via UCSC LiftOver chain files.</a:t>
            </a:r>
            <a:endParaRPr lang="en-US" sz="1250" dirty="0"/>
          </a:p>
        </p:txBody>
      </p:sp>
      <p:sp>
        <p:nvSpPr>
          <p:cNvPr id="23" name="Text 21"/>
          <p:cNvSpPr/>
          <p:nvPr/>
        </p:nvSpPr>
        <p:spPr>
          <a:xfrm>
            <a:off x="6556248" y="3456432"/>
            <a:ext cx="914400" cy="256032"/>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Step 2</a:t>
            </a:r>
            <a:endParaRPr lang="en-US" sz="1300" dirty="0"/>
          </a:p>
        </p:txBody>
      </p:sp>
      <p:sp>
        <p:nvSpPr>
          <p:cNvPr id="24" name="Text 22"/>
          <p:cNvSpPr/>
          <p:nvPr/>
        </p:nvSpPr>
        <p:spPr>
          <a:xfrm>
            <a:off x="7424928" y="3456432"/>
            <a:ext cx="37581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SV Type Concordance</a:t>
            </a:r>
            <a:endParaRPr lang="en-US" sz="1350" dirty="0"/>
          </a:p>
        </p:txBody>
      </p:sp>
      <p:sp>
        <p:nvSpPr>
          <p:cNvPr id="25" name="Text 23"/>
          <p:cNvSpPr/>
          <p:nvPr/>
        </p:nvSpPr>
        <p:spPr>
          <a:xfrm>
            <a:off x="7424928" y="3712464"/>
            <a:ext cx="3758184" cy="566928"/>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Require strict structural type matching (DEL &lt;-&gt; DEL, DUP &lt;-&gt; DUP).</a:t>
            </a:r>
            <a:endParaRPr lang="en-US" sz="1250" dirty="0"/>
          </a:p>
        </p:txBody>
      </p:sp>
      <p:sp>
        <p:nvSpPr>
          <p:cNvPr id="26" name="Text 24"/>
          <p:cNvSpPr/>
          <p:nvPr/>
        </p:nvSpPr>
        <p:spPr>
          <a:xfrm>
            <a:off x="6556248" y="4352544"/>
            <a:ext cx="914400" cy="256032"/>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Step 3</a:t>
            </a:r>
            <a:endParaRPr lang="en-US" sz="1300" dirty="0"/>
          </a:p>
        </p:txBody>
      </p:sp>
      <p:sp>
        <p:nvSpPr>
          <p:cNvPr id="27" name="Text 25"/>
          <p:cNvSpPr/>
          <p:nvPr/>
        </p:nvSpPr>
        <p:spPr>
          <a:xfrm>
            <a:off x="7424928" y="4352544"/>
            <a:ext cx="37581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Large CNVs (&gt; 5 kb): &gt;= 70% Overlap</a:t>
            </a:r>
            <a:endParaRPr lang="en-US" sz="1350" dirty="0"/>
          </a:p>
        </p:txBody>
      </p:sp>
      <p:sp>
        <p:nvSpPr>
          <p:cNvPr id="28" name="Text 26"/>
          <p:cNvSpPr/>
          <p:nvPr/>
        </p:nvSpPr>
        <p:spPr>
          <a:xfrm>
            <a:off x="7424928" y="4608576"/>
            <a:ext cx="3758184" cy="566928"/>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Require reciprocal overlap: Overlap / min(Len1, Len2) &gt;= 0.70.</a:t>
            </a:r>
            <a:endParaRPr lang="en-US" sz="1250" dirty="0"/>
          </a:p>
        </p:txBody>
      </p:sp>
      <p:sp>
        <p:nvSpPr>
          <p:cNvPr id="29" name="Text 27"/>
          <p:cNvSpPr/>
          <p:nvPr/>
        </p:nvSpPr>
        <p:spPr>
          <a:xfrm>
            <a:off x="6556248" y="5248656"/>
            <a:ext cx="914400" cy="256032"/>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Step 4</a:t>
            </a:r>
            <a:endParaRPr lang="en-US" sz="1300" dirty="0"/>
          </a:p>
        </p:txBody>
      </p:sp>
      <p:sp>
        <p:nvSpPr>
          <p:cNvPr id="30" name="Text 28"/>
          <p:cNvSpPr/>
          <p:nvPr/>
        </p:nvSpPr>
        <p:spPr>
          <a:xfrm>
            <a:off x="7424928" y="5248656"/>
            <a:ext cx="3758184" cy="256032"/>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Focal SVs (500 bp – 5 kb): &gt;= 50% Overlap</a:t>
            </a:r>
            <a:endParaRPr lang="en-US" sz="1350" dirty="0"/>
          </a:p>
        </p:txBody>
      </p:sp>
      <p:sp>
        <p:nvSpPr>
          <p:cNvPr id="31" name="Text 29"/>
          <p:cNvSpPr/>
          <p:nvPr/>
        </p:nvSpPr>
        <p:spPr>
          <a:xfrm>
            <a:off x="7424928" y="5504688"/>
            <a:ext cx="3758184" cy="566928"/>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Require reciprocal overlap &gt;= 0.50. Non-overlapping variants assigned AF = 0.0.</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Feature Engineering &amp; Data Leakage Prevention</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Neutralizing 4 critical leakage channels to guarantee unbiased generalization</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14 of 18</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728655" cy="4526280"/>
        </p:xfrm>
        <a:graphic>
          <a:graphicData uri="http://schemas.openxmlformats.org/drawingml/2006/table">
            <a:tbl>
              <a:tblPr/>
              <a:tblGrid>
                <a:gridCol w="2011680"/>
                <a:gridCol w="1645920"/>
                <a:gridCol w="1463040"/>
                <a:gridCol w="5608015"/>
              </a:tblGrid>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Feature Candidate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Leakage Risk</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Engineering Decision &amp; Rationale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log10_sv_length, sv_type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Caller / Intrinsic</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059669"/>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KEEP: Normalized genomic size and one-hot encoded biological types.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gnomad_af, popmax_af</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gnomAD SV v2.1</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059669"/>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KEEP: Population allele frequencies via &gt;=50% reciprocal overlap.</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has_lof, is_promoter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gnomAD / Ensembl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059669"/>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KEEP: Functional consequence flags on protein-coding genes.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GeneSymbol (Raw text)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ClinVar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D97706"/>
                          </a:solidFill>
                          <a:latin typeface="Calibri" pitchFamily="34" charset="0"/>
                          <a:ea typeface="Calibri" pitchFamily="34" charset="-122"/>
                          <a:cs typeface="Calibri" pitchFamily="34" charset="-120"/>
                        </a:rPr>
                        <a:t>Memorization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TRANSFORM: Replace raw gene strings with pLI &amp; LOEUF numeric constraint.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ReviewStatus (Stars)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ClinVar Metadata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DC2626"/>
                          </a:solidFill>
                          <a:latin typeface="Calibri" pitchFamily="34" charset="0"/>
                          <a:ea typeface="Calibri" pitchFamily="34" charset="-122"/>
                          <a:cs typeface="Calibri" pitchFamily="34" charset="-120"/>
                        </a:rPr>
                        <a:t>Severe Target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DROP: Post-diagnostic clinical confidence rating (only exists after curation).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PhenotypeList / Disease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ClinVar Metadata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DC2626"/>
                          </a:solidFill>
                          <a:latin typeface="Calibri" pitchFamily="34" charset="0"/>
                          <a:ea typeface="Calibri" pitchFamily="34" charset="-122"/>
                          <a:cs typeface="Calibri" pitchFamily="34" charset="-120"/>
                        </a:rPr>
                        <a:t>Catastrophic</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DROP: Directly encodes clinical diagnosis and disease status.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565785">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NumberSubmitters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ClinVar Metadata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b="1" dirty="0">
                          <a:solidFill>
                            <a:srgbClr val="DC2626"/>
                          </a:solidFill>
                          <a:latin typeface="Calibri" pitchFamily="34" charset="0"/>
                          <a:ea typeface="Calibri" pitchFamily="34" charset="-122"/>
                          <a:cs typeface="Calibri" pitchFamily="34" charset="-120"/>
                        </a:rPr>
                        <a:t>Severe Target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l" indent="0" marL="0">
                        <a:buNone/>
                      </a:pPr>
                      <a:r>
                        <a:rPr lang="en-US" sz="1200" dirty="0">
                          <a:solidFill>
                            <a:srgbClr val="334155"/>
                          </a:solidFill>
                          <a:latin typeface="Calibri" pitchFamily="34" charset="0"/>
                          <a:ea typeface="Calibri" pitchFamily="34" charset="-122"/>
                          <a:cs typeface="Calibri" pitchFamily="34" charset="-120"/>
                        </a:rPr>
                        <a:t>DROP: Correlates directly with clinical attention and disease severity.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VALIDATION STRATEGY</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Chromosomal Validation &amp; Modeling Architecture Strategy</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Chromosomal disjoint partitioning guarantees 0.0% genomic locus leakage</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15 of 18</a:t>
            </a:r>
            <a:endParaRPr lang="en-US" sz="1150" dirty="0"/>
          </a:p>
        </p:txBody>
      </p:sp>
      <p:sp>
        <p:nvSpPr>
          <p:cNvPr id="8" name="Shape 6"/>
          <p:cNvSpPr/>
          <p:nvPr/>
        </p:nvSpPr>
        <p:spPr>
          <a:xfrm>
            <a:off x="731520" y="1600200"/>
            <a:ext cx="5175504" cy="4553712"/>
          </a:xfrm>
          <a:prstGeom prst="roundRect">
            <a:avLst>
              <a:gd name="adj" fmla="val 1606"/>
            </a:avLst>
          </a:prstGeom>
          <a:solidFill>
            <a:srgbClr val="FFFFFF"/>
          </a:solidFill>
          <a:ln w="12700">
            <a:solidFill>
              <a:srgbClr val="E2E8F0"/>
            </a:solidFill>
            <a:prstDash val="solid"/>
          </a:ln>
        </p:spPr>
      </p:sp>
      <p:sp>
        <p:nvSpPr>
          <p:cNvPr id="9" name="Text 7"/>
          <p:cNvSpPr/>
          <p:nvPr/>
        </p:nvSpPr>
        <p:spPr>
          <a:xfrm>
            <a:off x="1005840" y="1810512"/>
            <a:ext cx="4626864"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CHROMOSOMAL DISJOINT PARTITIONING</a:t>
            </a:r>
            <a:endParaRPr lang="en-US" sz="1250" dirty="0"/>
          </a:p>
        </p:txBody>
      </p:sp>
      <p:sp>
        <p:nvSpPr>
          <p:cNvPr id="10" name="Text 8"/>
          <p:cNvSpPr/>
          <p:nvPr/>
        </p:nvSpPr>
        <p:spPr>
          <a:xfrm>
            <a:off x="1005840"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Zero Genomic Locus Overlap</a:t>
            </a:r>
            <a:endParaRPr lang="en-US" sz="1650" dirty="0"/>
          </a:p>
        </p:txBody>
      </p:sp>
      <p:sp>
        <p:nvSpPr>
          <p:cNvPr id="11" name="Text 9"/>
          <p:cNvSpPr/>
          <p:nvPr/>
        </p:nvSpPr>
        <p:spPr>
          <a:xfrm>
            <a:off x="1005840" y="2560320"/>
            <a:ext cx="4626864" cy="256032"/>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Training Set (Chromosomes 1–14)</a:t>
            </a:r>
            <a:endParaRPr lang="en-US" sz="1400" dirty="0"/>
          </a:p>
        </p:txBody>
      </p:sp>
      <p:sp>
        <p:nvSpPr>
          <p:cNvPr id="12" name="Text 10"/>
          <p:cNvSpPr/>
          <p:nvPr/>
        </p:nvSpPr>
        <p:spPr>
          <a:xfrm>
            <a:off x="1005840" y="2816352"/>
            <a:ext cx="4626864"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25,158 unique SVs (~65%)</a:t>
            </a:r>
            <a:endParaRPr lang="en-US" sz="1300" dirty="0"/>
          </a:p>
        </p:txBody>
      </p:sp>
      <p:sp>
        <p:nvSpPr>
          <p:cNvPr id="13" name="Text 11"/>
          <p:cNvSpPr/>
          <p:nvPr/>
        </p:nvSpPr>
        <p:spPr>
          <a:xfrm>
            <a:off x="1005840" y="3072384"/>
            <a:ext cx="462686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Model parameter optimization, feature representation learning, and weight updates.</a:t>
            </a:r>
            <a:endParaRPr lang="en-US" sz="1250" dirty="0"/>
          </a:p>
        </p:txBody>
      </p:sp>
      <p:sp>
        <p:nvSpPr>
          <p:cNvPr id="14" name="Text 12"/>
          <p:cNvSpPr/>
          <p:nvPr/>
        </p:nvSpPr>
        <p:spPr>
          <a:xfrm>
            <a:off x="1005840" y="3749040"/>
            <a:ext cx="4626864" cy="256032"/>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Validation Set (Chromosomes 15–18)</a:t>
            </a:r>
            <a:endParaRPr lang="en-US" sz="1400" dirty="0"/>
          </a:p>
        </p:txBody>
      </p:sp>
      <p:sp>
        <p:nvSpPr>
          <p:cNvPr id="15" name="Text 13"/>
          <p:cNvSpPr/>
          <p:nvPr/>
        </p:nvSpPr>
        <p:spPr>
          <a:xfrm>
            <a:off x="1005840" y="4005072"/>
            <a:ext cx="4626864"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8,546 unique SVs (~15%)</a:t>
            </a:r>
            <a:endParaRPr lang="en-US" sz="1300" dirty="0"/>
          </a:p>
        </p:txBody>
      </p:sp>
      <p:sp>
        <p:nvSpPr>
          <p:cNvPr id="16" name="Text 14"/>
          <p:cNvSpPr/>
          <p:nvPr/>
        </p:nvSpPr>
        <p:spPr>
          <a:xfrm>
            <a:off x="1005840" y="4261104"/>
            <a:ext cx="462686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Hyperparameter tuning, threshold selection, and probability calibration.</a:t>
            </a:r>
            <a:endParaRPr lang="en-US" sz="1250" dirty="0"/>
          </a:p>
        </p:txBody>
      </p:sp>
      <p:sp>
        <p:nvSpPr>
          <p:cNvPr id="17" name="Text 15"/>
          <p:cNvSpPr/>
          <p:nvPr/>
        </p:nvSpPr>
        <p:spPr>
          <a:xfrm>
            <a:off x="1005840" y="4937760"/>
            <a:ext cx="4626864" cy="256032"/>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Holdout Test Set (Chr 19–22, X, Y)</a:t>
            </a:r>
            <a:endParaRPr lang="en-US" sz="1400" dirty="0"/>
          </a:p>
        </p:txBody>
      </p:sp>
      <p:sp>
        <p:nvSpPr>
          <p:cNvPr id="18" name="Text 16"/>
          <p:cNvSpPr/>
          <p:nvPr/>
        </p:nvSpPr>
        <p:spPr>
          <a:xfrm>
            <a:off x="1005840" y="5193792"/>
            <a:ext cx="4626864" cy="256032"/>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8,854 unique SVs (~20%)</a:t>
            </a:r>
            <a:endParaRPr lang="en-US" sz="1300" dirty="0"/>
          </a:p>
        </p:txBody>
      </p:sp>
      <p:sp>
        <p:nvSpPr>
          <p:cNvPr id="19" name="Text 17"/>
          <p:cNvSpPr/>
          <p:nvPr/>
        </p:nvSpPr>
        <p:spPr>
          <a:xfrm>
            <a:off x="1005840" y="5449824"/>
            <a:ext cx="4626864" cy="62179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Completely unseen chromosomes to benchmark true out-of-sample generalization.</a:t>
            </a:r>
            <a:endParaRPr lang="en-US" sz="1250" dirty="0"/>
          </a:p>
        </p:txBody>
      </p:sp>
      <p:sp>
        <p:nvSpPr>
          <p:cNvPr id="20" name="Shape 18"/>
          <p:cNvSpPr/>
          <p:nvPr/>
        </p:nvSpPr>
        <p:spPr>
          <a:xfrm>
            <a:off x="6281928" y="1600200"/>
            <a:ext cx="5175504" cy="4553712"/>
          </a:xfrm>
          <a:prstGeom prst="roundRect">
            <a:avLst>
              <a:gd name="adj" fmla="val 1606"/>
            </a:avLst>
          </a:prstGeom>
          <a:solidFill>
            <a:srgbClr val="FFFFFF"/>
          </a:solidFill>
          <a:ln w="12700">
            <a:solidFill>
              <a:srgbClr val="E2E8F0"/>
            </a:solidFill>
            <a:prstDash val="solid"/>
          </a:ln>
        </p:spPr>
      </p:sp>
      <p:sp>
        <p:nvSpPr>
          <p:cNvPr id="21" name="Text 19"/>
          <p:cNvSpPr/>
          <p:nvPr/>
        </p:nvSpPr>
        <p:spPr>
          <a:xfrm>
            <a:off x="6556248" y="1810512"/>
            <a:ext cx="4626864" cy="256032"/>
          </a:xfrm>
          <a:prstGeom prst="rect">
            <a:avLst/>
          </a:prstGeom>
          <a:noFill/>
          <a:ln/>
        </p:spPr>
        <p:txBody>
          <a:bodyPr wrap="square" rtlCol="0" anchor="ctr"/>
          <a:lstStyle/>
          <a:p>
            <a:pPr indent="0" marL="0">
              <a:buNone/>
            </a:pPr>
            <a:r>
              <a:rPr lang="en-US" sz="1250" b="1" dirty="0">
                <a:solidFill>
                  <a:srgbClr val="059669"/>
                </a:solidFill>
                <a:latin typeface="Calibri" pitchFamily="34" charset="0"/>
                <a:ea typeface="Calibri" pitchFamily="34" charset="-122"/>
                <a:cs typeface="Calibri" pitchFamily="34" charset="-120"/>
              </a:rPr>
              <a:t>PLANNED MODEL SUITE &amp; BENCHMARKING</a:t>
            </a:r>
            <a:endParaRPr lang="en-US" sz="1250" dirty="0"/>
          </a:p>
        </p:txBody>
      </p:sp>
      <p:sp>
        <p:nvSpPr>
          <p:cNvPr id="22" name="Text 20"/>
          <p:cNvSpPr/>
          <p:nvPr/>
        </p:nvSpPr>
        <p:spPr>
          <a:xfrm>
            <a:off x="6556248" y="2084832"/>
            <a:ext cx="4626864" cy="384048"/>
          </a:xfrm>
          <a:prstGeom prst="rect">
            <a:avLst/>
          </a:prstGeom>
          <a:noFill/>
          <a:ln/>
        </p:spPr>
        <p:txBody>
          <a:bodyPr wrap="square" rtlCol="0" anchor="ctr"/>
          <a:lstStyle/>
          <a:p>
            <a:pPr indent="0" marL="0">
              <a:buNone/>
            </a:pPr>
            <a:r>
              <a:rPr lang="en-US" sz="1650" b="1" dirty="0">
                <a:solidFill>
                  <a:srgbClr val="0F172A"/>
                </a:solidFill>
                <a:latin typeface="Calibri" pitchFamily="34" charset="0"/>
                <a:ea typeface="Calibri" pitchFamily="34" charset="-122"/>
                <a:cs typeface="Calibri" pitchFamily="34" charset="-120"/>
              </a:rPr>
              <a:t>Ensemble Benchmarking &amp; Explainability</a:t>
            </a:r>
            <a:endParaRPr lang="en-US" sz="1650" dirty="0"/>
          </a:p>
        </p:txBody>
      </p:sp>
      <p:sp>
        <p:nvSpPr>
          <p:cNvPr id="23" name="Text 21"/>
          <p:cNvSpPr/>
          <p:nvPr/>
        </p:nvSpPr>
        <p:spPr>
          <a:xfrm>
            <a:off x="6556248" y="256032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Linear Baseline: L2-Regularized Logistic Regression</a:t>
            </a:r>
            <a:endParaRPr lang="en-US" sz="1350" dirty="0"/>
          </a:p>
        </p:txBody>
      </p:sp>
      <p:sp>
        <p:nvSpPr>
          <p:cNvPr id="24" name="Text 22"/>
          <p:cNvSpPr/>
          <p:nvPr/>
        </p:nvSpPr>
        <p:spPr>
          <a:xfrm>
            <a:off x="6784848" y="2834640"/>
            <a:ext cx="4398264" cy="594360"/>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Establishes baseline linear separability on normalized genomic features.</a:t>
            </a:r>
            <a:endParaRPr lang="en-US" sz="1250" dirty="0"/>
          </a:p>
        </p:txBody>
      </p:sp>
      <p:sp>
        <p:nvSpPr>
          <p:cNvPr id="25" name="Text 23"/>
          <p:cNvSpPr/>
          <p:nvPr/>
        </p:nvSpPr>
        <p:spPr>
          <a:xfrm>
            <a:off x="6556248" y="347472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Bagging &amp; Boosting Ensembles</a:t>
            </a:r>
            <a:endParaRPr lang="en-US" sz="1350" dirty="0"/>
          </a:p>
        </p:txBody>
      </p:sp>
      <p:sp>
        <p:nvSpPr>
          <p:cNvPr id="26" name="Text 24"/>
          <p:cNvSpPr/>
          <p:nvPr/>
        </p:nvSpPr>
        <p:spPr>
          <a:xfrm>
            <a:off x="6784848" y="3749040"/>
            <a:ext cx="4398264" cy="594360"/>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Balanced Random Forest, LightGBM, and XGBoost configured with scale_pos_weight = 3.4 to account for class imbalance.</a:t>
            </a:r>
            <a:endParaRPr lang="en-US" sz="1250" dirty="0"/>
          </a:p>
        </p:txBody>
      </p:sp>
      <p:sp>
        <p:nvSpPr>
          <p:cNvPr id="27" name="Text 25"/>
          <p:cNvSpPr/>
          <p:nvPr/>
        </p:nvSpPr>
        <p:spPr>
          <a:xfrm>
            <a:off x="6556248" y="438912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Primary Metric: PR-AUC (Precision-Recall)</a:t>
            </a:r>
            <a:endParaRPr lang="en-US" sz="1350" dirty="0"/>
          </a:p>
        </p:txBody>
      </p:sp>
      <p:sp>
        <p:nvSpPr>
          <p:cNvPr id="28" name="Text 26"/>
          <p:cNvSpPr/>
          <p:nvPr/>
        </p:nvSpPr>
        <p:spPr>
          <a:xfrm>
            <a:off x="6784848" y="4663440"/>
            <a:ext cx="4398264" cy="594360"/>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Prioritizes true positive pathogenic detection over ROC-AUC under 3.4:1 imbalance.</a:t>
            </a:r>
            <a:endParaRPr lang="en-US" sz="1250" dirty="0"/>
          </a:p>
        </p:txBody>
      </p:sp>
      <p:sp>
        <p:nvSpPr>
          <p:cNvPr id="29" name="Text 27"/>
          <p:cNvSpPr/>
          <p:nvPr/>
        </p:nvSpPr>
        <p:spPr>
          <a:xfrm>
            <a:off x="6556248" y="5303520"/>
            <a:ext cx="4626864" cy="274320"/>
          </a:xfrm>
          <a:prstGeom prst="rect">
            <a:avLst/>
          </a:prstGeom>
          <a:noFill/>
          <a:ln/>
        </p:spPr>
        <p:txBody>
          <a:bodyPr wrap="square"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TreeSHAP Local Explainability Engine</a:t>
            </a:r>
            <a:endParaRPr lang="en-US" sz="1350" dirty="0"/>
          </a:p>
        </p:txBody>
      </p:sp>
      <p:sp>
        <p:nvSpPr>
          <p:cNvPr id="30" name="Text 28"/>
          <p:cNvSpPr/>
          <p:nvPr/>
        </p:nvSpPr>
        <p:spPr>
          <a:xfrm>
            <a:off x="6784848" y="5577840"/>
            <a:ext cx="4398264" cy="594360"/>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Calculates exact Shapley attributions for each patient variant prediction.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MILESTONE STATUS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Summary of Work Completed for Review 1</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Comprehensive foundation completed (~40% milestone) for the 1st Project Review</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16 of 18</a:t>
            </a:r>
            <a:endParaRPr lang="en-US" sz="1150" dirty="0"/>
          </a:p>
        </p:txBody>
      </p:sp>
      <p:sp>
        <p:nvSpPr>
          <p:cNvPr id="8" name="Shape 6"/>
          <p:cNvSpPr/>
          <p:nvPr/>
        </p:nvSpPr>
        <p:spPr>
          <a:xfrm>
            <a:off x="731520" y="1600200"/>
            <a:ext cx="10728655" cy="804672"/>
          </a:xfrm>
          <a:prstGeom prst="roundRect">
            <a:avLst>
              <a:gd name="adj" fmla="val 9091"/>
            </a:avLst>
          </a:prstGeom>
          <a:solidFill>
            <a:srgbClr val="FFFFFF"/>
          </a:solidFill>
          <a:ln w="12700">
            <a:solidFill>
              <a:srgbClr val="E2E8F0"/>
            </a:solidFill>
            <a:prstDash val="solid"/>
          </a:ln>
        </p:spPr>
      </p:sp>
      <p:sp>
        <p:nvSpPr>
          <p:cNvPr id="9" name="Text 7"/>
          <p:cNvSpPr/>
          <p:nvPr/>
        </p:nvSpPr>
        <p:spPr>
          <a:xfrm>
            <a:off x="960120" y="1737360"/>
            <a:ext cx="548640" cy="438912"/>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01</a:t>
            </a:r>
            <a:endParaRPr lang="en-US" sz="2000" dirty="0"/>
          </a:p>
        </p:txBody>
      </p:sp>
      <p:sp>
        <p:nvSpPr>
          <p:cNvPr id="10" name="Text 8"/>
          <p:cNvSpPr/>
          <p:nvPr/>
        </p:nvSpPr>
        <p:spPr>
          <a:xfrm>
            <a:off x="1600200" y="1737360"/>
            <a:ext cx="3108960" cy="438912"/>
          </a:xfrm>
          <a:prstGeom prst="rect">
            <a:avLst/>
          </a:prstGeom>
          <a:noFill/>
          <a:ln/>
        </p:spPr>
        <p:txBody>
          <a:bodyPr wrap="square"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Multi-Dataset Harmonization</a:t>
            </a:r>
            <a:endParaRPr lang="en-US" sz="1450" dirty="0"/>
          </a:p>
        </p:txBody>
      </p:sp>
      <p:sp>
        <p:nvSpPr>
          <p:cNvPr id="11" name="Text 9"/>
          <p:cNvSpPr/>
          <p:nvPr/>
        </p:nvSpPr>
        <p:spPr>
          <a:xfrm>
            <a:off x="4800600" y="1737360"/>
            <a:ext cx="6430975" cy="53035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Ingested and standardized 101,891 ClinVar SVs, 387,477 gnomAD population SV sites, and 79,808 dbVar calls to GRCh38 coordinates.</a:t>
            </a:r>
            <a:endParaRPr lang="en-US" sz="1250" dirty="0"/>
          </a:p>
        </p:txBody>
      </p:sp>
      <p:sp>
        <p:nvSpPr>
          <p:cNvPr id="12" name="Shape 10"/>
          <p:cNvSpPr/>
          <p:nvPr/>
        </p:nvSpPr>
        <p:spPr>
          <a:xfrm>
            <a:off x="731520" y="2496312"/>
            <a:ext cx="10728655" cy="804672"/>
          </a:xfrm>
          <a:prstGeom prst="roundRect">
            <a:avLst>
              <a:gd name="adj" fmla="val 9091"/>
            </a:avLst>
          </a:prstGeom>
          <a:solidFill>
            <a:srgbClr val="FFFFFF"/>
          </a:solidFill>
          <a:ln w="12700">
            <a:solidFill>
              <a:srgbClr val="E2E8F0"/>
            </a:solidFill>
            <a:prstDash val="solid"/>
          </a:ln>
        </p:spPr>
      </p:sp>
      <p:sp>
        <p:nvSpPr>
          <p:cNvPr id="13" name="Text 11"/>
          <p:cNvSpPr/>
          <p:nvPr/>
        </p:nvSpPr>
        <p:spPr>
          <a:xfrm>
            <a:off x="960120" y="2633472"/>
            <a:ext cx="548640" cy="438912"/>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1600200" y="2633472"/>
            <a:ext cx="3108960" cy="438912"/>
          </a:xfrm>
          <a:prstGeom prst="rect">
            <a:avLst/>
          </a:prstGeom>
          <a:noFill/>
          <a:ln/>
        </p:spPr>
        <p:txBody>
          <a:bodyPr wrap="square"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VUS Bottleneck Characterization</a:t>
            </a:r>
            <a:endParaRPr lang="en-US" sz="1450" dirty="0"/>
          </a:p>
        </p:txBody>
      </p:sp>
      <p:sp>
        <p:nvSpPr>
          <p:cNvPr id="15" name="Text 13"/>
          <p:cNvSpPr/>
          <p:nvPr/>
        </p:nvSpPr>
        <p:spPr>
          <a:xfrm>
            <a:off x="4800600" y="2633472"/>
            <a:ext cx="6430975" cy="53035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Quantified the 40.0% VUS barrier (N = 40,741) and structured the 3.40 : 1 binary training cohort (45,277 Pathogenic vs 13,306 Benign).</a:t>
            </a:r>
            <a:endParaRPr lang="en-US" sz="1250" dirty="0"/>
          </a:p>
        </p:txBody>
      </p:sp>
      <p:sp>
        <p:nvSpPr>
          <p:cNvPr id="16" name="Shape 14"/>
          <p:cNvSpPr/>
          <p:nvPr/>
        </p:nvSpPr>
        <p:spPr>
          <a:xfrm>
            <a:off x="731520" y="3392424"/>
            <a:ext cx="10728655" cy="804672"/>
          </a:xfrm>
          <a:prstGeom prst="roundRect">
            <a:avLst>
              <a:gd name="adj" fmla="val 9091"/>
            </a:avLst>
          </a:prstGeom>
          <a:solidFill>
            <a:srgbClr val="FFFFFF"/>
          </a:solidFill>
          <a:ln w="12700">
            <a:solidFill>
              <a:srgbClr val="E2E8F0"/>
            </a:solidFill>
            <a:prstDash val="solid"/>
          </a:ln>
        </p:spPr>
      </p:sp>
      <p:sp>
        <p:nvSpPr>
          <p:cNvPr id="17" name="Text 15"/>
          <p:cNvSpPr/>
          <p:nvPr/>
        </p:nvSpPr>
        <p:spPr>
          <a:xfrm>
            <a:off x="960120" y="3529584"/>
            <a:ext cx="548640" cy="438912"/>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1600200" y="3529584"/>
            <a:ext cx="3108960" cy="438912"/>
          </a:xfrm>
          <a:prstGeom prst="rect">
            <a:avLst/>
          </a:prstGeom>
          <a:noFill/>
          <a:ln/>
        </p:spPr>
        <p:txBody>
          <a:bodyPr wrap="square"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Statistical Hypothesis Testing</a:t>
            </a:r>
            <a:endParaRPr lang="en-US" sz="1450" dirty="0"/>
          </a:p>
        </p:txBody>
      </p:sp>
      <p:sp>
        <p:nvSpPr>
          <p:cNvPr id="19" name="Text 17"/>
          <p:cNvSpPr/>
          <p:nvPr/>
        </p:nvSpPr>
        <p:spPr>
          <a:xfrm>
            <a:off x="4800600" y="3529584"/>
            <a:ext cx="6430975" cy="53035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Validated biological drivers via Mann-Whitney U test (p = 3.04 x 10^-77) and Pearson's Chi-Square test (p = 0.0000).</a:t>
            </a:r>
            <a:endParaRPr lang="en-US" sz="1250" dirty="0"/>
          </a:p>
        </p:txBody>
      </p:sp>
      <p:sp>
        <p:nvSpPr>
          <p:cNvPr id="20" name="Shape 18"/>
          <p:cNvSpPr/>
          <p:nvPr/>
        </p:nvSpPr>
        <p:spPr>
          <a:xfrm>
            <a:off x="731520" y="4288536"/>
            <a:ext cx="10728655" cy="804672"/>
          </a:xfrm>
          <a:prstGeom prst="roundRect">
            <a:avLst>
              <a:gd name="adj" fmla="val 9091"/>
            </a:avLst>
          </a:prstGeom>
          <a:solidFill>
            <a:srgbClr val="FFFFFF"/>
          </a:solidFill>
          <a:ln w="12700">
            <a:solidFill>
              <a:srgbClr val="E2E8F0"/>
            </a:solidFill>
            <a:prstDash val="solid"/>
          </a:ln>
        </p:spPr>
      </p:sp>
      <p:sp>
        <p:nvSpPr>
          <p:cNvPr id="21" name="Text 19"/>
          <p:cNvSpPr/>
          <p:nvPr/>
        </p:nvSpPr>
        <p:spPr>
          <a:xfrm>
            <a:off x="960120" y="4425696"/>
            <a:ext cx="548640" cy="438912"/>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04</a:t>
            </a:r>
            <a:endParaRPr lang="en-US" sz="2000" dirty="0"/>
          </a:p>
        </p:txBody>
      </p:sp>
      <p:sp>
        <p:nvSpPr>
          <p:cNvPr id="22" name="Text 20"/>
          <p:cNvSpPr/>
          <p:nvPr/>
        </p:nvSpPr>
        <p:spPr>
          <a:xfrm>
            <a:off x="1600200" y="4425696"/>
            <a:ext cx="3108960" cy="438912"/>
          </a:xfrm>
          <a:prstGeom prst="rect">
            <a:avLst/>
          </a:prstGeom>
          <a:noFill/>
          <a:ln/>
        </p:spPr>
        <p:txBody>
          <a:bodyPr wrap="square"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Zero-Leakage Feature Store</a:t>
            </a:r>
            <a:endParaRPr lang="en-US" sz="1450" dirty="0"/>
          </a:p>
        </p:txBody>
      </p:sp>
      <p:sp>
        <p:nvSpPr>
          <p:cNvPr id="23" name="Text 21"/>
          <p:cNvSpPr/>
          <p:nvPr/>
        </p:nvSpPr>
        <p:spPr>
          <a:xfrm>
            <a:off x="4800600" y="4425696"/>
            <a:ext cx="6430975" cy="53035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Eliminated metadata and phenotype leakage; replaced high-cardinality gene strings with numeric constraint metrics (pLI, LOEUF).</a:t>
            </a:r>
            <a:endParaRPr lang="en-US" sz="1250" dirty="0"/>
          </a:p>
        </p:txBody>
      </p:sp>
      <p:sp>
        <p:nvSpPr>
          <p:cNvPr id="24" name="Shape 22"/>
          <p:cNvSpPr/>
          <p:nvPr/>
        </p:nvSpPr>
        <p:spPr>
          <a:xfrm>
            <a:off x="731520" y="5184648"/>
            <a:ext cx="10728655" cy="804672"/>
          </a:xfrm>
          <a:prstGeom prst="roundRect">
            <a:avLst>
              <a:gd name="adj" fmla="val 9091"/>
            </a:avLst>
          </a:prstGeom>
          <a:solidFill>
            <a:srgbClr val="FFFFFF"/>
          </a:solidFill>
          <a:ln w="12700">
            <a:solidFill>
              <a:srgbClr val="E2E8F0"/>
            </a:solidFill>
            <a:prstDash val="solid"/>
          </a:ln>
        </p:spPr>
      </p:sp>
      <p:sp>
        <p:nvSpPr>
          <p:cNvPr id="25" name="Text 23"/>
          <p:cNvSpPr/>
          <p:nvPr/>
        </p:nvSpPr>
        <p:spPr>
          <a:xfrm>
            <a:off x="960120" y="5321808"/>
            <a:ext cx="548640" cy="438912"/>
          </a:xfrm>
          <a:prstGeom prst="rect">
            <a:avLst/>
          </a:prstGeom>
          <a:noFill/>
          <a:ln/>
        </p:spPr>
        <p:txBody>
          <a:bodyPr wrap="square"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05</a:t>
            </a:r>
            <a:endParaRPr lang="en-US" sz="2000" dirty="0"/>
          </a:p>
        </p:txBody>
      </p:sp>
      <p:sp>
        <p:nvSpPr>
          <p:cNvPr id="26" name="Text 24"/>
          <p:cNvSpPr/>
          <p:nvPr/>
        </p:nvSpPr>
        <p:spPr>
          <a:xfrm>
            <a:off x="1600200" y="5321808"/>
            <a:ext cx="3108960" cy="438912"/>
          </a:xfrm>
          <a:prstGeom prst="rect">
            <a:avLst/>
          </a:prstGeom>
          <a:noFill/>
          <a:ln/>
        </p:spPr>
        <p:txBody>
          <a:bodyPr wrap="square"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Chromosomal Validation Split</a:t>
            </a:r>
            <a:endParaRPr lang="en-US" sz="1450" dirty="0"/>
          </a:p>
        </p:txBody>
      </p:sp>
      <p:sp>
        <p:nvSpPr>
          <p:cNvPr id="27" name="Text 25"/>
          <p:cNvSpPr/>
          <p:nvPr/>
        </p:nvSpPr>
        <p:spPr>
          <a:xfrm>
            <a:off x="4800600" y="5321808"/>
            <a:ext cx="6430975" cy="530352"/>
          </a:xfrm>
          <a:prstGeom prst="rect">
            <a:avLst/>
          </a:prstGeom>
          <a:noFill/>
          <a:ln/>
        </p:spPr>
        <p:txBody>
          <a:bodyPr wrap="square" rtlCol="0" anchor="ctr"/>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Formulated chromosomal block holdout partitions ensuring 0.0% genomic locus leakage between training and testing folds.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ROADMAP &amp; NEXT STEPS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Current Understanding &amp; Phase 2 Roadmap</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Key scientific insights synthesized and actionable milestones for Review 2</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17 of 18</a:t>
            </a:r>
            <a:endParaRPr lang="en-US" sz="1150" dirty="0"/>
          </a:p>
        </p:txBody>
      </p:sp>
      <p:sp>
        <p:nvSpPr>
          <p:cNvPr id="8" name="Shape 6"/>
          <p:cNvSpPr/>
          <p:nvPr/>
        </p:nvSpPr>
        <p:spPr>
          <a:xfrm>
            <a:off x="731520" y="1600200"/>
            <a:ext cx="10728655" cy="1463040"/>
          </a:xfrm>
          <a:prstGeom prst="roundRect">
            <a:avLst>
              <a:gd name="adj" fmla="val 5000"/>
            </a:avLst>
          </a:prstGeom>
          <a:solidFill>
            <a:srgbClr val="EFF6FF"/>
          </a:solidFill>
          <a:ln w="15240">
            <a:solidFill>
              <a:srgbClr val="BFDBFE"/>
            </a:solidFill>
            <a:prstDash val="solid"/>
          </a:ln>
        </p:spPr>
      </p:sp>
      <p:sp>
        <p:nvSpPr>
          <p:cNvPr id="9" name="Text 7"/>
          <p:cNvSpPr/>
          <p:nvPr/>
        </p:nvSpPr>
        <p:spPr>
          <a:xfrm>
            <a:off x="1005840" y="1755648"/>
            <a:ext cx="10180015"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SYNTHESIZED SCIENTIFIC UNDERSTANDING</a:t>
            </a:r>
            <a:endParaRPr lang="en-US" sz="1200" dirty="0"/>
          </a:p>
        </p:txBody>
      </p:sp>
      <p:sp>
        <p:nvSpPr>
          <p:cNvPr id="10" name="Text 8"/>
          <p:cNvSpPr/>
          <p:nvPr/>
        </p:nvSpPr>
        <p:spPr>
          <a:xfrm>
            <a:off x="1005840" y="2029968"/>
            <a:ext cx="10180015" cy="960120"/>
          </a:xfrm>
          <a:prstGeom prst="rect">
            <a:avLst/>
          </a:prstGeom>
          <a:noFill/>
          <a:ln/>
        </p:spPr>
        <p:txBody>
          <a:bodyPr wrap="square" rtlCol="0" anchor="ctr"/>
          <a:lstStyle/>
          <a:p>
            <a:pPr indent="0" marL="0">
              <a:lnSpc>
                <a:spcPct val="122000"/>
              </a:lnSpc>
              <a:buNone/>
            </a:pPr>
            <a:r>
              <a:rPr lang="en-US" sz="1350" dirty="0">
                <a:solidFill>
                  <a:srgbClr val="0F172A"/>
                </a:solidFill>
                <a:latin typeface="Calibri" pitchFamily="34" charset="0"/>
                <a:ea typeface="Calibri" pitchFamily="34" charset="-122"/>
                <a:cs typeface="Calibri" pitchFamily="34" charset="-120"/>
              </a:rPr>
              <a:t>Structural variant pathogenicity is governed by structural category (Deletions &gt; Duplications), size-dependent coding disruption, extreme population rarity (AF &lt; 0.1%), and gene constraint (pLI / LOEUF). To prevent artificial model memorization, post-diagnostic metadata must be strictly excluded and evaluation must be performed across disjoint chromosomes.</a:t>
            </a:r>
            <a:endParaRPr lang="en-US" sz="1350" dirty="0"/>
          </a:p>
        </p:txBody>
      </p:sp>
      <p:sp>
        <p:nvSpPr>
          <p:cNvPr id="11" name="Shape 9"/>
          <p:cNvSpPr/>
          <p:nvPr/>
        </p:nvSpPr>
        <p:spPr>
          <a:xfrm>
            <a:off x="731520" y="3246120"/>
            <a:ext cx="2468880" cy="2907792"/>
          </a:xfrm>
          <a:prstGeom prst="roundRect">
            <a:avLst>
              <a:gd name="adj" fmla="val 2963"/>
            </a:avLst>
          </a:prstGeom>
          <a:solidFill>
            <a:srgbClr val="FFFFFF"/>
          </a:solidFill>
          <a:ln w="12700">
            <a:solidFill>
              <a:srgbClr val="E2E8F0"/>
            </a:solidFill>
            <a:prstDash val="solid"/>
          </a:ln>
        </p:spPr>
      </p:sp>
      <p:sp>
        <p:nvSpPr>
          <p:cNvPr id="12" name="Text 10"/>
          <p:cNvSpPr/>
          <p:nvPr/>
        </p:nvSpPr>
        <p:spPr>
          <a:xfrm>
            <a:off x="914400" y="3429000"/>
            <a:ext cx="2103120"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PHASE 4</a:t>
            </a:r>
            <a:endParaRPr lang="en-US" sz="1200" dirty="0"/>
          </a:p>
        </p:txBody>
      </p:sp>
      <p:sp>
        <p:nvSpPr>
          <p:cNvPr id="13" name="Text 11"/>
          <p:cNvSpPr/>
          <p:nvPr/>
        </p:nvSpPr>
        <p:spPr>
          <a:xfrm>
            <a:off x="914400" y="3703320"/>
            <a:ext cx="2103120" cy="384048"/>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Model Training</a:t>
            </a:r>
            <a:endParaRPr lang="en-US" sz="1600" dirty="0"/>
          </a:p>
        </p:txBody>
      </p:sp>
      <p:sp>
        <p:nvSpPr>
          <p:cNvPr id="14" name="Text 12"/>
          <p:cNvSpPr/>
          <p:nvPr/>
        </p:nvSpPr>
        <p:spPr>
          <a:xfrm>
            <a:off x="914400" y="4133088"/>
            <a:ext cx="2103120" cy="1874520"/>
          </a:xfrm>
          <a:prstGeom prst="rect">
            <a:avLst/>
          </a:prstGeom>
          <a:noFill/>
          <a:ln/>
        </p:spPr>
        <p:txBody>
          <a:bodyPr wrap="square" rtlCol="0" anchor="ctr"/>
          <a:lstStyle/>
          <a:p>
            <a:pPr indent="0" marL="0">
              <a:lnSpc>
                <a:spcPct val="120000"/>
              </a:lnSpc>
              <a:buNone/>
            </a:pPr>
            <a:r>
              <a:rPr lang="en-US" sz="1250" dirty="0">
                <a:solidFill>
                  <a:srgbClr val="334155"/>
                </a:solidFill>
                <a:latin typeface="Calibri" pitchFamily="34" charset="0"/>
                <a:ea typeface="Calibri" pitchFamily="34" charset="-122"/>
                <a:cs typeface="Calibri" pitchFamily="34" charset="-120"/>
              </a:rPr>
              <a:t>Benchmark Logistic, Random Forest, LightGBM, and XGBoost; tune PR-AUC on holdout chromosomes.</a:t>
            </a:r>
            <a:endParaRPr lang="en-US" sz="1250" dirty="0"/>
          </a:p>
        </p:txBody>
      </p:sp>
      <p:sp>
        <p:nvSpPr>
          <p:cNvPr id="15" name="Shape 13"/>
          <p:cNvSpPr/>
          <p:nvPr/>
        </p:nvSpPr>
        <p:spPr>
          <a:xfrm>
            <a:off x="3483864" y="3246120"/>
            <a:ext cx="2468880" cy="2907792"/>
          </a:xfrm>
          <a:prstGeom prst="roundRect">
            <a:avLst>
              <a:gd name="adj" fmla="val 2963"/>
            </a:avLst>
          </a:prstGeom>
          <a:solidFill>
            <a:srgbClr val="FFFFFF"/>
          </a:solidFill>
          <a:ln w="12700">
            <a:solidFill>
              <a:srgbClr val="E2E8F0"/>
            </a:solidFill>
            <a:prstDash val="solid"/>
          </a:ln>
        </p:spPr>
      </p:sp>
      <p:sp>
        <p:nvSpPr>
          <p:cNvPr id="16" name="Text 14"/>
          <p:cNvSpPr/>
          <p:nvPr/>
        </p:nvSpPr>
        <p:spPr>
          <a:xfrm>
            <a:off x="3666744" y="3429000"/>
            <a:ext cx="2103120"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PHASE 5</a:t>
            </a:r>
            <a:endParaRPr lang="en-US" sz="1200" dirty="0"/>
          </a:p>
        </p:txBody>
      </p:sp>
      <p:sp>
        <p:nvSpPr>
          <p:cNvPr id="17" name="Text 15"/>
          <p:cNvSpPr/>
          <p:nvPr/>
        </p:nvSpPr>
        <p:spPr>
          <a:xfrm>
            <a:off x="3666744" y="3703320"/>
            <a:ext cx="2103120" cy="384048"/>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TreeSHAP Engine</a:t>
            </a:r>
            <a:endParaRPr lang="en-US" sz="1600" dirty="0"/>
          </a:p>
        </p:txBody>
      </p:sp>
      <p:sp>
        <p:nvSpPr>
          <p:cNvPr id="18" name="Text 16"/>
          <p:cNvSpPr/>
          <p:nvPr/>
        </p:nvSpPr>
        <p:spPr>
          <a:xfrm>
            <a:off x="3666744" y="4133088"/>
            <a:ext cx="2103120" cy="1874520"/>
          </a:xfrm>
          <a:prstGeom prst="rect">
            <a:avLst/>
          </a:prstGeom>
          <a:noFill/>
          <a:ln/>
        </p:spPr>
        <p:txBody>
          <a:bodyPr wrap="square" rtlCol="0" anchor="ctr"/>
          <a:lstStyle/>
          <a:p>
            <a:pPr indent="0" marL="0">
              <a:lnSpc>
                <a:spcPct val="120000"/>
              </a:lnSpc>
              <a:buNone/>
            </a:pPr>
            <a:r>
              <a:rPr lang="en-US" sz="1250" dirty="0">
                <a:solidFill>
                  <a:srgbClr val="334155"/>
                </a:solidFill>
                <a:latin typeface="Calibri" pitchFamily="34" charset="0"/>
                <a:ea typeface="Calibri" pitchFamily="34" charset="-122"/>
                <a:cs typeface="Calibri" pitchFamily="34" charset="-120"/>
              </a:rPr>
              <a:t>Compute global beeswarm summary and local waterfall plots for transparent clinical interpretability.</a:t>
            </a:r>
            <a:endParaRPr lang="en-US" sz="1250" dirty="0"/>
          </a:p>
        </p:txBody>
      </p:sp>
      <p:sp>
        <p:nvSpPr>
          <p:cNvPr id="19" name="Shape 17"/>
          <p:cNvSpPr/>
          <p:nvPr/>
        </p:nvSpPr>
        <p:spPr>
          <a:xfrm>
            <a:off x="6236208" y="3246120"/>
            <a:ext cx="2468880" cy="2907792"/>
          </a:xfrm>
          <a:prstGeom prst="roundRect">
            <a:avLst>
              <a:gd name="adj" fmla="val 2963"/>
            </a:avLst>
          </a:prstGeom>
          <a:solidFill>
            <a:srgbClr val="FFFFFF"/>
          </a:solidFill>
          <a:ln w="12700">
            <a:solidFill>
              <a:srgbClr val="E2E8F0"/>
            </a:solidFill>
            <a:prstDash val="solid"/>
          </a:ln>
        </p:spPr>
      </p:sp>
      <p:sp>
        <p:nvSpPr>
          <p:cNvPr id="20" name="Text 18"/>
          <p:cNvSpPr/>
          <p:nvPr/>
        </p:nvSpPr>
        <p:spPr>
          <a:xfrm>
            <a:off x="6419088" y="3429000"/>
            <a:ext cx="2103120"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PHASE 6</a:t>
            </a:r>
            <a:endParaRPr lang="en-US" sz="1200" dirty="0"/>
          </a:p>
        </p:txBody>
      </p:sp>
      <p:sp>
        <p:nvSpPr>
          <p:cNvPr id="21" name="Text 19"/>
          <p:cNvSpPr/>
          <p:nvPr/>
        </p:nvSpPr>
        <p:spPr>
          <a:xfrm>
            <a:off x="6419088" y="3703320"/>
            <a:ext cx="2103120" cy="384048"/>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VUS Prioritization</a:t>
            </a:r>
            <a:endParaRPr lang="en-US" sz="1600" dirty="0"/>
          </a:p>
        </p:txBody>
      </p:sp>
      <p:sp>
        <p:nvSpPr>
          <p:cNvPr id="22" name="Text 20"/>
          <p:cNvSpPr/>
          <p:nvPr/>
        </p:nvSpPr>
        <p:spPr>
          <a:xfrm>
            <a:off x="6419088" y="4133088"/>
            <a:ext cx="2103120" cy="1874520"/>
          </a:xfrm>
          <a:prstGeom prst="rect">
            <a:avLst/>
          </a:prstGeom>
          <a:noFill/>
          <a:ln/>
        </p:spPr>
        <p:txBody>
          <a:bodyPr wrap="square" rtlCol="0" anchor="ctr"/>
          <a:lstStyle/>
          <a:p>
            <a:pPr indent="0" marL="0">
              <a:lnSpc>
                <a:spcPct val="120000"/>
              </a:lnSpc>
              <a:buNone/>
            </a:pPr>
            <a:r>
              <a:rPr lang="en-US" sz="1250" dirty="0">
                <a:solidFill>
                  <a:srgbClr val="334155"/>
                </a:solidFill>
                <a:latin typeface="Calibri" pitchFamily="34" charset="0"/>
                <a:ea typeface="Calibri" pitchFamily="34" charset="-122"/>
                <a:cs typeface="Calibri" pitchFamily="34" charset="-120"/>
              </a:rPr>
              <a:t>Score all 40,741 ClinVar VUS variants into 4 actionable clinical risk triage tiers.</a:t>
            </a:r>
            <a:endParaRPr lang="en-US" sz="1250" dirty="0"/>
          </a:p>
        </p:txBody>
      </p:sp>
      <p:sp>
        <p:nvSpPr>
          <p:cNvPr id="23" name="Shape 21"/>
          <p:cNvSpPr/>
          <p:nvPr/>
        </p:nvSpPr>
        <p:spPr>
          <a:xfrm>
            <a:off x="8988552" y="3246120"/>
            <a:ext cx="2468880" cy="2907792"/>
          </a:xfrm>
          <a:prstGeom prst="roundRect">
            <a:avLst>
              <a:gd name="adj" fmla="val 2963"/>
            </a:avLst>
          </a:prstGeom>
          <a:solidFill>
            <a:srgbClr val="FFFFFF"/>
          </a:solidFill>
          <a:ln w="12700">
            <a:solidFill>
              <a:srgbClr val="E2E8F0"/>
            </a:solidFill>
            <a:prstDash val="solid"/>
          </a:ln>
        </p:spPr>
      </p:sp>
      <p:sp>
        <p:nvSpPr>
          <p:cNvPr id="24" name="Text 22"/>
          <p:cNvSpPr/>
          <p:nvPr/>
        </p:nvSpPr>
        <p:spPr>
          <a:xfrm>
            <a:off x="9171432" y="3429000"/>
            <a:ext cx="2103120"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PHASE 7</a:t>
            </a:r>
            <a:endParaRPr lang="en-US" sz="1200" dirty="0"/>
          </a:p>
        </p:txBody>
      </p:sp>
      <p:sp>
        <p:nvSpPr>
          <p:cNvPr id="25" name="Text 23"/>
          <p:cNvSpPr/>
          <p:nvPr/>
        </p:nvSpPr>
        <p:spPr>
          <a:xfrm>
            <a:off x="9171432" y="3703320"/>
            <a:ext cx="2103120" cy="384048"/>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Patient CLI Tool</a:t>
            </a:r>
            <a:endParaRPr lang="en-US" sz="1600" dirty="0"/>
          </a:p>
        </p:txBody>
      </p:sp>
      <p:sp>
        <p:nvSpPr>
          <p:cNvPr id="26" name="Text 24"/>
          <p:cNvSpPr/>
          <p:nvPr/>
        </p:nvSpPr>
        <p:spPr>
          <a:xfrm>
            <a:off x="9171432" y="4133088"/>
            <a:ext cx="2103120" cy="1874520"/>
          </a:xfrm>
          <a:prstGeom prst="rect">
            <a:avLst/>
          </a:prstGeom>
          <a:noFill/>
          <a:ln/>
        </p:spPr>
        <p:txBody>
          <a:bodyPr wrap="square" rtlCol="0" anchor="ctr"/>
          <a:lstStyle/>
          <a:p>
            <a:pPr indent="0" marL="0">
              <a:lnSpc>
                <a:spcPct val="120000"/>
              </a:lnSpc>
              <a:buNone/>
            </a:pPr>
            <a:r>
              <a:rPr lang="en-US" sz="1250" dirty="0">
                <a:solidFill>
                  <a:srgbClr val="334155"/>
                </a:solidFill>
                <a:latin typeface="Calibri" pitchFamily="34" charset="0"/>
                <a:ea typeface="Calibri" pitchFamily="34" charset="-122"/>
                <a:cs typeface="Calibri" pitchFamily="34" charset="-120"/>
              </a:rPr>
              <a:t>Build an end-to-end command-line and web tool to prioritize long-read VCF files in clinical workflows.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9184"/>
            <a:ext cx="10728655" cy="256032"/>
          </a:xfrm>
          <a:prstGeom prst="rect">
            <a:avLst/>
          </a:prstGeom>
          <a:noFill/>
          <a:ln/>
        </p:spPr>
        <p:txBody>
          <a:bodyPr wrap="square"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REFERENCES</a:t>
            </a:r>
            <a:endParaRPr lang="en-US" sz="1250" dirty="0"/>
          </a:p>
        </p:txBody>
      </p:sp>
      <p:sp>
        <p:nvSpPr>
          <p:cNvPr id="3" name="Text 1"/>
          <p:cNvSpPr/>
          <p:nvPr/>
        </p:nvSpPr>
        <p:spPr>
          <a:xfrm>
            <a:off x="731520" y="585216"/>
            <a:ext cx="10728655" cy="475488"/>
          </a:xfrm>
          <a:prstGeom prst="rect">
            <a:avLst/>
          </a:prstGeom>
          <a:noFill/>
          <a:ln/>
        </p:spPr>
        <p:txBody>
          <a:bodyPr wrap="square" lIns="0" tIns="0" rIns="0" bIns="0" rtlCol="0" anchor="ctr"/>
          <a:lstStyle/>
          <a:p>
            <a:pPr indent="0" marL="0">
              <a:buNone/>
            </a:pPr>
            <a:r>
              <a:rPr lang="en-US" sz="2300" b="1" dirty="0">
                <a:solidFill>
                  <a:srgbClr val="0F172A"/>
                </a:solidFill>
                <a:latin typeface="Calibri" pitchFamily="34" charset="0"/>
                <a:ea typeface="Calibri" pitchFamily="34" charset="-122"/>
                <a:cs typeface="Calibri" pitchFamily="34" charset="-120"/>
              </a:rPr>
              <a:t>References &amp; Scientific Literature</a:t>
            </a:r>
            <a:endParaRPr lang="en-US" sz="2300" dirty="0"/>
          </a:p>
        </p:txBody>
      </p:sp>
      <p:sp>
        <p:nvSpPr>
          <p:cNvPr id="4" name="Text 2"/>
          <p:cNvSpPr/>
          <p:nvPr/>
        </p:nvSpPr>
        <p:spPr>
          <a:xfrm>
            <a:off x="731520" y="1078992"/>
            <a:ext cx="10728655" cy="292608"/>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Key peer-reviewed literature informing datasets, clinical standards, and algorithms</a:t>
            </a:r>
            <a:endParaRPr lang="en-US" sz="1450" dirty="0"/>
          </a:p>
        </p:txBody>
      </p:sp>
      <p:sp>
        <p:nvSpPr>
          <p:cNvPr id="5" name="Shape 3"/>
          <p:cNvSpPr/>
          <p:nvPr/>
        </p:nvSpPr>
        <p:spPr>
          <a:xfrm>
            <a:off x="731520" y="1408176"/>
            <a:ext cx="10728655" cy="0"/>
          </a:xfrm>
          <a:prstGeom prst="line">
            <a:avLst/>
          </a:prstGeom>
          <a:noFill/>
          <a:ln w="15240">
            <a:solidFill>
              <a:srgbClr val="E2E8F0"/>
            </a:solidFill>
            <a:prstDash val="solid"/>
          </a:ln>
        </p:spPr>
      </p:sp>
      <p:sp>
        <p:nvSpPr>
          <p:cNvPr id="6" name="Text 4"/>
          <p:cNvSpPr/>
          <p:nvPr/>
        </p:nvSpPr>
        <p:spPr>
          <a:xfrm>
            <a:off x="731520" y="6355080"/>
            <a:ext cx="7772400" cy="292608"/>
          </a:xfrm>
          <a:prstGeom prst="rect">
            <a:avLst/>
          </a:prstGeom>
          <a:noFill/>
          <a:ln/>
        </p:spPr>
        <p:txBody>
          <a:bodyPr wrap="square"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Group 15  |  Project Review 1  |  AI-Based Structural Variant Prioritization</a:t>
            </a:r>
            <a:endParaRPr lang="en-US" sz="1150" dirty="0"/>
          </a:p>
        </p:txBody>
      </p:sp>
      <p:sp>
        <p:nvSpPr>
          <p:cNvPr id="7" name="Text 5"/>
          <p:cNvSpPr/>
          <p:nvPr/>
        </p:nvSpPr>
        <p:spPr>
          <a:xfrm>
            <a:off x="9448495" y="6355080"/>
            <a:ext cx="2011680" cy="292608"/>
          </a:xfrm>
          <a:prstGeom prst="rect">
            <a:avLst/>
          </a:prstGeom>
          <a:noFill/>
          <a:ln/>
        </p:spPr>
        <p:txBody>
          <a:bodyPr wrap="square" rtlCol="0" anchor="ctr"/>
          <a:lstStyle/>
          <a:p>
            <a:pPr algn="r" indent="0" marL="0">
              <a:buNone/>
            </a:pPr>
            <a:r>
              <a:rPr lang="en-US" sz="1150" dirty="0">
                <a:solidFill>
                  <a:srgbClr val="64748B"/>
                </a:solidFill>
                <a:latin typeface="Calibri" pitchFamily="34" charset="0"/>
                <a:ea typeface="Calibri" pitchFamily="34" charset="-122"/>
                <a:cs typeface="Calibri" pitchFamily="34" charset="-120"/>
              </a:rPr>
              <a:t>Slide 18 of 18</a:t>
            </a:r>
            <a:endParaRPr lang="en-US" sz="1150" dirty="0"/>
          </a:p>
        </p:txBody>
      </p:sp>
      <p:sp>
        <p:nvSpPr>
          <p:cNvPr id="8" name="Shape 6"/>
          <p:cNvSpPr/>
          <p:nvPr/>
        </p:nvSpPr>
        <p:spPr>
          <a:xfrm>
            <a:off x="731520" y="1600200"/>
            <a:ext cx="10728655" cy="804672"/>
          </a:xfrm>
          <a:prstGeom prst="roundRect">
            <a:avLst>
              <a:gd name="adj" fmla="val 9091"/>
            </a:avLst>
          </a:prstGeom>
          <a:solidFill>
            <a:srgbClr val="FFFFFF"/>
          </a:solidFill>
          <a:ln w="12700">
            <a:solidFill>
              <a:srgbClr val="E2E8F0"/>
            </a:solidFill>
            <a:prstDash val="solid"/>
          </a:ln>
        </p:spPr>
      </p:sp>
      <p:sp>
        <p:nvSpPr>
          <p:cNvPr id="9" name="Text 7"/>
          <p:cNvSpPr/>
          <p:nvPr/>
        </p:nvSpPr>
        <p:spPr>
          <a:xfrm>
            <a:off x="960120" y="1737360"/>
            <a:ext cx="365760" cy="438912"/>
          </a:xfrm>
          <a:prstGeom prst="rect">
            <a:avLst/>
          </a:prstGeom>
          <a:noFill/>
          <a:ln/>
        </p:spPr>
        <p:txBody>
          <a:bodyPr wrap="square"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1.</a:t>
            </a:r>
            <a:endParaRPr lang="en-US" sz="1450" dirty="0"/>
          </a:p>
        </p:txBody>
      </p:sp>
      <p:sp>
        <p:nvSpPr>
          <p:cNvPr id="10" name="Text 8"/>
          <p:cNvSpPr/>
          <p:nvPr/>
        </p:nvSpPr>
        <p:spPr>
          <a:xfrm>
            <a:off x="1371600" y="1709928"/>
            <a:ext cx="9859975" cy="38404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Collins, R. L., Brand, H., Karczewski, K. J., Zhao, X., Alföldi, J., et al. (2020) "A structural variation reference for medical and population genetics." — Nature, 581(7809), 444–451.</a:t>
            </a:r>
            <a:endParaRPr lang="en-US" sz="1250" dirty="0"/>
          </a:p>
        </p:txBody>
      </p:sp>
      <p:sp>
        <p:nvSpPr>
          <p:cNvPr id="11" name="Text 9"/>
          <p:cNvSpPr/>
          <p:nvPr/>
        </p:nvSpPr>
        <p:spPr>
          <a:xfrm>
            <a:off x="1371600" y="2057400"/>
            <a:ext cx="9859975" cy="256032"/>
          </a:xfrm>
          <a:prstGeom prst="rect">
            <a:avLst/>
          </a:prstGeom>
          <a:noFill/>
          <a:ln/>
        </p:spPr>
        <p:txBody>
          <a:bodyPr wrap="square" rtlCol="0" anchor="ctr"/>
          <a:lstStyle/>
          <a:p>
            <a:pPr indent="0" marL="0">
              <a:buNone/>
            </a:pPr>
            <a:r>
              <a:rPr lang="en-US" sz="1150" dirty="0">
                <a:solidFill>
                  <a:srgbClr val="2563EB"/>
                </a:solidFill>
                <a:latin typeface="Calibri" pitchFamily="34" charset="0"/>
                <a:ea typeface="Calibri" pitchFamily="34" charset="-122"/>
                <a:cs typeface="Calibri" pitchFamily="34" charset="-120"/>
              </a:rPr>
              <a:t>https://doi.org/10.1038/s41586-020-2287-8</a:t>
            </a:r>
            <a:endParaRPr lang="en-US" sz="1150" dirty="0"/>
          </a:p>
        </p:txBody>
      </p:sp>
      <p:sp>
        <p:nvSpPr>
          <p:cNvPr id="12" name="Shape 10"/>
          <p:cNvSpPr/>
          <p:nvPr/>
        </p:nvSpPr>
        <p:spPr>
          <a:xfrm>
            <a:off x="731520" y="2496312"/>
            <a:ext cx="10728655" cy="804672"/>
          </a:xfrm>
          <a:prstGeom prst="roundRect">
            <a:avLst>
              <a:gd name="adj" fmla="val 9091"/>
            </a:avLst>
          </a:prstGeom>
          <a:solidFill>
            <a:srgbClr val="FFFFFF"/>
          </a:solidFill>
          <a:ln w="12700">
            <a:solidFill>
              <a:srgbClr val="E2E8F0"/>
            </a:solidFill>
            <a:prstDash val="solid"/>
          </a:ln>
        </p:spPr>
      </p:sp>
      <p:sp>
        <p:nvSpPr>
          <p:cNvPr id="13" name="Text 11"/>
          <p:cNvSpPr/>
          <p:nvPr/>
        </p:nvSpPr>
        <p:spPr>
          <a:xfrm>
            <a:off x="960120" y="2633472"/>
            <a:ext cx="365760" cy="438912"/>
          </a:xfrm>
          <a:prstGeom prst="rect">
            <a:avLst/>
          </a:prstGeom>
          <a:noFill/>
          <a:ln/>
        </p:spPr>
        <p:txBody>
          <a:bodyPr wrap="square"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2.</a:t>
            </a:r>
            <a:endParaRPr lang="en-US" sz="1450" dirty="0"/>
          </a:p>
        </p:txBody>
      </p:sp>
      <p:sp>
        <p:nvSpPr>
          <p:cNvPr id="14" name="Text 12"/>
          <p:cNvSpPr/>
          <p:nvPr/>
        </p:nvSpPr>
        <p:spPr>
          <a:xfrm>
            <a:off x="1371600" y="2606040"/>
            <a:ext cx="9859975" cy="38404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Landrum, M. J., Lee, J. M., Benson, M., Brown, G. R., Chao, C., et al. (2018) "ClinVar: improving access to variant interpretations and supporting evidence." — Nucleic Acids Research, 46(D1), D1062–D1067.</a:t>
            </a:r>
            <a:endParaRPr lang="en-US" sz="1250" dirty="0"/>
          </a:p>
        </p:txBody>
      </p:sp>
      <p:sp>
        <p:nvSpPr>
          <p:cNvPr id="15" name="Text 13"/>
          <p:cNvSpPr/>
          <p:nvPr/>
        </p:nvSpPr>
        <p:spPr>
          <a:xfrm>
            <a:off x="1371600" y="2953512"/>
            <a:ext cx="9859975" cy="256032"/>
          </a:xfrm>
          <a:prstGeom prst="rect">
            <a:avLst/>
          </a:prstGeom>
          <a:noFill/>
          <a:ln/>
        </p:spPr>
        <p:txBody>
          <a:bodyPr wrap="square" rtlCol="0" anchor="ctr"/>
          <a:lstStyle/>
          <a:p>
            <a:pPr indent="0" marL="0">
              <a:buNone/>
            </a:pPr>
            <a:r>
              <a:rPr lang="en-US" sz="1150" dirty="0">
                <a:solidFill>
                  <a:srgbClr val="2563EB"/>
                </a:solidFill>
                <a:latin typeface="Calibri" pitchFamily="34" charset="0"/>
                <a:ea typeface="Calibri" pitchFamily="34" charset="-122"/>
                <a:cs typeface="Calibri" pitchFamily="34" charset="-120"/>
              </a:rPr>
              <a:t>https://doi.org/10.1093/nar/gkx1153</a:t>
            </a:r>
            <a:endParaRPr lang="en-US" sz="1150" dirty="0"/>
          </a:p>
        </p:txBody>
      </p:sp>
      <p:sp>
        <p:nvSpPr>
          <p:cNvPr id="16" name="Shape 14"/>
          <p:cNvSpPr/>
          <p:nvPr/>
        </p:nvSpPr>
        <p:spPr>
          <a:xfrm>
            <a:off x="731520" y="3392424"/>
            <a:ext cx="10728655" cy="804672"/>
          </a:xfrm>
          <a:prstGeom prst="roundRect">
            <a:avLst>
              <a:gd name="adj" fmla="val 9091"/>
            </a:avLst>
          </a:prstGeom>
          <a:solidFill>
            <a:srgbClr val="FFFFFF"/>
          </a:solidFill>
          <a:ln w="12700">
            <a:solidFill>
              <a:srgbClr val="E2E8F0"/>
            </a:solidFill>
            <a:prstDash val="solid"/>
          </a:ln>
        </p:spPr>
      </p:sp>
      <p:sp>
        <p:nvSpPr>
          <p:cNvPr id="17" name="Text 15"/>
          <p:cNvSpPr/>
          <p:nvPr/>
        </p:nvSpPr>
        <p:spPr>
          <a:xfrm>
            <a:off x="960120" y="3529584"/>
            <a:ext cx="365760" cy="438912"/>
          </a:xfrm>
          <a:prstGeom prst="rect">
            <a:avLst/>
          </a:prstGeom>
          <a:noFill/>
          <a:ln/>
        </p:spPr>
        <p:txBody>
          <a:bodyPr wrap="square"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3.</a:t>
            </a:r>
            <a:endParaRPr lang="en-US" sz="1450" dirty="0"/>
          </a:p>
        </p:txBody>
      </p:sp>
      <p:sp>
        <p:nvSpPr>
          <p:cNvPr id="18" name="Text 16"/>
          <p:cNvSpPr/>
          <p:nvPr/>
        </p:nvSpPr>
        <p:spPr>
          <a:xfrm>
            <a:off x="1371600" y="3502152"/>
            <a:ext cx="9859975" cy="38404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Riggs, E. R., Andersen, E. F., Cherry, A. M., Kantarci, S., Kearney, H., et al. (2020) "Technical standards for the interpretation and reporting of constitutional copy number variants." — Genetics in Medicine, 22(2), 245–257.</a:t>
            </a:r>
            <a:endParaRPr lang="en-US" sz="1250" dirty="0"/>
          </a:p>
        </p:txBody>
      </p:sp>
      <p:sp>
        <p:nvSpPr>
          <p:cNvPr id="19" name="Text 17"/>
          <p:cNvSpPr/>
          <p:nvPr/>
        </p:nvSpPr>
        <p:spPr>
          <a:xfrm>
            <a:off x="1371600" y="3849624"/>
            <a:ext cx="9859975" cy="256032"/>
          </a:xfrm>
          <a:prstGeom prst="rect">
            <a:avLst/>
          </a:prstGeom>
          <a:noFill/>
          <a:ln/>
        </p:spPr>
        <p:txBody>
          <a:bodyPr wrap="square" rtlCol="0" anchor="ctr"/>
          <a:lstStyle/>
          <a:p>
            <a:pPr indent="0" marL="0">
              <a:buNone/>
            </a:pPr>
            <a:r>
              <a:rPr lang="en-US" sz="1150" dirty="0">
                <a:solidFill>
                  <a:srgbClr val="2563EB"/>
                </a:solidFill>
                <a:latin typeface="Calibri" pitchFamily="34" charset="0"/>
                <a:ea typeface="Calibri" pitchFamily="34" charset="-122"/>
                <a:cs typeface="Calibri" pitchFamily="34" charset="-120"/>
              </a:rPr>
              <a:t>https://doi.org/10.1038/s41436-019-0686-8</a:t>
            </a:r>
            <a:endParaRPr lang="en-US" sz="1150" dirty="0"/>
          </a:p>
        </p:txBody>
      </p:sp>
      <p:sp>
        <p:nvSpPr>
          <p:cNvPr id="20" name="Shape 18"/>
          <p:cNvSpPr/>
          <p:nvPr/>
        </p:nvSpPr>
        <p:spPr>
          <a:xfrm>
            <a:off x="731520" y="4288536"/>
            <a:ext cx="10728655" cy="804672"/>
          </a:xfrm>
          <a:prstGeom prst="roundRect">
            <a:avLst>
              <a:gd name="adj" fmla="val 9091"/>
            </a:avLst>
          </a:prstGeom>
          <a:solidFill>
            <a:srgbClr val="FFFFFF"/>
          </a:solidFill>
          <a:ln w="12700">
            <a:solidFill>
              <a:srgbClr val="E2E8F0"/>
            </a:solidFill>
            <a:prstDash val="solid"/>
          </a:ln>
        </p:spPr>
      </p:sp>
      <p:sp>
        <p:nvSpPr>
          <p:cNvPr id="21" name="Text 19"/>
          <p:cNvSpPr/>
          <p:nvPr/>
        </p:nvSpPr>
        <p:spPr>
          <a:xfrm>
            <a:off x="960120" y="4425696"/>
            <a:ext cx="365760" cy="438912"/>
          </a:xfrm>
          <a:prstGeom prst="rect">
            <a:avLst/>
          </a:prstGeom>
          <a:noFill/>
          <a:ln/>
        </p:spPr>
        <p:txBody>
          <a:bodyPr wrap="square"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4.</a:t>
            </a:r>
            <a:endParaRPr lang="en-US" sz="1450" dirty="0"/>
          </a:p>
        </p:txBody>
      </p:sp>
      <p:sp>
        <p:nvSpPr>
          <p:cNvPr id="22" name="Text 20"/>
          <p:cNvSpPr/>
          <p:nvPr/>
        </p:nvSpPr>
        <p:spPr>
          <a:xfrm>
            <a:off x="1371600" y="4398264"/>
            <a:ext cx="9859975" cy="38404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Lundberg, S. M., &amp; Lee, S. I. (2017) "A unified approach to interpreting model predictions." — Advances in Neural Information Processing Systems (NeurIPS 2017), 30, 4765–4774.</a:t>
            </a:r>
            <a:endParaRPr lang="en-US" sz="1250" dirty="0"/>
          </a:p>
        </p:txBody>
      </p:sp>
      <p:sp>
        <p:nvSpPr>
          <p:cNvPr id="23" name="Text 21"/>
          <p:cNvSpPr/>
          <p:nvPr/>
        </p:nvSpPr>
        <p:spPr>
          <a:xfrm>
            <a:off x="1371600" y="4745736"/>
            <a:ext cx="9859975" cy="256032"/>
          </a:xfrm>
          <a:prstGeom prst="rect">
            <a:avLst/>
          </a:prstGeom>
          <a:noFill/>
          <a:ln/>
        </p:spPr>
        <p:txBody>
          <a:bodyPr wrap="square" rtlCol="0" anchor="ctr"/>
          <a:lstStyle/>
          <a:p>
            <a:pPr indent="0" marL="0">
              <a:buNone/>
            </a:pPr>
            <a:r>
              <a:rPr lang="en-US" sz="1150" dirty="0">
                <a:solidFill>
                  <a:srgbClr val="2563EB"/>
                </a:solidFill>
                <a:latin typeface="Calibri" pitchFamily="34" charset="0"/>
                <a:ea typeface="Calibri" pitchFamily="34" charset="-122"/>
                <a:cs typeface="Calibri" pitchFamily="34" charset="-120"/>
              </a:rPr>
              <a:t>https://papers.nips.cc/paper/7062-a-unified-approach-to-interpreting-model-predictions</a:t>
            </a:r>
            <a:endParaRPr lang="en-US" sz="1150" dirty="0"/>
          </a:p>
        </p:txBody>
      </p:sp>
      <p:sp>
        <p:nvSpPr>
          <p:cNvPr id="24" name="Shape 22"/>
          <p:cNvSpPr/>
          <p:nvPr/>
        </p:nvSpPr>
        <p:spPr>
          <a:xfrm>
            <a:off x="731520" y="5184648"/>
            <a:ext cx="10728655" cy="804672"/>
          </a:xfrm>
          <a:prstGeom prst="roundRect">
            <a:avLst>
              <a:gd name="adj" fmla="val 9091"/>
            </a:avLst>
          </a:prstGeom>
          <a:solidFill>
            <a:srgbClr val="FFFFFF"/>
          </a:solidFill>
          <a:ln w="12700">
            <a:solidFill>
              <a:srgbClr val="E2E8F0"/>
            </a:solidFill>
            <a:prstDash val="solid"/>
          </a:ln>
        </p:spPr>
      </p:sp>
      <p:sp>
        <p:nvSpPr>
          <p:cNvPr id="25" name="Text 23"/>
          <p:cNvSpPr/>
          <p:nvPr/>
        </p:nvSpPr>
        <p:spPr>
          <a:xfrm>
            <a:off x="960120" y="5321808"/>
            <a:ext cx="365760" cy="438912"/>
          </a:xfrm>
          <a:prstGeom prst="rect">
            <a:avLst/>
          </a:prstGeom>
          <a:noFill/>
          <a:ln/>
        </p:spPr>
        <p:txBody>
          <a:bodyPr wrap="square"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5.</a:t>
            </a:r>
            <a:endParaRPr lang="en-US" sz="1450" dirty="0"/>
          </a:p>
        </p:txBody>
      </p:sp>
      <p:sp>
        <p:nvSpPr>
          <p:cNvPr id="26" name="Text 24"/>
          <p:cNvSpPr/>
          <p:nvPr/>
        </p:nvSpPr>
        <p:spPr>
          <a:xfrm>
            <a:off x="1371600" y="5294376"/>
            <a:ext cx="9859975" cy="384048"/>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Sedlazeck, F. J., Rescheneder, P., Smolka, M., Fang, H., Nattestad, M., et al. (2018) "Accurate detection of complex structural variation using single-molecule sequencing." — Nature Methods, 15(6), 461–468.</a:t>
            </a:r>
            <a:endParaRPr lang="en-US" sz="1250" dirty="0"/>
          </a:p>
        </p:txBody>
      </p:sp>
      <p:sp>
        <p:nvSpPr>
          <p:cNvPr id="27" name="Text 25"/>
          <p:cNvSpPr/>
          <p:nvPr/>
        </p:nvSpPr>
        <p:spPr>
          <a:xfrm>
            <a:off x="1371600" y="5641848"/>
            <a:ext cx="9859975" cy="256032"/>
          </a:xfrm>
          <a:prstGeom prst="rect">
            <a:avLst/>
          </a:prstGeom>
          <a:noFill/>
          <a:ln/>
        </p:spPr>
        <p:txBody>
          <a:bodyPr wrap="square" rtlCol="0" anchor="ctr"/>
          <a:lstStyle/>
          <a:p>
            <a:pPr indent="0" marL="0">
              <a:buNone/>
            </a:pPr>
            <a:r>
              <a:rPr lang="en-US" sz="1150" dirty="0">
                <a:solidFill>
                  <a:srgbClr val="2563EB"/>
                </a:solidFill>
                <a:latin typeface="Calibri" pitchFamily="34" charset="0"/>
                <a:ea typeface="Calibri" pitchFamily="34" charset="-122"/>
                <a:cs typeface="Calibri" pitchFamily="34" charset="-120"/>
              </a:rPr>
              <a:t>https://doi.org/10.1038/s41592-018-0001-7</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18</vt:i4></vt:variant>
		</vt:vector>
	</HeadingPairs>
	<TitlesOfParts>
		<vt:vector size="21"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vt:lpstr>Slide 13</vt:lpstr><vt:lpstr>Slide 14</vt:lpstr><vt:lpstr>Slide 15</vt:lpstr><vt:lpstr>Slide 16</vt:lpstr><vt:lpstr>Slide 17</vt:lpstr><vt:lpstr>Slide 18</vt:lpstr>
		</vt:vector>
	</TitlesOfParts>
	<Company>Department of Computer Science & Computational Genomics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Structural Variant Prioritization from Long-Read Sequencing Using Explainable Machine Learning</dc:title>
  <dc:subject>Project Review 1 - Milestone Presentation</dc:subject>
  <dc:creator>Group 15</dc:creator>
  <cp:lastModifiedBy>Group 15</cp:lastModifiedBy>
  <cp:revision>1</cp:revision>
  <dcterms:created xsi:type="dcterms:W3CDTF">2026-08-19T11:40:51Z</dcterms:created>
  <dcterms:modified xsi:type="dcterms:W3CDTF">2026-08-19T11:40:51Z</dcterms:modified>
</cp:coreProperties>
</file>